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2e1dfbad324a5a" /><Relationship Type="http://schemas.openxmlformats.org/officeDocument/2006/relationships/extended-properties" Target="/docProps/app.xml" Id="R662447344c424273" /><Relationship Type="http://schemas.openxmlformats.org/officeDocument/2006/relationships/officeDocument" Target="/ppt/presentation.xml" Id="R0527079007194a31" /></Relationships>
</file>

<file path=ppt/presentation.xml><?xml version="1.0" encoding="utf-8"?>
<p:presentation xmlns:p="http://schemas.openxmlformats.org/presentationml/2006/main">
  <p:sldMasterIdLst>
    <p:sldMasterId xmlns:r="http://schemas.openxmlformats.org/officeDocument/2006/relationships" id="2147483648" r:id="R26a77f0114bc48f9"/>
  </p:sldMasterIdLst>
  <p:notesMasterIdLst>
    <p:notesMasterId xmlns:r="http://schemas.openxmlformats.org/officeDocument/2006/relationships" r:id="Rfe19c2bd61324164"/>
  </p:notesMasterIdLst>
  <p:sldIdLst>
    <p:sldId xmlns:r="http://schemas.openxmlformats.org/officeDocument/2006/relationships" id="256" r:id="R64147556efb94207"/>
    <p:sldId xmlns:r="http://schemas.openxmlformats.org/officeDocument/2006/relationships" id="257" r:id="Re4a37c525a084114"/>
    <p:sldId xmlns:r="http://schemas.openxmlformats.org/officeDocument/2006/relationships" id="258" r:id="Rd7fb9e017a834adc"/>
    <p:sldId xmlns:r="http://schemas.openxmlformats.org/officeDocument/2006/relationships" id="259" r:id="R0dc3e5695ba343d4"/>
    <p:sldId xmlns:r="http://schemas.openxmlformats.org/officeDocument/2006/relationships" id="260" r:id="R23c87974fd3f43bc"/>
    <p:sldId xmlns:r="http://schemas.openxmlformats.org/officeDocument/2006/relationships" id="261" r:id="R4852b156a12d46ec"/>
    <p:sldId xmlns:r="http://schemas.openxmlformats.org/officeDocument/2006/relationships" id="262" r:id="R79f042ba654f4e68"/>
    <p:sldId xmlns:r="http://schemas.openxmlformats.org/officeDocument/2006/relationships" id="263" r:id="R8c08226694cf46c9"/>
    <p:sldId xmlns:r="http://schemas.openxmlformats.org/officeDocument/2006/relationships" id="264" r:id="R46d66fbb40f14eed"/>
    <p:sldId xmlns:r="http://schemas.openxmlformats.org/officeDocument/2006/relationships" id="265" r:id="Rae51367ba48840e7"/>
    <p:sldId xmlns:r="http://schemas.openxmlformats.org/officeDocument/2006/relationships" id="266" r:id="R6f7ea12384f249fc"/>
    <p:sldId xmlns:r="http://schemas.openxmlformats.org/officeDocument/2006/relationships" id="267" r:id="R09eb5074a82643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54944c69da4bf6" /><Relationship Type="http://schemas.openxmlformats.org/officeDocument/2006/relationships/slideMaster" Target="/ppt/slideMasters/slideMaster1.xml" Id="R26a77f0114bc48f9" /><Relationship Type="http://schemas.openxmlformats.org/officeDocument/2006/relationships/notesMaster" Target="/ppt/notesMasters/notesMaster1.xml" Id="Rfe19c2bd61324164" /><Relationship Type="http://schemas.openxmlformats.org/officeDocument/2006/relationships/presProps" Target="/ppt/presProps.xml" Id="R214a047ef103476b" /><Relationship Type="http://schemas.openxmlformats.org/officeDocument/2006/relationships/tableStyles" Target="/ppt/tableStyles.xml" Id="Rf75fb09097274a13" /><Relationship Type="http://schemas.openxmlformats.org/officeDocument/2006/relationships/slide" Target="/ppt/slides/slide1.xml" Id="R64147556efb94207" /><Relationship Type="http://schemas.openxmlformats.org/officeDocument/2006/relationships/slide" Target="/ppt/slides/slide2.xml" Id="Re4a37c525a084114" /><Relationship Type="http://schemas.openxmlformats.org/officeDocument/2006/relationships/slide" Target="/ppt/slides/slide3.xml" Id="Rd7fb9e017a834adc" /><Relationship Type="http://schemas.openxmlformats.org/officeDocument/2006/relationships/slide" Target="/ppt/slides/slide4.xml" Id="R0dc3e5695ba343d4" /><Relationship Type="http://schemas.openxmlformats.org/officeDocument/2006/relationships/slide" Target="/ppt/slides/slide5.xml" Id="R23c87974fd3f43bc" /><Relationship Type="http://schemas.openxmlformats.org/officeDocument/2006/relationships/slide" Target="/ppt/slides/slide6.xml" Id="R4852b156a12d46ec" /><Relationship Type="http://schemas.openxmlformats.org/officeDocument/2006/relationships/slide" Target="/ppt/slides/slide7.xml" Id="R79f042ba654f4e68" /><Relationship Type="http://schemas.openxmlformats.org/officeDocument/2006/relationships/slide" Target="/ppt/slides/slide8.xml" Id="R8c08226694cf46c9" /><Relationship Type="http://schemas.openxmlformats.org/officeDocument/2006/relationships/slide" Target="/ppt/slides/slide9.xml" Id="R46d66fbb40f14eed" /><Relationship Type="http://schemas.openxmlformats.org/officeDocument/2006/relationships/slide" Target="/ppt/slides/slide10.xml" Id="Rae51367ba48840e7" /><Relationship Type="http://schemas.openxmlformats.org/officeDocument/2006/relationships/slide" Target="/ppt/slides/slide11.xml" Id="R6f7ea12384f249fc" /><Relationship Type="http://schemas.openxmlformats.org/officeDocument/2006/relationships/slide" Target="/ppt/slides/slide12.xml" Id="R09eb5074a82643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cb9ee30e054b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f561536de14160" /><Relationship Type="http://schemas.openxmlformats.org/officeDocument/2006/relationships/notesMaster" Target="/ppt/notesMasters/notesMaster1.xml" Id="R8079318e59c740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a992671327412d" /><Relationship Type="http://schemas.openxmlformats.org/officeDocument/2006/relationships/notesMaster" Target="/ppt/notesMasters/notesMaster1.xml" Id="R75b16f056c314d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ac309daaaa4afd" /><Relationship Type="http://schemas.openxmlformats.org/officeDocument/2006/relationships/notesMaster" Target="/ppt/notesMasters/notesMaster1.xml" Id="R0786b8bac8bb46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019527f33b4d7e" /><Relationship Type="http://schemas.openxmlformats.org/officeDocument/2006/relationships/notesMaster" Target="/ppt/notesMasters/notesMaster1.xml" Id="Rd4d85c4b073c4f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7bd1eebc30477b" /><Relationship Type="http://schemas.openxmlformats.org/officeDocument/2006/relationships/notesMaster" Target="/ppt/notesMasters/notesMaster1.xml" Id="R7ddf6db0c99444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14f70b3a654d18" /><Relationship Type="http://schemas.openxmlformats.org/officeDocument/2006/relationships/notesMaster" Target="/ppt/notesMasters/notesMaster1.xml" Id="R58006e3070774a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f3b4d2b3a942b7" /><Relationship Type="http://schemas.openxmlformats.org/officeDocument/2006/relationships/notesMaster" Target="/ppt/notesMasters/notesMaster1.xml" Id="R4bb6656d06cd4d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241a3996ec43b9" /><Relationship Type="http://schemas.openxmlformats.org/officeDocument/2006/relationships/notesMaster" Target="/ppt/notesMasters/notesMaster1.xml" Id="Reeb697c7a56147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ec7cfa93da4ef3" /><Relationship Type="http://schemas.openxmlformats.org/officeDocument/2006/relationships/notesMaster" Target="/ppt/notesMasters/notesMaster1.xml" Id="R918903f392ea4a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0e98dc39c74714" /><Relationship Type="http://schemas.openxmlformats.org/officeDocument/2006/relationships/notesMaster" Target="/ppt/notesMasters/notesMaster1.xml" Id="Rac2ce426133e40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3a9c14bc1d4d47" /><Relationship Type="http://schemas.openxmlformats.org/officeDocument/2006/relationships/notesMaster" Target="/ppt/notesMasters/notesMaster1.xml" Id="R7eeb5e79ba7945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0cead8a2414e82" /><Relationship Type="http://schemas.openxmlformats.org/officeDocument/2006/relationships/notesMaster" Target="/ppt/notesMasters/notesMaster1.xml" Id="R479ef050d66943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introducing DevPulse as a personal IT operations workspace. Version 1 combines system diagnostics, network tools, website testing, API checks, and a developer wellness area. Source: project README and running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as tool switching and fragmented evidence. DevPulse does not replace enterprise monitoring. It gives students, developers, and small teams one place to run bounded checks and understand what the server sees.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feature map. Avoid reading every item. Pick one example from each row, then transition into the architecture and live screens.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Blazor Server executes diagnostics on the machine hosting DevPulse. A Render deployment therefore reports Render's container, not the visitor's computer. External requests pass through validation and bounded HTTP clients. Sources: Program.cs, PublicHttpTarget.cs, TelemetryService.cs.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that Operations answers whether a service can be reached now, while Telemetry preserves evidence about application behavior over time. Clarify that private addresses need explicit owner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calculator performs local arithmetic and contacts no target. Uploaded inspector files stay in memory and are not stored. SHA-256 proves integrity but cannot be decoded, while AES encryption can be reversed only with the password.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Website Audit combines a bounded crawler with an optional browser worker. The API Runner supports read-only public requests and restricts write methods to exact approved URLs. The DNS inspector checks MX, SPF, DMARC, DKIM, CAA, and addressing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module gives the presentation a human side. Explain that Spotify playback can remain on the user's phone or computer through Spotify Connect. Browser playback requires Premium and an explicit user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Version 1 has strong request-level boundaries, but the current public Render deployment exposes diagnostic pages anonymously. Before a public launch, require administrator authentication or a private access gateway. This also supports the ongoing Google Safe Browsing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credentials use .NET User Secrets. Render credentials use environment variables or a mounted secret file. Persistent storage keeps data-protection keys and encrypted sessions across container replacement.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count reflects the custom regression executable run for this release. The build, formatter, publish, and production HTTP smoke checks also passed. The Chrome Safe Browsing warning remains a launch blocker until Google identifies or clears the reported issue.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short live demonstration. The roadmap extends DevPulse from a single-host diagnostics workspace into a small IT operations platform. Do not promise a delivery date for Version 2 until scope and access controls are agreed.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c53122041948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8692b5cf164ed5" /><Relationship Type="http://schemas.openxmlformats.org/officeDocument/2006/relationships/slideLayout" Target="/ppt/slideLayouts/slideLayout1.xml" Id="R880262da7a294d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0262da7a294d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5a39a298eb547a8" /><Relationship Type="http://schemas.openxmlformats.org/officeDocument/2006/relationships/notesSlide" Target="/ppt/notesSlides/notesSlide1.xml" Id="R39de9f13b3df40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297fd2a4994afc" /><Relationship Type="http://schemas.openxmlformats.org/officeDocument/2006/relationships/image" Target="/ppt/media/image.png" Id="R5551ce2d505b4f99" /><Relationship Type="http://schemas.openxmlformats.org/officeDocument/2006/relationships/notesSlide" Target="/ppt/notesSlides/notesSlide2.xml" Id="Ra7bf5f5012b54b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089881eeff427c" /><Relationship Type="http://schemas.openxmlformats.org/officeDocument/2006/relationships/notesSlide" Target="/ppt/notesSlides/notesSlide3.xml" Id="R4db358ed5d0342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a064d8b0be44e7" /><Relationship Type="http://schemas.openxmlformats.org/officeDocument/2006/relationships/notesSlide" Target="/ppt/notesSlides/notesSlide4.xml" Id="R241d654839b84d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ce7bd09353446e" /><Relationship Type="http://schemas.openxmlformats.org/officeDocument/2006/relationships/image" Target="/ppt/media/image2.png" Id="R05851affb46b48b8" /><Relationship Type="http://schemas.openxmlformats.org/officeDocument/2006/relationships/image" Target="/ppt/media/image3.png" Id="Rfcf18a654f634259" /><Relationship Type="http://schemas.openxmlformats.org/officeDocument/2006/relationships/notesSlide" Target="/ppt/notesSlides/notesSlide5.xml" Id="R15b461f9d11149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d7ceabb6944676" /><Relationship Type="http://schemas.openxmlformats.org/officeDocument/2006/relationships/image" Target="/ppt/media/image4.png" Id="R30101b6bae7c47f8" /><Relationship Type="http://schemas.openxmlformats.org/officeDocument/2006/relationships/notesSlide" Target="/ppt/notesSlides/notesSlide6.xml" Id="R476c0649d5ea46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6b900e617244f13" /><Relationship Type="http://schemas.openxmlformats.org/officeDocument/2006/relationships/image" Target="/ppt/media/image5.png" Id="R29a1d159d97f4e4a" /><Relationship Type="http://schemas.openxmlformats.org/officeDocument/2006/relationships/image" Target="/ppt/media/image6.png" Id="Rc2c0a1cf481743c0" /><Relationship Type="http://schemas.openxmlformats.org/officeDocument/2006/relationships/notesSlide" Target="/ppt/notesSlides/notesSlide7.xml" Id="Rfd80b632ebaa4a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c07f44099f4f1a" /><Relationship Type="http://schemas.openxmlformats.org/officeDocument/2006/relationships/image" Target="/ppt/media/image7.png" Id="R71ca64c885af4748" /><Relationship Type="http://schemas.openxmlformats.org/officeDocument/2006/relationships/notesSlide" Target="/ppt/notesSlides/notesSlide8.xml" Id="R1b245dd03d394a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571a6ee8c849a3" /><Relationship Type="http://schemas.openxmlformats.org/officeDocument/2006/relationships/notesSlide" Target="/ppt/notesSlides/notesSlide9.xml" Id="R6e38fb3fe32742a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eb5e0b56bde454e" /><Relationship Type="http://schemas.openxmlformats.org/officeDocument/2006/relationships/notesSlide" Target="/ppt/notesSlides/notesSlide10.xml" Id="R79780a84f4ee41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d3c944e28384680" /><Relationship Type="http://schemas.openxmlformats.org/officeDocument/2006/relationships/notesSlide" Target="/ppt/notesSlides/notesSlide11.xml" Id="R9d755cce77d641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08e27406f84125" /><Relationship Type="http://schemas.openxmlformats.org/officeDocument/2006/relationships/notesSlide" Target="/ppt/notesSlides/notesSlide12.xml" Id="Rf9cf706549ad4fbe" /></Relationships>
</file>

<file path=ppt/slides/slide1.xml><?xml version="1.0" encoding="utf-8"?>
<p:sld xmlns:p="http://schemas.openxmlformats.org/presentationml/2006/main">
  <p:cSld>
    <p:bg>
      <p:bgPr>
        <a:solidFill xmlns:a="http://schemas.openxmlformats.org/drawingml/2006/main">
          <a:srgbClr val="111C3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6C53CE-BFA7-4CCE-A399-F940C9CF9468}"/>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976E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C20008-620D-4EC8-981D-6B07F54BE009}"/>
              </a:ext>
            </a:extLst>
          </p:cNvPr>
          <p:cNvSpPr>
            <a:spLocks xmlns:a="http://schemas.openxmlformats.org/drawingml/2006/main" noGrp="1"/>
          </p:cNvSpPr>
          <p:nvPr/>
        </p:nvSpPr>
        <p:spPr>
          <a:xfrm xmlns:a="http://schemas.openxmlformats.org/drawingml/2006/main">
            <a:off x="781050" y="7048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DP</a:t>
            </a:r>
          </a:p>
        </p:txBody>
      </p:sp>
      <p:sp>
        <p:nvSpPr>
          <p:cNvPr id="3" name="">
            <a:extLst xmlns:a="http://schemas.openxmlformats.org/drawingml/2006/main">
              <a:ext uri="{FF2B5EF4-FFF2-40B4-BE49-F238E27FC236}">
                <a16:creationId xmlns:a16="http://schemas.microsoft.com/office/drawing/2014/main" id="{0FA61183-14FF-4F22-B756-87D7F5488057}"/>
              </a:ext>
            </a:extLst>
          </p:cNvPr>
          <p:cNvSpPr>
            <a:spLocks xmlns:a="http://schemas.openxmlformats.org/drawingml/2006/main" noGrp="1"/>
          </p:cNvSpPr>
          <p:nvPr/>
        </p:nvSpPr>
        <p:spPr>
          <a:xfrm xmlns:a="http://schemas.openxmlformats.org/drawingml/2006/main">
            <a:off x="781050" y="1866900"/>
            <a:ext cx="9906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DevPulse</a:t>
            </a:r>
          </a:p>
        </p:txBody>
      </p:sp>
      <p:sp>
        <p:nvSpPr>
          <p:cNvPr id="4" name="">
            <a:extLst xmlns:a="http://schemas.openxmlformats.org/drawingml/2006/main">
              <a:ext uri="{FF2B5EF4-FFF2-40B4-BE49-F238E27FC236}">
                <a16:creationId xmlns:a16="http://schemas.microsoft.com/office/drawing/2014/main" id="{AD8DABFF-6362-4018-825F-06C989587F02}"/>
              </a:ext>
            </a:extLst>
          </p:cNvPr>
          <p:cNvSpPr>
            <a:spLocks xmlns:a="http://schemas.openxmlformats.org/drawingml/2006/main" noGrp="1"/>
          </p:cNvSpPr>
          <p:nvPr/>
        </p:nvSpPr>
        <p:spPr>
          <a:xfrm xmlns:a="http://schemas.openxmlformats.org/drawingml/2006/main">
            <a:off x="800100" y="285750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6D9BFF"/>
                </a:solidFill>
                <a:latin typeface="Arial"/>
                <a:ea typeface="Arial"/>
                <a:cs typeface="Arial"/>
              </a:defRPr>
            </a:pPr>
            <a:r>
              <a:rPr sz="2175" b="1">
                <a:solidFill>
                  <a:srgbClr val="6D9BFF"/>
                </a:solidFill>
                <a:latin typeface="Arial"/>
                <a:ea typeface="Arial"/>
                <a:cs typeface="Arial"/>
              </a:rPr>
              <a:t>Version 1 project presentation</a:t>
            </a:r>
          </a:p>
        </p:txBody>
      </p:sp>
      <p:sp>
        <p:nvSpPr>
          <p:cNvPr id="5" name="">
            <a:extLst xmlns:a="http://schemas.openxmlformats.org/drawingml/2006/main">
              <a:ext uri="{FF2B5EF4-FFF2-40B4-BE49-F238E27FC236}">
                <a16:creationId xmlns:a16="http://schemas.microsoft.com/office/drawing/2014/main" id="{E668E2C0-1A80-445C-B3D7-EA2D77A44B20}"/>
              </a:ext>
            </a:extLst>
          </p:cNvPr>
          <p:cNvSpPr>
            <a:spLocks xmlns:a="http://schemas.openxmlformats.org/drawingml/2006/main" noGrp="1"/>
          </p:cNvSpPr>
          <p:nvPr/>
        </p:nvSpPr>
        <p:spPr>
          <a:xfrm xmlns:a="http://schemas.openxmlformats.org/drawingml/2006/main">
            <a:off x="800100" y="3543300"/>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0">
                <a:solidFill>
                  <a:srgbClr val="DCE6F8"/>
                </a:solidFill>
                <a:latin typeface="Arial"/>
                <a:ea typeface="Arial"/>
                <a:cs typeface="Arial"/>
              </a:defRPr>
            </a:pPr>
            <a:r>
              <a:rPr sz="2175" b="0">
                <a:solidFill>
                  <a:srgbClr val="DCE6F8"/>
                </a:solidFill>
                <a:latin typeface="Arial"/>
                <a:ea typeface="Arial"/>
                <a:cs typeface="Arial"/>
              </a:rPr>
              <a:t>IT diagnostics, testing, and developer focus in one web workspace</a:t>
            </a:r>
          </a:p>
        </p:txBody>
      </p:sp>
      <p:sp>
        <p:nvSpPr>
          <p:cNvPr id="6" name="">
            <a:extLst xmlns:a="http://schemas.openxmlformats.org/drawingml/2006/main">
              <a:ext uri="{FF2B5EF4-FFF2-40B4-BE49-F238E27FC236}">
                <a16:creationId xmlns:a16="http://schemas.microsoft.com/office/drawing/2014/main" id="{16B0DF30-90D6-4118-847D-903D762186C5}"/>
              </a:ext>
            </a:extLst>
          </p:cNvPr>
          <p:cNvSpPr>
            <a:spLocks xmlns:a="http://schemas.openxmlformats.org/drawingml/2006/main" noGrp="1"/>
          </p:cNvSpPr>
          <p:nvPr/>
        </p:nvSpPr>
        <p:spPr>
          <a:xfrm xmlns:a="http://schemas.openxmlformats.org/drawingml/2006/main">
            <a:off x="800100" y="5829300"/>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9FB1CF"/>
                </a:solidFill>
                <a:latin typeface="Arial"/>
                <a:ea typeface="Arial"/>
                <a:cs typeface="Arial"/>
              </a:defRPr>
            </a:pPr>
            <a:r>
              <a:rPr sz="1350" b="0">
                <a:solidFill>
                  <a:srgbClr val="9FB1CF"/>
                </a:solidFill>
                <a:latin typeface="Arial"/>
                <a:ea typeface="Arial"/>
                <a:cs typeface="Arial"/>
              </a:rPr>
              <a:t>Built with .NET 9 and Blazor Server</a:t>
            </a:r>
          </a:p>
        </p:txBody>
      </p:sp>
      <p:sp>
        <p:nvSpPr>
          <p:cNvPr id="7" name="">
            <a:extLst xmlns:a="http://schemas.openxmlformats.org/drawingml/2006/main">
              <a:ext uri="{FF2B5EF4-FFF2-40B4-BE49-F238E27FC236}">
                <a16:creationId xmlns:a16="http://schemas.microsoft.com/office/drawing/2014/main" id="{77FBB3BE-9530-4590-8824-D2A6D3C23399}"/>
              </a:ext>
            </a:extLst>
          </p:cNvPr>
          <p:cNvSpPr>
            <a:spLocks xmlns:a="http://schemas.openxmlformats.org/drawingml/2006/main" noGrp="1"/>
          </p:cNvSpPr>
          <p:nvPr/>
        </p:nvSpPr>
        <p:spPr>
          <a:xfrm xmlns:a="http://schemas.openxmlformats.org/drawingml/2006/main">
            <a:off x="9658350" y="4933950"/>
            <a:ext cx="1409700" cy="1409700"/>
          </a:xfrm>
          <a:prstGeom xmlns:a="http://schemas.openxmlformats.org/drawingml/2006/main" prst="roundRect">
            <a:avLst>
              <a:gd name="adj" fmla="val 20270"/>
            </a:avLst>
          </a:prstGeom>
          <a:solidFill xmlns:a="http://schemas.openxmlformats.org/drawingml/2006/main">
            <a:srgbClr val="3976E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D729145-B8D7-4878-9F54-982DCDF3D9ED}"/>
              </a:ext>
            </a:extLst>
          </p:cNvPr>
          <p:cNvSpPr>
            <a:spLocks xmlns:a="http://schemas.openxmlformats.org/drawingml/2006/main" noGrp="1"/>
          </p:cNvSpPr>
          <p:nvPr/>
        </p:nvSpPr>
        <p:spPr>
          <a:xfrm xmlns:a="http://schemas.openxmlformats.org/drawingml/2006/main">
            <a:off x="9658350" y="5238750"/>
            <a:ext cx="140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600" b="1">
                <a:solidFill>
                  <a:srgbClr val="FFFFFF"/>
                </a:solidFill>
                <a:latin typeface="Arial"/>
                <a:ea typeface="Arial"/>
                <a:cs typeface="Arial"/>
              </a:defRPr>
            </a:pPr>
            <a:r>
              <a:rPr sz="3600" b="1">
                <a:solidFill>
                  <a:srgbClr val="FFFFFF"/>
                </a:solidFill>
                <a:latin typeface="Arial"/>
                <a:ea typeface="Arial"/>
                <a:cs typeface="Arial"/>
              </a:rPr>
              <a:t>V1</a:t>
            </a:r>
          </a:p>
        </p:txBody>
      </p:sp>
    </p:spTree>
    <p:extLst>
      <p:ext uri="{BB962C8B-B14F-4D97-AF65-F5344CB8AC3E}">
        <p14:creationId xmlns:p14="http://schemas.microsoft.com/office/powerpoint/2010/main" val="12272124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2403ED8-C5AF-4E02-85FD-D6569AF579F5}"/>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PURPOSE</a:t>
            </a:r>
          </a:p>
        </p:txBody>
      </p:sp>
      <p:sp>
        <p:nvSpPr>
          <p:cNvPr id="2" name="">
            <a:extLst xmlns:a="http://schemas.openxmlformats.org/drawingml/2006/main">
              <a:ext uri="{FF2B5EF4-FFF2-40B4-BE49-F238E27FC236}">
                <a16:creationId xmlns:a16="http://schemas.microsoft.com/office/drawing/2014/main" id="{2F077EF1-19DD-462C-9ADD-86B5E9D8057E}"/>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The project goal</a:t>
            </a:r>
          </a:p>
        </p:txBody>
      </p:sp>
      <p:sp>
        <p:nvSpPr>
          <p:cNvPr id="3" name="">
            <a:extLst xmlns:a="http://schemas.openxmlformats.org/drawingml/2006/main">
              <a:ext uri="{FF2B5EF4-FFF2-40B4-BE49-F238E27FC236}">
                <a16:creationId xmlns:a16="http://schemas.microsoft.com/office/drawing/2014/main" id="{D6FC2411-4CD6-45C1-A909-B4CD14F3979C}"/>
              </a:ext>
            </a:extLst>
          </p:cNvPr>
          <p:cNvSpPr>
            <a:spLocks xmlns:a="http://schemas.openxmlformats.org/drawingml/2006/main" noGrp="1"/>
          </p:cNvSpPr>
          <p:nvPr/>
        </p:nvSpPr>
        <p:spPr>
          <a:xfrm xmlns:a="http://schemas.openxmlformats.org/drawingml/2006/main">
            <a:off x="685800" y="1600200"/>
            <a:ext cx="4476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172033"/>
                </a:solidFill>
                <a:latin typeface="Arial"/>
                <a:ea typeface="Arial"/>
                <a:cs typeface="Arial"/>
              </a:defRPr>
            </a:pPr>
            <a:r>
              <a:rPr sz="2100" b="1">
                <a:solidFill>
                  <a:srgbClr val="172033"/>
                </a:solidFill>
                <a:latin typeface="Arial"/>
                <a:ea typeface="Arial"/>
                <a:cs typeface="Arial"/>
              </a:rPr>
              <a:t>Developers often switch between operating system tools, network calculators, API clients, website auditors, and music applications.</a:t>
            </a:r>
          </a:p>
        </p:txBody>
      </p:sp>
      <p:sp>
        <p:nvSpPr>
          <p:cNvPr id="4" name="">
            <a:extLst xmlns:a="http://schemas.openxmlformats.org/drawingml/2006/main">
              <a:ext uri="{FF2B5EF4-FFF2-40B4-BE49-F238E27FC236}">
                <a16:creationId xmlns:a16="http://schemas.microsoft.com/office/drawing/2014/main" id="{5E8CA8DE-7219-4B90-9188-ED8E14499177}"/>
              </a:ext>
            </a:extLst>
          </p:cNvPr>
          <p:cNvSpPr>
            <a:spLocks xmlns:a="http://schemas.openxmlformats.org/drawingml/2006/main" noGrp="1"/>
          </p:cNvSpPr>
          <p:nvPr/>
        </p:nvSpPr>
        <p:spPr>
          <a:xfrm xmlns:a="http://schemas.openxmlformats.org/drawingml/2006/main">
            <a:off x="685800" y="3286125"/>
            <a:ext cx="447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5F6F8C"/>
                </a:solidFill>
                <a:latin typeface="Arial"/>
                <a:ea typeface="Arial"/>
                <a:cs typeface="Arial"/>
              </a:defRPr>
            </a:pPr>
            <a:r>
              <a:rPr sz="1725" b="0">
                <a:solidFill>
                  <a:srgbClr val="5F6F8C"/>
                </a:solidFill>
                <a:latin typeface="Arial"/>
                <a:ea typeface="Arial"/>
                <a:cs typeface="Arial"/>
              </a:rPr>
              <a:t>DevPulse brings these tasks into one controlled browser workspace. The application emphasizes bounded tests, clear ownership checks, and results that are easy to demonstrate.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551ce2d505b4f99"/>
          <a:srcRect xmlns:a="http://schemas.openxmlformats.org/drawingml/2006/main" l="7737" t="0" r="7737" b="0"/>
          <a:stretch xmlns:a="http://schemas.openxmlformats.org/drawingml/2006/main">
            <a:fillRect l="0" t="0" r="0" b="0"/>
          </a:stretch>
        </p:blipFill>
        <p:spPr>
          <a:xfrm xmlns:a="http://schemas.openxmlformats.org/drawingml/2006/main">
            <a:off x="5657850" y="1466850"/>
            <a:ext cx="5848350" cy="4324350"/>
          </a:xfrm>
          <a:prstGeom xmlns:a="http://schemas.openxmlformats.org/drawingml/2006/main" prst="roundRect">
            <a:avLst>
              <a:gd name="adj" fmla="val 3524"/>
            </a:avLst>
          </a:prstGeom>
        </p:spPr>
      </p:pic>
      <p:sp>
        <p:nvSpPr>
          <p:cNvPr id="6" name="">
            <a:extLst xmlns:a="http://schemas.openxmlformats.org/drawingml/2006/main">
              <a:ext uri="{FF2B5EF4-FFF2-40B4-BE49-F238E27FC236}">
                <a16:creationId xmlns:a16="http://schemas.microsoft.com/office/drawing/2014/main" id="{ABF39AE3-0BA9-4BF1-90B1-496380413CD7}"/>
              </a:ext>
            </a:extLst>
          </p:cNvPr>
          <p:cNvSpPr>
            <a:spLocks xmlns:a="http://schemas.openxmlformats.org/drawingml/2006/main" noGrp="1"/>
          </p:cNvSpPr>
          <p:nvPr/>
        </p:nvSpPr>
        <p:spPr>
          <a:xfrm xmlns:a="http://schemas.openxmlformats.org/drawingml/2006/main">
            <a:off x="5657850" y="5962650"/>
            <a:ext cx="584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One workspace for day-to-day IT checks</a:t>
            </a:r>
          </a:p>
        </p:txBody>
      </p:sp>
      <p:sp>
        <p:nvSpPr>
          <p:cNvPr id="7" name="">
            <a:extLst xmlns:a="http://schemas.openxmlformats.org/drawingml/2006/main">
              <a:ext uri="{FF2B5EF4-FFF2-40B4-BE49-F238E27FC236}">
                <a16:creationId xmlns:a16="http://schemas.microsoft.com/office/drawing/2014/main" id="{85BE138B-08C8-4B73-9359-A315EC72C274}"/>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8" name="">
            <a:extLst xmlns:a="http://schemas.openxmlformats.org/drawingml/2006/main">
              <a:ext uri="{FF2B5EF4-FFF2-40B4-BE49-F238E27FC236}">
                <a16:creationId xmlns:a16="http://schemas.microsoft.com/office/drawing/2014/main" id="{681C0DDD-155C-4BA9-93B2-18F20EF674A8}"/>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02</a:t>
            </a:r>
          </a:p>
        </p:txBody>
      </p:sp>
    </p:spTree>
    <p:extLst>
      <p:ext uri="{BB962C8B-B14F-4D97-AF65-F5344CB8AC3E}">
        <p14:creationId xmlns:p14="http://schemas.microsoft.com/office/powerpoint/2010/main" val="653794434"/>
      </p:ext>
    </p:extLst>
  </p:cSld>
</p:sld>
</file>

<file path=ppt/slides/slide3.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21B385A-AE0B-47B2-8598-88FA6116DD06}"/>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PRODUCT</a:t>
            </a:r>
          </a:p>
        </p:txBody>
      </p:sp>
      <p:sp>
        <p:nvSpPr>
          <p:cNvPr id="2" name="">
            <a:extLst xmlns:a="http://schemas.openxmlformats.org/drawingml/2006/main">
              <a:ext uri="{FF2B5EF4-FFF2-40B4-BE49-F238E27FC236}">
                <a16:creationId xmlns:a16="http://schemas.microsoft.com/office/drawing/2014/main" id="{863FEAC9-0FB1-489E-8DE8-8D5160D21C51}"/>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Version 1 scope</a:t>
            </a:r>
          </a:p>
        </p:txBody>
      </p:sp>
      <p:sp>
        <p:nvSpPr>
          <p:cNvPr id="3" name="">
            <a:extLst xmlns:a="http://schemas.openxmlformats.org/drawingml/2006/main">
              <a:ext uri="{FF2B5EF4-FFF2-40B4-BE49-F238E27FC236}">
                <a16:creationId xmlns:a16="http://schemas.microsoft.com/office/drawing/2014/main" id="{25AC16CF-6D8E-4C72-8AD0-1C96EE9D8311}"/>
              </a:ext>
            </a:extLst>
          </p:cNvPr>
          <p:cNvSpPr>
            <a:spLocks xmlns:a="http://schemas.openxmlformats.org/drawingml/2006/main" noGrp="1"/>
          </p:cNvSpPr>
          <p:nvPr/>
        </p:nvSpPr>
        <p:spPr>
          <a:xfrm xmlns:a="http://schemas.openxmlformats.org/drawingml/2006/main">
            <a:off x="685800" y="1466850"/>
            <a:ext cx="95250" cy="742950"/>
          </a:xfrm>
          <a:prstGeom xmlns:a="http://schemas.openxmlformats.org/drawingml/2006/main" prst="roundRect">
            <a:avLst>
              <a:gd name="adj" fmla="val 50000"/>
            </a:avLst>
          </a:prstGeom>
          <a:solidFill xmlns:a="http://schemas.openxmlformats.org/drawingml/2006/main">
            <a:srgbClr val="3976E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5DDB7EC-7D03-459C-B211-3C3E027C9838}"/>
              </a:ext>
            </a:extLst>
          </p:cNvPr>
          <p:cNvSpPr>
            <a:spLocks xmlns:a="http://schemas.openxmlformats.org/drawingml/2006/main" noGrp="1"/>
          </p:cNvSpPr>
          <p:nvPr/>
        </p:nvSpPr>
        <p:spPr>
          <a:xfrm xmlns:a="http://schemas.openxmlformats.org/drawingml/2006/main">
            <a:off x="1028700" y="15430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OBSERVE</a:t>
            </a:r>
          </a:p>
        </p:txBody>
      </p:sp>
      <p:sp>
        <p:nvSpPr>
          <p:cNvPr id="5" name="">
            <a:extLst xmlns:a="http://schemas.openxmlformats.org/drawingml/2006/main">
              <a:ext uri="{FF2B5EF4-FFF2-40B4-BE49-F238E27FC236}">
                <a16:creationId xmlns:a16="http://schemas.microsoft.com/office/drawing/2014/main" id="{EF79A8FC-66CA-4348-B20E-187F2D297BBD}"/>
              </a:ext>
            </a:extLst>
          </p:cNvPr>
          <p:cNvSpPr>
            <a:spLocks xmlns:a="http://schemas.openxmlformats.org/drawingml/2006/main" noGrp="1"/>
          </p:cNvSpPr>
          <p:nvPr/>
        </p:nvSpPr>
        <p:spPr>
          <a:xfrm xmlns:a="http://schemas.openxmlformats.org/drawingml/2006/main">
            <a:off x="2647950" y="15144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Host metrics, storage, processes, telemetry, incidents</a:t>
            </a:r>
          </a:p>
        </p:txBody>
      </p:sp>
      <p:sp>
        <p:nvSpPr>
          <p:cNvPr id="6" name="">
            <a:extLst xmlns:a="http://schemas.openxmlformats.org/drawingml/2006/main">
              <a:ext uri="{FF2B5EF4-FFF2-40B4-BE49-F238E27FC236}">
                <a16:creationId xmlns:a16="http://schemas.microsoft.com/office/drawing/2014/main" id="{9754C33F-E375-42A2-886B-98378285EC68}"/>
              </a:ext>
            </a:extLst>
          </p:cNvPr>
          <p:cNvSpPr>
            <a:spLocks xmlns:a="http://schemas.openxmlformats.org/drawingml/2006/main" noGrp="1"/>
          </p:cNvSpPr>
          <p:nvPr/>
        </p:nvSpPr>
        <p:spPr>
          <a:xfrm xmlns:a="http://schemas.openxmlformats.org/drawingml/2006/main">
            <a:off x="685800" y="2362200"/>
            <a:ext cx="95250" cy="742950"/>
          </a:xfrm>
          <a:prstGeom xmlns:a="http://schemas.openxmlformats.org/drawingml/2006/main" prst="roundRect">
            <a:avLst>
              <a:gd name="adj" fmla="val 50000"/>
            </a:avLst>
          </a:prstGeom>
          <a:solidFill xmlns:a="http://schemas.openxmlformats.org/drawingml/2006/main">
            <a:srgbClr val="17965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B249E96-6855-4284-BAEA-0E213996E7AF}"/>
              </a:ext>
            </a:extLst>
          </p:cNvPr>
          <p:cNvSpPr>
            <a:spLocks xmlns:a="http://schemas.openxmlformats.org/drawingml/2006/main" noGrp="1"/>
          </p:cNvSpPr>
          <p:nvPr/>
        </p:nvSpPr>
        <p:spPr>
          <a:xfrm xmlns:a="http://schemas.openxmlformats.org/drawingml/2006/main">
            <a:off x="1028700" y="24384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7965A"/>
                </a:solidFill>
                <a:latin typeface="Arial"/>
                <a:ea typeface="Arial"/>
                <a:cs typeface="Arial"/>
              </a:defRPr>
            </a:pPr>
            <a:r>
              <a:rPr sz="1350" b="1">
                <a:solidFill>
                  <a:srgbClr val="17965A"/>
                </a:solidFill>
                <a:latin typeface="Arial"/>
                <a:ea typeface="Arial"/>
                <a:cs typeface="Arial"/>
              </a:rPr>
              <a:t>TEST</a:t>
            </a:r>
          </a:p>
        </p:txBody>
      </p:sp>
      <p:sp>
        <p:nvSpPr>
          <p:cNvPr id="8" name="">
            <a:extLst xmlns:a="http://schemas.openxmlformats.org/drawingml/2006/main">
              <a:ext uri="{FF2B5EF4-FFF2-40B4-BE49-F238E27FC236}">
                <a16:creationId xmlns:a16="http://schemas.microsoft.com/office/drawing/2014/main" id="{0E635E6D-9320-49A4-ADDD-F6D9AB27B825}"/>
              </a:ext>
            </a:extLst>
          </p:cNvPr>
          <p:cNvSpPr>
            <a:spLocks xmlns:a="http://schemas.openxmlformats.org/drawingml/2006/main" noGrp="1"/>
          </p:cNvSpPr>
          <p:nvPr/>
        </p:nvSpPr>
        <p:spPr>
          <a:xfrm xmlns:a="http://schemas.openxmlformats.org/drawingml/2006/main">
            <a:off x="2647950" y="240982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Ping, DNS, TLS, ports, databases, websites, APIs</a:t>
            </a:r>
          </a:p>
        </p:txBody>
      </p:sp>
      <p:sp>
        <p:nvSpPr>
          <p:cNvPr id="9" name="">
            <a:extLst xmlns:a="http://schemas.openxmlformats.org/drawingml/2006/main">
              <a:ext uri="{FF2B5EF4-FFF2-40B4-BE49-F238E27FC236}">
                <a16:creationId xmlns:a16="http://schemas.microsoft.com/office/drawing/2014/main" id="{037101D9-84A1-45AE-BB15-9FC71896041F}"/>
              </a:ext>
            </a:extLst>
          </p:cNvPr>
          <p:cNvSpPr>
            <a:spLocks xmlns:a="http://schemas.openxmlformats.org/drawingml/2006/main" noGrp="1"/>
          </p:cNvSpPr>
          <p:nvPr/>
        </p:nvSpPr>
        <p:spPr>
          <a:xfrm xmlns:a="http://schemas.openxmlformats.org/drawingml/2006/main">
            <a:off x="685800" y="3257550"/>
            <a:ext cx="95250" cy="742950"/>
          </a:xfrm>
          <a:prstGeom xmlns:a="http://schemas.openxmlformats.org/drawingml/2006/main" prst="roundRect">
            <a:avLst>
              <a:gd name="adj" fmla="val 50000"/>
            </a:avLst>
          </a:prstGeom>
          <a:solidFill xmlns:a="http://schemas.openxmlformats.org/drawingml/2006/main">
            <a:srgbClr val="7C4D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84D6EED-7E98-47F8-88AE-D41F87B6249F}"/>
              </a:ext>
            </a:extLst>
          </p:cNvPr>
          <p:cNvSpPr>
            <a:spLocks xmlns:a="http://schemas.openxmlformats.org/drawingml/2006/main" noGrp="1"/>
          </p:cNvSpPr>
          <p:nvPr/>
        </p:nvSpPr>
        <p:spPr>
          <a:xfrm xmlns:a="http://schemas.openxmlformats.org/drawingml/2006/main">
            <a:off x="1028700" y="33337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C4DCC"/>
                </a:solidFill>
                <a:latin typeface="Arial"/>
                <a:ea typeface="Arial"/>
                <a:cs typeface="Arial"/>
              </a:defRPr>
            </a:pPr>
            <a:r>
              <a:rPr sz="1350" b="1">
                <a:solidFill>
                  <a:srgbClr val="7C4DCC"/>
                </a:solidFill>
                <a:latin typeface="Arial"/>
                <a:ea typeface="Arial"/>
                <a:cs typeface="Arial"/>
              </a:rPr>
              <a:t>INSPECT</a:t>
            </a:r>
          </a:p>
        </p:txBody>
      </p:sp>
      <p:sp>
        <p:nvSpPr>
          <p:cNvPr id="11" name="">
            <a:extLst xmlns:a="http://schemas.openxmlformats.org/drawingml/2006/main">
              <a:ext uri="{FF2B5EF4-FFF2-40B4-BE49-F238E27FC236}">
                <a16:creationId xmlns:a16="http://schemas.microsoft.com/office/drawing/2014/main" id="{70BE7A00-6F25-4246-9AE1-D35BFFF0243E}"/>
              </a:ext>
            </a:extLst>
          </p:cNvPr>
          <p:cNvSpPr>
            <a:spLocks xmlns:a="http://schemas.openxmlformats.org/drawingml/2006/main" noGrp="1"/>
          </p:cNvSpPr>
          <p:nvPr/>
        </p:nvSpPr>
        <p:spPr>
          <a:xfrm xmlns:a="http://schemas.openxmlformats.org/drawingml/2006/main">
            <a:off x="2647950" y="33051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JSON, JWT, SHA-256, encrypted files, DNS email policy</a:t>
            </a:r>
          </a:p>
        </p:txBody>
      </p:sp>
      <p:sp>
        <p:nvSpPr>
          <p:cNvPr id="12" name="">
            <a:extLst xmlns:a="http://schemas.openxmlformats.org/drawingml/2006/main">
              <a:ext uri="{FF2B5EF4-FFF2-40B4-BE49-F238E27FC236}">
                <a16:creationId xmlns:a16="http://schemas.microsoft.com/office/drawing/2014/main" id="{4947B2AB-4C31-4C76-9532-657494FFE4B6}"/>
              </a:ext>
            </a:extLst>
          </p:cNvPr>
          <p:cNvSpPr>
            <a:spLocks xmlns:a="http://schemas.openxmlformats.org/drawingml/2006/main" noGrp="1"/>
          </p:cNvSpPr>
          <p:nvPr/>
        </p:nvSpPr>
        <p:spPr>
          <a:xfrm xmlns:a="http://schemas.openxmlformats.org/drawingml/2006/main">
            <a:off x="685800" y="4152900"/>
            <a:ext cx="95250" cy="742950"/>
          </a:xfrm>
          <a:prstGeom xmlns:a="http://schemas.openxmlformats.org/drawingml/2006/main" prst="roundRect">
            <a:avLst>
              <a:gd name="adj" fmla="val 50000"/>
            </a:avLst>
          </a:prstGeom>
          <a:solidFill xmlns:a="http://schemas.openxmlformats.org/drawingml/2006/main">
            <a:srgbClr val="D4861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AD95679-6F9F-4001-9609-CEFEF7054E59}"/>
              </a:ext>
            </a:extLst>
          </p:cNvPr>
          <p:cNvSpPr>
            <a:spLocks xmlns:a="http://schemas.openxmlformats.org/drawingml/2006/main" noGrp="1"/>
          </p:cNvSpPr>
          <p:nvPr/>
        </p:nvSpPr>
        <p:spPr>
          <a:xfrm xmlns:a="http://schemas.openxmlformats.org/drawingml/2006/main">
            <a:off x="1028700" y="42291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D4861A"/>
                </a:solidFill>
                <a:latin typeface="Arial"/>
                <a:ea typeface="Arial"/>
                <a:cs typeface="Arial"/>
              </a:defRPr>
            </a:pPr>
            <a:r>
              <a:rPr sz="1350" b="1">
                <a:solidFill>
                  <a:srgbClr val="D4861A"/>
                </a:solidFill>
                <a:latin typeface="Arial"/>
                <a:ea typeface="Arial"/>
                <a:cs typeface="Arial"/>
              </a:rPr>
              <a:t>PLAN</a:t>
            </a:r>
          </a:p>
        </p:txBody>
      </p:sp>
      <p:sp>
        <p:nvSpPr>
          <p:cNvPr id="14" name="">
            <a:extLst xmlns:a="http://schemas.openxmlformats.org/drawingml/2006/main">
              <a:ext uri="{FF2B5EF4-FFF2-40B4-BE49-F238E27FC236}">
                <a16:creationId xmlns:a16="http://schemas.microsoft.com/office/drawing/2014/main" id="{30E57AEE-1483-4846-AC23-99D97B3042B4}"/>
              </a:ext>
            </a:extLst>
          </p:cNvPr>
          <p:cNvSpPr>
            <a:spLocks xmlns:a="http://schemas.openxmlformats.org/drawingml/2006/main" noGrp="1"/>
          </p:cNvSpPr>
          <p:nvPr/>
        </p:nvSpPr>
        <p:spPr>
          <a:xfrm xmlns:a="http://schemas.openxmlformats.org/drawingml/2006/main">
            <a:off x="2647950" y="420052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IPv4, IPv6, VLSM, routes, bandwidth, MTU and MSS</a:t>
            </a:r>
          </a:p>
        </p:txBody>
      </p:sp>
      <p:sp>
        <p:nvSpPr>
          <p:cNvPr id="15" name="">
            <a:extLst xmlns:a="http://schemas.openxmlformats.org/drawingml/2006/main">
              <a:ext uri="{FF2B5EF4-FFF2-40B4-BE49-F238E27FC236}">
                <a16:creationId xmlns:a16="http://schemas.microsoft.com/office/drawing/2014/main" id="{5B5BCA54-032C-42CE-BF0C-9FFD22DD8486}"/>
              </a:ext>
            </a:extLst>
          </p:cNvPr>
          <p:cNvSpPr>
            <a:spLocks xmlns:a="http://schemas.openxmlformats.org/drawingml/2006/main" noGrp="1"/>
          </p:cNvSpPr>
          <p:nvPr/>
        </p:nvSpPr>
        <p:spPr>
          <a:xfrm xmlns:a="http://schemas.openxmlformats.org/drawingml/2006/main">
            <a:off x="685800" y="5048250"/>
            <a:ext cx="95250" cy="742950"/>
          </a:xfrm>
          <a:prstGeom xmlns:a="http://schemas.openxmlformats.org/drawingml/2006/main" prst="roundRect">
            <a:avLst>
              <a:gd name="adj" fmla="val 50000"/>
            </a:avLst>
          </a:prstGeom>
          <a:solidFill xmlns:a="http://schemas.openxmlformats.org/drawingml/2006/main">
            <a:srgbClr val="13795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F8B1FD1-D7E9-4FF7-A000-B4C591AD4257}"/>
              </a:ext>
            </a:extLst>
          </p:cNvPr>
          <p:cNvSpPr>
            <a:spLocks xmlns:a="http://schemas.openxmlformats.org/drawingml/2006/main" noGrp="1"/>
          </p:cNvSpPr>
          <p:nvPr/>
        </p:nvSpPr>
        <p:spPr>
          <a:xfrm xmlns:a="http://schemas.openxmlformats.org/drawingml/2006/main">
            <a:off x="1028700" y="51244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3795B"/>
                </a:solidFill>
                <a:latin typeface="Arial"/>
                <a:ea typeface="Arial"/>
                <a:cs typeface="Arial"/>
              </a:defRPr>
            </a:pPr>
            <a:r>
              <a:rPr sz="1350" b="1">
                <a:solidFill>
                  <a:srgbClr val="13795B"/>
                </a:solidFill>
                <a:latin typeface="Arial"/>
                <a:ea typeface="Arial"/>
                <a:cs typeface="Arial"/>
              </a:rPr>
              <a:t>FOCUS</a:t>
            </a:r>
          </a:p>
        </p:txBody>
      </p:sp>
      <p:sp>
        <p:nvSpPr>
          <p:cNvPr id="17" name="">
            <a:extLst xmlns:a="http://schemas.openxmlformats.org/drawingml/2006/main">
              <a:ext uri="{FF2B5EF4-FFF2-40B4-BE49-F238E27FC236}">
                <a16:creationId xmlns:a16="http://schemas.microsoft.com/office/drawing/2014/main" id="{0575C2B2-FD57-4F8A-B429-8D8E1C2BDDDE}"/>
              </a:ext>
            </a:extLst>
          </p:cNvPr>
          <p:cNvSpPr>
            <a:spLocks xmlns:a="http://schemas.openxmlformats.org/drawingml/2006/main" noGrp="1"/>
          </p:cNvSpPr>
          <p:nvPr/>
        </p:nvSpPr>
        <p:spPr>
          <a:xfrm xmlns:a="http://schemas.openxmlformats.org/drawingml/2006/main">
            <a:off x="2647950" y="50958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Timer, breathing, ambient sound, reflection, Spotify</a:t>
            </a:r>
          </a:p>
        </p:txBody>
      </p:sp>
      <p:sp>
        <p:nvSpPr>
          <p:cNvPr id="18" name="">
            <a:extLst xmlns:a="http://schemas.openxmlformats.org/drawingml/2006/main">
              <a:ext uri="{FF2B5EF4-FFF2-40B4-BE49-F238E27FC236}">
                <a16:creationId xmlns:a16="http://schemas.microsoft.com/office/drawing/2014/main" id="{5B733C2E-CA7E-479A-992B-646FBBBDA118}"/>
              </a:ext>
            </a:extLst>
          </p:cNvPr>
          <p:cNvSpPr>
            <a:spLocks xmlns:a="http://schemas.openxmlformats.org/drawingml/2006/main" noGrp="1"/>
          </p:cNvSpPr>
          <p:nvPr/>
        </p:nvSpPr>
        <p:spPr>
          <a:xfrm xmlns:a="http://schemas.openxmlformats.org/drawingml/2006/main">
            <a:off x="685800" y="60579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The same navigation supports technical demonstrations and daily use.</a:t>
            </a:r>
          </a:p>
        </p:txBody>
      </p:sp>
      <p:sp>
        <p:nvSpPr>
          <p:cNvPr id="19" name="">
            <a:extLst xmlns:a="http://schemas.openxmlformats.org/drawingml/2006/main">
              <a:ext uri="{FF2B5EF4-FFF2-40B4-BE49-F238E27FC236}">
                <a16:creationId xmlns:a16="http://schemas.microsoft.com/office/drawing/2014/main" id="{2B57CC94-FF5B-4F19-9959-D26ED3FEA68A}"/>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20" name="">
            <a:extLst xmlns:a="http://schemas.openxmlformats.org/drawingml/2006/main">
              <a:ext uri="{FF2B5EF4-FFF2-40B4-BE49-F238E27FC236}">
                <a16:creationId xmlns:a16="http://schemas.microsoft.com/office/drawing/2014/main" id="{6F9D35D2-A34E-4366-BF5B-F48A677FF8DD}"/>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03</a:t>
            </a:r>
          </a:p>
        </p:txBody>
      </p:sp>
    </p:spTree>
    <p:extLst>
      <p:ext uri="{BB962C8B-B14F-4D97-AF65-F5344CB8AC3E}">
        <p14:creationId xmlns:p14="http://schemas.microsoft.com/office/powerpoint/2010/main" val="13015962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BDA07EF-AE47-4E80-BD6B-10B6ED11D8FB}"/>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0581307E-1DB1-4071-B8A4-3F379A19FAA0}"/>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Application architecture</a:t>
            </a:r>
          </a:p>
        </p:txBody>
      </p:sp>
      <p:sp>
        <p:nvSpPr>
          <p:cNvPr id="3" name="">
            <a:extLst xmlns:a="http://schemas.openxmlformats.org/drawingml/2006/main">
              <a:ext uri="{FF2B5EF4-FFF2-40B4-BE49-F238E27FC236}">
                <a16:creationId xmlns:a16="http://schemas.microsoft.com/office/drawing/2014/main" id="{2B2B8F42-A9A0-4939-89A0-51966DB8923D}"/>
              </a:ext>
            </a:extLst>
          </p:cNvPr>
          <p:cNvSpPr>
            <a:spLocks xmlns:a="http://schemas.openxmlformats.org/drawingml/2006/main" noGrp="1"/>
          </p:cNvSpPr>
          <p:nvPr/>
        </p:nvSpPr>
        <p:spPr>
          <a:xfrm xmlns:a="http://schemas.openxmlformats.org/drawingml/2006/main">
            <a:off x="704850" y="1962150"/>
            <a:ext cx="2286000" cy="1466850"/>
          </a:xfrm>
          <a:prstGeom xmlns:a="http://schemas.openxmlformats.org/drawingml/2006/main" prst="roundRect">
            <a:avLst>
              <a:gd name="adj" fmla="val 11688"/>
            </a:avLst>
          </a:prstGeom>
          <a:solidFill xmlns:a="http://schemas.openxmlformats.org/drawingml/2006/main">
            <a:srgbClr val="EAF1FF"/>
          </a:solidFill>
          <a:ln xmlns:a="http://schemas.openxmlformats.org/drawingml/2006/main" w="9525">
            <a:solidFill>
              <a:srgbClr val="AFC6F5"/>
            </a:solidFill>
          </a:ln>
        </p:spPr>
      </p:sp>
      <p:sp>
        <p:nvSpPr>
          <p:cNvPr id="4" name="">
            <a:extLst xmlns:a="http://schemas.openxmlformats.org/drawingml/2006/main">
              <a:ext uri="{FF2B5EF4-FFF2-40B4-BE49-F238E27FC236}">
                <a16:creationId xmlns:a16="http://schemas.microsoft.com/office/drawing/2014/main" id="{BB975A74-871B-400F-996B-DFC5E017CE60}"/>
              </a:ext>
            </a:extLst>
          </p:cNvPr>
          <p:cNvSpPr>
            <a:spLocks xmlns:a="http://schemas.openxmlformats.org/drawingml/2006/main" noGrp="1"/>
          </p:cNvSpPr>
          <p:nvPr/>
        </p:nvSpPr>
        <p:spPr>
          <a:xfrm xmlns:a="http://schemas.openxmlformats.org/drawingml/2006/main">
            <a:off x="933450" y="21907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72033"/>
                </a:solidFill>
                <a:latin typeface="Arial"/>
                <a:ea typeface="Arial"/>
                <a:cs typeface="Arial"/>
              </a:defRPr>
            </a:pPr>
            <a:r>
              <a:rPr sz="2100" b="1">
                <a:solidFill>
                  <a:srgbClr val="172033"/>
                </a:solidFill>
                <a:latin typeface="Arial"/>
                <a:ea typeface="Arial"/>
                <a:cs typeface="Arial"/>
              </a:rPr>
              <a:t>Browser</a:t>
            </a:r>
          </a:p>
        </p:txBody>
      </p:sp>
      <p:sp>
        <p:nvSpPr>
          <p:cNvPr id="5" name="">
            <a:extLst xmlns:a="http://schemas.openxmlformats.org/drawingml/2006/main">
              <a:ext uri="{FF2B5EF4-FFF2-40B4-BE49-F238E27FC236}">
                <a16:creationId xmlns:a16="http://schemas.microsoft.com/office/drawing/2014/main" id="{F4CCA074-632A-40F9-BBE2-DEE8D7B42B07}"/>
              </a:ext>
            </a:extLst>
          </p:cNvPr>
          <p:cNvSpPr>
            <a:spLocks xmlns:a="http://schemas.openxmlformats.org/drawingml/2006/main" noGrp="1"/>
          </p:cNvSpPr>
          <p:nvPr/>
        </p:nvSpPr>
        <p:spPr>
          <a:xfrm xmlns:a="http://schemas.openxmlformats.org/drawingml/2006/main">
            <a:off x="933450" y="26670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9506"/>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Interactive Blazor circuit</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User actions and live updates</a:t>
            </a:r>
          </a:p>
        </p:txBody>
      </p:sp>
      <p:sp>
        <p:nvSpPr>
          <p:cNvPr id="6" name="">
            <a:extLst xmlns:a="http://schemas.openxmlformats.org/drawingml/2006/main">
              <a:ext uri="{FF2B5EF4-FFF2-40B4-BE49-F238E27FC236}">
                <a16:creationId xmlns:a16="http://schemas.microsoft.com/office/drawing/2014/main" id="{F2EC9BDE-3FFE-4522-BF91-1E9E8F42CA67}"/>
              </a:ext>
            </a:extLst>
          </p:cNvPr>
          <p:cNvSpPr>
            <a:spLocks xmlns:a="http://schemas.openxmlformats.org/drawingml/2006/main" noGrp="1"/>
          </p:cNvSpPr>
          <p:nvPr/>
        </p:nvSpPr>
        <p:spPr>
          <a:xfrm xmlns:a="http://schemas.openxmlformats.org/drawingml/2006/main">
            <a:off x="4324350" y="1600200"/>
            <a:ext cx="3333750" cy="2190750"/>
          </a:xfrm>
          <a:prstGeom xmlns:a="http://schemas.openxmlformats.org/drawingml/2006/main" prst="roundRect">
            <a:avLst>
              <a:gd name="adj" fmla="val 9565"/>
            </a:avLst>
          </a:prstGeom>
          <a:solidFill xmlns:a="http://schemas.openxmlformats.org/drawingml/2006/main">
            <a:srgbClr val="111C3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45B1C2D-8549-4106-AA15-710084688AF5}"/>
              </a:ext>
            </a:extLst>
          </p:cNvPr>
          <p:cNvSpPr>
            <a:spLocks xmlns:a="http://schemas.openxmlformats.org/drawingml/2006/main" noGrp="1"/>
          </p:cNvSpPr>
          <p:nvPr/>
        </p:nvSpPr>
        <p:spPr>
          <a:xfrm xmlns:a="http://schemas.openxmlformats.org/drawingml/2006/main">
            <a:off x="4610100" y="19240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362"/>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.NET 9 Blazor Server</a:t>
            </a:r>
          </a:p>
        </p:txBody>
      </p:sp>
      <p:sp>
        <p:nvSpPr>
          <p:cNvPr id="8" name="">
            <a:extLst xmlns:a="http://schemas.openxmlformats.org/drawingml/2006/main">
              <a:ext uri="{FF2B5EF4-FFF2-40B4-BE49-F238E27FC236}">
                <a16:creationId xmlns:a16="http://schemas.microsoft.com/office/drawing/2014/main" id="{E86D3951-D43F-4B99-B0C0-A90E2C98D616}"/>
              </a:ext>
            </a:extLst>
          </p:cNvPr>
          <p:cNvSpPr>
            <a:spLocks xmlns:a="http://schemas.openxmlformats.org/drawingml/2006/main" noGrp="1"/>
          </p:cNvSpPr>
          <p:nvPr/>
        </p:nvSpPr>
        <p:spPr>
          <a:xfrm xmlns:a="http://schemas.openxmlformats.org/drawingml/2006/main">
            <a:off x="4667250" y="259080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DCE6F8"/>
                </a:solidFill>
                <a:latin typeface="Arial"/>
                <a:ea typeface="Arial"/>
                <a:cs typeface="Arial"/>
              </a:defRPr>
            </a:pPr>
            <a:r>
              <a:rPr sz="1650" b="0">
                <a:solidFill>
                  <a:srgbClr val="DCE6F8"/>
                </a:solidFill>
                <a:latin typeface="Arial"/>
                <a:ea typeface="Arial"/>
                <a:cs typeface="Arial"/>
              </a:rPr>
              <a:t>Razor components</a:t>
            </a:r>
          </a:p>
          <a:p xmlns:a="http://schemas.openxmlformats.org/drawingml/2006/main">
            <a:pPr algn="ctr">
              <a:defRPr sz="1650" b="0">
                <a:solidFill>
                  <a:srgbClr val="DCE6F8"/>
                </a:solidFill>
                <a:latin typeface="Arial"/>
                <a:ea typeface="Arial"/>
                <a:cs typeface="Arial"/>
              </a:defRPr>
            </a:pPr>
            <a:r>
              <a:rPr sz="1650" b="0">
                <a:solidFill>
                  <a:srgbClr val="DCE6F8"/>
                </a:solidFill>
                <a:latin typeface="Arial"/>
                <a:ea typeface="Arial"/>
                <a:cs typeface="Arial"/>
              </a:rPr>
              <a:t>Application services</a:t>
            </a:r>
          </a:p>
          <a:p xmlns:a="http://schemas.openxmlformats.org/drawingml/2006/main">
            <a:pPr algn="ctr">
              <a:defRPr sz="1650" b="0">
                <a:solidFill>
                  <a:srgbClr val="DCE6F8"/>
                </a:solidFill>
                <a:latin typeface="Arial"/>
                <a:ea typeface="Arial"/>
                <a:cs typeface="Arial"/>
              </a:defRPr>
            </a:pPr>
            <a:r>
              <a:rPr sz="1650" b="0">
                <a:solidFill>
                  <a:srgbClr val="DCE6F8"/>
                </a:solidFill>
                <a:latin typeface="Arial"/>
                <a:ea typeface="Arial"/>
                <a:cs typeface="Arial"/>
              </a:rPr>
              <a:t>Safety validation</a:t>
            </a:r>
          </a:p>
        </p:txBody>
      </p:sp>
      <p:sp>
        <p:nvSpPr>
          <p:cNvPr id="9" name="">
            <a:extLst xmlns:a="http://schemas.openxmlformats.org/drawingml/2006/main">
              <a:ext uri="{FF2B5EF4-FFF2-40B4-BE49-F238E27FC236}">
                <a16:creationId xmlns:a16="http://schemas.microsoft.com/office/drawing/2014/main" id="{17BBC985-2012-4FEF-A685-23A24195DFC6}"/>
              </a:ext>
            </a:extLst>
          </p:cNvPr>
          <p:cNvSpPr>
            <a:spLocks xmlns:a="http://schemas.openxmlformats.org/drawingml/2006/main" noGrp="1"/>
          </p:cNvSpPr>
          <p:nvPr/>
        </p:nvSpPr>
        <p:spPr>
          <a:xfrm xmlns:a="http://schemas.openxmlformats.org/drawingml/2006/main">
            <a:off x="8991600" y="1085850"/>
            <a:ext cx="2495550" cy="1714500"/>
          </a:xfrm>
          <a:prstGeom xmlns:a="http://schemas.openxmlformats.org/drawingml/2006/main" prst="roundRect">
            <a:avLst>
              <a:gd name="adj" fmla="val 10000"/>
            </a:avLst>
          </a:prstGeom>
          <a:solidFill xmlns:a="http://schemas.openxmlformats.org/drawingml/2006/main">
            <a:srgbClr val="E8F6EE"/>
          </a:solidFill>
          <a:ln xmlns:a="http://schemas.openxmlformats.org/drawingml/2006/main" w="9525">
            <a:solidFill>
              <a:srgbClr val="B7DDC8"/>
            </a:solidFill>
          </a:ln>
        </p:spPr>
      </p:sp>
      <p:sp>
        <p:nvSpPr>
          <p:cNvPr id="10" name="">
            <a:extLst xmlns:a="http://schemas.openxmlformats.org/drawingml/2006/main">
              <a:ext uri="{FF2B5EF4-FFF2-40B4-BE49-F238E27FC236}">
                <a16:creationId xmlns:a16="http://schemas.microsoft.com/office/drawing/2014/main" id="{0C9B9287-480D-4BD1-B8C8-809B075491E5}"/>
              </a:ext>
            </a:extLst>
          </p:cNvPr>
          <p:cNvSpPr>
            <a:spLocks xmlns:a="http://schemas.openxmlformats.org/drawingml/2006/main" noGrp="1"/>
          </p:cNvSpPr>
          <p:nvPr/>
        </p:nvSpPr>
        <p:spPr>
          <a:xfrm xmlns:a="http://schemas.openxmlformats.org/drawingml/2006/main">
            <a:off x="9239250" y="13716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086"/>
          </a:bodyPr>
          <a:lstStyle xmlns:a="http://schemas.openxmlformats.org/drawingml/2006/main"/>
          <a:p xmlns:a="http://schemas.openxmlformats.org/drawingml/2006/main">
            <a:pPr algn="ctr">
              <a:defRPr sz="1875" b="1">
                <a:solidFill>
                  <a:srgbClr val="172033"/>
                </a:solidFill>
                <a:latin typeface="Arial"/>
                <a:ea typeface="Arial"/>
                <a:cs typeface="Arial"/>
              </a:defRPr>
            </a:pPr>
            <a:r>
              <a:rPr sz="1875" b="1">
                <a:solidFill>
                  <a:srgbClr val="172033"/>
                </a:solidFill>
                <a:latin typeface="Arial"/>
                <a:ea typeface="Arial"/>
                <a:cs typeface="Arial"/>
              </a:rPr>
              <a:t>System and storage</a:t>
            </a:r>
          </a:p>
        </p:txBody>
      </p:sp>
      <p:sp>
        <p:nvSpPr>
          <p:cNvPr id="11" name="">
            <a:extLst xmlns:a="http://schemas.openxmlformats.org/drawingml/2006/main">
              <a:ext uri="{FF2B5EF4-FFF2-40B4-BE49-F238E27FC236}">
                <a16:creationId xmlns:a16="http://schemas.microsoft.com/office/drawing/2014/main" id="{A9658C82-16C4-4CD7-BF8A-FC725955D5FB}"/>
              </a:ext>
            </a:extLst>
          </p:cNvPr>
          <p:cNvSpPr>
            <a:spLocks xmlns:a="http://schemas.openxmlformats.org/drawingml/2006/main" noGrp="1"/>
          </p:cNvSpPr>
          <p:nvPr/>
        </p:nvSpPr>
        <p:spPr>
          <a:xfrm xmlns:a="http://schemas.openxmlformats.org/drawingml/2006/main">
            <a:off x="9239250" y="1905000"/>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Runtime metrics</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Processes and files</a:t>
            </a:r>
          </a:p>
        </p:txBody>
      </p:sp>
      <p:sp>
        <p:nvSpPr>
          <p:cNvPr id="12" name="">
            <a:extLst xmlns:a="http://schemas.openxmlformats.org/drawingml/2006/main">
              <a:ext uri="{FF2B5EF4-FFF2-40B4-BE49-F238E27FC236}">
                <a16:creationId xmlns:a16="http://schemas.microsoft.com/office/drawing/2014/main" id="{8D916261-57CF-45FD-AD9B-13AD87670135}"/>
              </a:ext>
            </a:extLst>
          </p:cNvPr>
          <p:cNvSpPr>
            <a:spLocks xmlns:a="http://schemas.openxmlformats.org/drawingml/2006/main" noGrp="1"/>
          </p:cNvSpPr>
          <p:nvPr/>
        </p:nvSpPr>
        <p:spPr>
          <a:xfrm xmlns:a="http://schemas.openxmlformats.org/drawingml/2006/main">
            <a:off x="8991600" y="3409950"/>
            <a:ext cx="2495550" cy="1714500"/>
          </a:xfrm>
          <a:prstGeom xmlns:a="http://schemas.openxmlformats.org/drawingml/2006/main" prst="roundRect">
            <a:avLst>
              <a:gd name="adj" fmla="val 10000"/>
            </a:avLst>
          </a:prstGeom>
          <a:solidFill xmlns:a="http://schemas.openxmlformats.org/drawingml/2006/main">
            <a:srgbClr val="FFF5E6"/>
          </a:solidFill>
          <a:ln xmlns:a="http://schemas.openxmlformats.org/drawingml/2006/main" w="9525">
            <a:solidFill>
              <a:srgbClr val="E8C991"/>
            </a:solidFill>
          </a:ln>
        </p:spPr>
      </p:sp>
      <p:sp>
        <p:nvSpPr>
          <p:cNvPr id="13" name="">
            <a:extLst xmlns:a="http://schemas.openxmlformats.org/drawingml/2006/main">
              <a:ext uri="{FF2B5EF4-FFF2-40B4-BE49-F238E27FC236}">
                <a16:creationId xmlns:a16="http://schemas.microsoft.com/office/drawing/2014/main" id="{F43031DD-4C58-4BC9-A857-5D4BE719DA2A}"/>
              </a:ext>
            </a:extLst>
          </p:cNvPr>
          <p:cNvSpPr>
            <a:spLocks xmlns:a="http://schemas.openxmlformats.org/drawingml/2006/main" noGrp="1"/>
          </p:cNvSpPr>
          <p:nvPr/>
        </p:nvSpPr>
        <p:spPr>
          <a:xfrm xmlns:a="http://schemas.openxmlformats.org/drawingml/2006/main">
            <a:off x="9239250" y="36957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094"/>
          </a:bodyPr>
          <a:lstStyle xmlns:a="http://schemas.openxmlformats.org/drawingml/2006/main"/>
          <a:p xmlns:a="http://schemas.openxmlformats.org/drawingml/2006/main">
            <a:pPr algn="ctr">
              <a:defRPr sz="1875" b="1">
                <a:solidFill>
                  <a:srgbClr val="172033"/>
                </a:solidFill>
                <a:latin typeface="Arial"/>
                <a:ea typeface="Arial"/>
                <a:cs typeface="Arial"/>
              </a:defRPr>
            </a:pPr>
            <a:r>
              <a:rPr sz="1875" b="1">
                <a:solidFill>
                  <a:srgbClr val="172033"/>
                </a:solidFill>
                <a:latin typeface="Arial"/>
                <a:ea typeface="Arial"/>
                <a:cs typeface="Arial"/>
              </a:rPr>
              <a:t>Approved services</a:t>
            </a:r>
          </a:p>
        </p:txBody>
      </p:sp>
      <p:sp>
        <p:nvSpPr>
          <p:cNvPr id="14" name="">
            <a:extLst xmlns:a="http://schemas.openxmlformats.org/drawingml/2006/main">
              <a:ext uri="{FF2B5EF4-FFF2-40B4-BE49-F238E27FC236}">
                <a16:creationId xmlns:a16="http://schemas.microsoft.com/office/drawing/2014/main" id="{F490C99A-4291-4598-84D4-E56866FB8EB4}"/>
              </a:ext>
            </a:extLst>
          </p:cNvPr>
          <p:cNvSpPr>
            <a:spLocks xmlns:a="http://schemas.openxmlformats.org/drawingml/2006/main" noGrp="1"/>
          </p:cNvSpPr>
          <p:nvPr/>
        </p:nvSpPr>
        <p:spPr>
          <a:xfrm xmlns:a="http://schemas.openxmlformats.org/drawingml/2006/main">
            <a:off x="9239250" y="4229100"/>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Websites, APIs, DNS</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Spotify and OTLP</a:t>
            </a:r>
          </a:p>
        </p:txBody>
      </p:sp>
      <p:cxnSp>
        <p:nvCxnSpPr>
          <p:cNvPr id="35" name=""/>
          <p:cNvCxnSpPr>
            <a:stCxn xmlns:a="http://schemas.openxmlformats.org/drawingml/2006/main" id="3" idx="3"/>
            <a:endCxn xmlns:a="http://schemas.openxmlformats.org/drawingml/2006/main" id="6" idx="1"/>
          </p:cNvCxnSpPr>
          <p:nvPr/>
        </p:nvCxnSpPr>
        <p:spPr>
          <a:xfrm xmlns:a="http://schemas.openxmlformats.org/drawingml/2006/main">
            <a:off x="2990850" y="2695575"/>
            <a:ext cx="1333500" cy="0"/>
          </a:xfrm>
          <a:prstGeom xmlns:a="http://schemas.openxmlformats.org/drawingml/2006/main" prst="straightConnector1">
            <a:avLst/>
          </a:prstGeom>
          <a:ln xmlns:a="http://schemas.openxmlformats.org/drawingml/2006/main" w="28575">
            <a:solidFill>
              <a:srgbClr val="3976ED"/>
            </a:solidFill>
            <a:prstDash val="solid"/>
            <a:tailEnd type="triangle" w="sm" len="sm"/>
          </a:ln>
        </p:spPr>
      </p:cxnSp>
      <p:cxnSp>
        <p:nvCxnSpPr>
          <p:cNvPr id="36" name=""/>
          <p:cNvCxnSpPr>
            <a:stCxn xmlns:a="http://schemas.openxmlformats.org/drawingml/2006/main" id="6" idx="3"/>
            <a:endCxn xmlns:a="http://schemas.openxmlformats.org/drawingml/2006/main" id="9" idx="1"/>
          </p:cNvCxnSpPr>
          <p:nvPr/>
        </p:nvCxnSpPr>
        <p:spPr>
          <a:xfrm xmlns:a="http://schemas.openxmlformats.org/drawingml/2006/main" flipV="1">
            <a:off x="7658100" y="1943100"/>
            <a:ext cx="1333500" cy="752475"/>
          </a:xfrm>
          <a:prstGeom xmlns:a="http://schemas.openxmlformats.org/drawingml/2006/main" prst="bentConnector3">
            <a:avLst>
              <a:gd name="adj1" fmla="val 50000"/>
            </a:avLst>
          </a:prstGeom>
          <a:ln xmlns:a="http://schemas.openxmlformats.org/drawingml/2006/main" w="28575">
            <a:solidFill>
              <a:srgbClr val="17965A"/>
            </a:solidFill>
            <a:prstDash val="solid"/>
            <a:tailEnd type="triangle" w="sm" len="sm"/>
          </a:ln>
        </p:spPr>
      </p:cxnSp>
      <p:cxnSp>
        <p:nvCxnSpPr>
          <p:cNvPr id="37" name=""/>
          <p:cNvCxnSpPr>
            <a:stCxn xmlns:a="http://schemas.openxmlformats.org/drawingml/2006/main" id="6" idx="3"/>
            <a:endCxn xmlns:a="http://schemas.openxmlformats.org/drawingml/2006/main" id="12" idx="1"/>
          </p:cNvCxnSpPr>
          <p:nvPr/>
        </p:nvCxnSpPr>
        <p:spPr>
          <a:xfrm xmlns:a="http://schemas.openxmlformats.org/drawingml/2006/main">
            <a:off x="7658100" y="2695575"/>
            <a:ext cx="1333500" cy="1571625"/>
          </a:xfrm>
          <a:prstGeom xmlns:a="http://schemas.openxmlformats.org/drawingml/2006/main" prst="bentConnector3">
            <a:avLst>
              <a:gd name="adj1" fmla="val 50000"/>
            </a:avLst>
          </a:prstGeom>
          <a:ln xmlns:a="http://schemas.openxmlformats.org/drawingml/2006/main" w="28575">
            <a:solidFill>
              <a:srgbClr val="D4861A"/>
            </a:solidFill>
            <a:prstDash val="solid"/>
            <a:tailEnd type="triangle" w="sm" len="sm"/>
          </a:ln>
        </p:spPr>
      </p:cxnSp>
      <p:sp>
        <p:nvSpPr>
          <p:cNvPr id="18" name="">
            <a:extLst xmlns:a="http://schemas.openxmlformats.org/drawingml/2006/main">
              <a:ext uri="{FF2B5EF4-FFF2-40B4-BE49-F238E27FC236}">
                <a16:creationId xmlns:a16="http://schemas.microsoft.com/office/drawing/2014/main" id="{45B80DE6-396A-496B-ACD4-50F542BB06C8}"/>
              </a:ext>
            </a:extLst>
          </p:cNvPr>
          <p:cNvSpPr>
            <a:spLocks xmlns:a="http://schemas.openxmlformats.org/drawingml/2006/main" noGrp="1"/>
          </p:cNvSpPr>
          <p:nvPr/>
        </p:nvSpPr>
        <p:spPr>
          <a:xfrm xmlns:a="http://schemas.openxmlformats.org/drawingml/2006/main">
            <a:off x="3752850" y="489585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5F6F8C"/>
                </a:solidFill>
                <a:latin typeface="Arial"/>
                <a:ea typeface="Arial"/>
                <a:cs typeface="Arial"/>
              </a:defRPr>
            </a:pPr>
            <a:r>
              <a:rPr sz="1500" b="0">
                <a:solidFill>
                  <a:srgbClr val="5F6F8C"/>
                </a:solidFill>
                <a:latin typeface="Arial"/>
                <a:ea typeface="Arial"/>
                <a:cs typeface="Arial"/>
              </a:rPr>
              <a:t>Encrypted session state and bounded telemetry journals use the configured data directory.</a:t>
            </a:r>
          </a:p>
        </p:txBody>
      </p:sp>
      <p:sp>
        <p:nvSpPr>
          <p:cNvPr id="19" name="">
            <a:extLst xmlns:a="http://schemas.openxmlformats.org/drawingml/2006/main">
              <a:ext uri="{FF2B5EF4-FFF2-40B4-BE49-F238E27FC236}">
                <a16:creationId xmlns:a16="http://schemas.microsoft.com/office/drawing/2014/main" id="{C69B34FC-73CF-43F0-8735-34AA31DD8E5D}"/>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20" name="">
            <a:extLst xmlns:a="http://schemas.openxmlformats.org/drawingml/2006/main">
              <a:ext uri="{FF2B5EF4-FFF2-40B4-BE49-F238E27FC236}">
                <a16:creationId xmlns:a16="http://schemas.microsoft.com/office/drawing/2014/main" id="{ECAA17C0-1399-46C8-9241-8CE0B4D16F48}"/>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04</a:t>
            </a:r>
          </a:p>
        </p:txBody>
      </p:sp>
    </p:spTree>
    <p:extLst>
      <p:ext uri="{BB962C8B-B14F-4D97-AF65-F5344CB8AC3E}">
        <p14:creationId xmlns:p14="http://schemas.microsoft.com/office/powerpoint/2010/main" val="12854546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165D6D-EB06-4103-87C4-5BC85D9B91F7}"/>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OBSERVE</a:t>
            </a:r>
          </a:p>
        </p:txBody>
      </p:sp>
      <p:sp>
        <p:nvSpPr>
          <p:cNvPr id="2" name="">
            <a:extLst xmlns:a="http://schemas.openxmlformats.org/drawingml/2006/main">
              <a:ext uri="{FF2B5EF4-FFF2-40B4-BE49-F238E27FC236}">
                <a16:creationId xmlns:a16="http://schemas.microsoft.com/office/drawing/2014/main" id="{2DA9C36E-E603-45E2-BB89-BA89C910EDA0}"/>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Operations and telemetry</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5851affb46b48b8"/>
          <a:srcRect xmlns:a="http://schemas.openxmlformats.org/drawingml/2006/main" l="5863" t="0" r="5863" b="0"/>
          <a:stretch xmlns:a="http://schemas.openxmlformats.org/drawingml/2006/main">
            <a:fillRect l="0" t="0" r="0" b="0"/>
          </a:stretch>
        </p:blipFill>
        <p:spPr>
          <a:xfrm xmlns:a="http://schemas.openxmlformats.org/drawingml/2006/main">
            <a:off x="685800" y="1447800"/>
            <a:ext cx="5219700" cy="3695700"/>
          </a:xfrm>
          <a:prstGeom xmlns:a="http://schemas.openxmlformats.org/drawingml/2006/main" prst="roundRect">
            <a:avLst>
              <a:gd name="adj" fmla="val 4124"/>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cf18a654f634259"/>
          <a:srcRect xmlns:a="http://schemas.openxmlformats.org/drawingml/2006/main" l="5863" t="0" r="5863" b="0"/>
          <a:stretch xmlns:a="http://schemas.openxmlformats.org/drawingml/2006/main">
            <a:fillRect l="0" t="0" r="0" b="0"/>
          </a:stretch>
        </p:blipFill>
        <p:spPr>
          <a:xfrm xmlns:a="http://schemas.openxmlformats.org/drawingml/2006/main">
            <a:off x="6286500" y="1447800"/>
            <a:ext cx="5219700" cy="3695700"/>
          </a:xfrm>
          <a:prstGeom xmlns:a="http://schemas.openxmlformats.org/drawingml/2006/main" prst="roundRect">
            <a:avLst>
              <a:gd name="adj" fmla="val 4124"/>
            </a:avLst>
          </a:prstGeom>
        </p:spPr>
      </p:pic>
      <p:sp>
        <p:nvSpPr>
          <p:cNvPr id="5" name="">
            <a:extLst xmlns:a="http://schemas.openxmlformats.org/drawingml/2006/main">
              <a:ext uri="{FF2B5EF4-FFF2-40B4-BE49-F238E27FC236}">
                <a16:creationId xmlns:a16="http://schemas.microsoft.com/office/drawing/2014/main" id="{B04065AC-F3B3-4DA3-8BC9-9EFDD54BFAC6}"/>
              </a:ext>
            </a:extLst>
          </p:cNvPr>
          <p:cNvSpPr>
            <a:spLocks xmlns:a="http://schemas.openxmlformats.org/drawingml/2006/main" noGrp="1"/>
          </p:cNvSpPr>
          <p:nvPr/>
        </p:nvSpPr>
        <p:spPr>
          <a:xfrm xmlns:a="http://schemas.openxmlformats.org/drawingml/2006/main">
            <a:off x="685800" y="5372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3976ED"/>
                </a:solidFill>
                <a:latin typeface="Arial"/>
                <a:ea typeface="Arial"/>
                <a:cs typeface="Arial"/>
              </a:defRPr>
            </a:pPr>
            <a:r>
              <a:rPr sz="1650" b="1">
                <a:solidFill>
                  <a:srgbClr val="3976ED"/>
                </a:solidFill>
                <a:latin typeface="Arial"/>
                <a:ea typeface="Arial"/>
                <a:cs typeface="Arial"/>
              </a:rPr>
              <a:t>Bounded checks</a:t>
            </a:r>
          </a:p>
        </p:txBody>
      </p:sp>
      <p:sp>
        <p:nvSpPr>
          <p:cNvPr id="6" name="">
            <a:extLst xmlns:a="http://schemas.openxmlformats.org/drawingml/2006/main">
              <a:ext uri="{FF2B5EF4-FFF2-40B4-BE49-F238E27FC236}">
                <a16:creationId xmlns:a16="http://schemas.microsoft.com/office/drawing/2014/main" id="{CFCF5B3D-D9C0-4683-9ADB-245E7A8274C3}"/>
              </a:ext>
            </a:extLst>
          </p:cNvPr>
          <p:cNvSpPr>
            <a:spLocks xmlns:a="http://schemas.openxmlformats.org/drawingml/2006/main" noGrp="1"/>
          </p:cNvSpPr>
          <p:nvPr/>
        </p:nvSpPr>
        <p:spPr>
          <a:xfrm xmlns:a="http://schemas.openxmlformats.org/drawingml/2006/main">
            <a:off x="685800" y="56959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F6F8C"/>
                </a:solidFill>
                <a:latin typeface="Arial"/>
                <a:ea typeface="Arial"/>
                <a:cs typeface="Arial"/>
              </a:defRPr>
            </a:pPr>
            <a:r>
              <a:rPr sz="1350" b="0">
                <a:solidFill>
                  <a:srgbClr val="5F6F8C"/>
                </a:solidFill>
                <a:latin typeface="Arial"/>
                <a:ea typeface="Arial"/>
                <a:cs typeface="Arial"/>
              </a:rPr>
              <a:t>HTTP, TCP, ping, DNS, TLS, database connectivity, and approved log files</a:t>
            </a:r>
          </a:p>
        </p:txBody>
      </p:sp>
      <p:sp>
        <p:nvSpPr>
          <p:cNvPr id="7" name="">
            <a:extLst xmlns:a="http://schemas.openxmlformats.org/drawingml/2006/main">
              <a:ext uri="{FF2B5EF4-FFF2-40B4-BE49-F238E27FC236}">
                <a16:creationId xmlns:a16="http://schemas.microsoft.com/office/drawing/2014/main" id="{1F4233BF-7064-4721-ACFB-3D5732474ACA}"/>
              </a:ext>
            </a:extLst>
          </p:cNvPr>
          <p:cNvSpPr>
            <a:spLocks xmlns:a="http://schemas.openxmlformats.org/drawingml/2006/main" noGrp="1"/>
          </p:cNvSpPr>
          <p:nvPr/>
        </p:nvSpPr>
        <p:spPr>
          <a:xfrm xmlns:a="http://schemas.openxmlformats.org/drawingml/2006/main">
            <a:off x="6286500" y="5372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965A"/>
                </a:solidFill>
                <a:latin typeface="Arial"/>
                <a:ea typeface="Arial"/>
                <a:cs typeface="Arial"/>
              </a:defRPr>
            </a:pPr>
            <a:r>
              <a:rPr sz="1650" b="1">
                <a:solidFill>
                  <a:srgbClr val="17965A"/>
                </a:solidFill>
                <a:latin typeface="Arial"/>
                <a:ea typeface="Arial"/>
                <a:cs typeface="Arial"/>
              </a:rPr>
              <a:t>Evidence over time</a:t>
            </a:r>
          </a:p>
        </p:txBody>
      </p:sp>
      <p:sp>
        <p:nvSpPr>
          <p:cNvPr id="8" name="">
            <a:extLst xmlns:a="http://schemas.openxmlformats.org/drawingml/2006/main">
              <a:ext uri="{FF2B5EF4-FFF2-40B4-BE49-F238E27FC236}">
                <a16:creationId xmlns:a16="http://schemas.microsoft.com/office/drawing/2014/main" id="{C17951A3-867F-45C1-B380-85B4D126635B}"/>
              </a:ext>
            </a:extLst>
          </p:cNvPr>
          <p:cNvSpPr>
            <a:spLocks xmlns:a="http://schemas.openxmlformats.org/drawingml/2006/main" noGrp="1"/>
          </p:cNvSpPr>
          <p:nvPr/>
        </p:nvSpPr>
        <p:spPr>
          <a:xfrm xmlns:a="http://schemas.openxmlformats.org/drawingml/2006/main">
            <a:off x="6286500" y="5695950"/>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F6F8C"/>
                </a:solidFill>
                <a:latin typeface="Arial"/>
                <a:ea typeface="Arial"/>
                <a:cs typeface="Arial"/>
              </a:defRPr>
            </a:pPr>
            <a:r>
              <a:rPr sz="1350" b="0">
                <a:solidFill>
                  <a:srgbClr val="5F6F8C"/>
                </a:solidFill>
                <a:latin typeface="Arial"/>
                <a:ea typeface="Arial"/>
                <a:cs typeface="Arial"/>
              </a:rPr>
              <a:t>Runtime metrics, request traces, deployment identity, threshold incidents, and optional OTLP export</a:t>
            </a:r>
          </a:p>
        </p:txBody>
      </p:sp>
      <p:sp>
        <p:nvSpPr>
          <p:cNvPr id="9" name="">
            <a:extLst xmlns:a="http://schemas.openxmlformats.org/drawingml/2006/main">
              <a:ext uri="{FF2B5EF4-FFF2-40B4-BE49-F238E27FC236}">
                <a16:creationId xmlns:a16="http://schemas.microsoft.com/office/drawing/2014/main" id="{3B9F48F3-A635-4F6E-ABE4-85E726307668}"/>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0" name="">
            <a:extLst xmlns:a="http://schemas.openxmlformats.org/drawingml/2006/main">
              <a:ext uri="{FF2B5EF4-FFF2-40B4-BE49-F238E27FC236}">
                <a16:creationId xmlns:a16="http://schemas.microsoft.com/office/drawing/2014/main" id="{4BC32D58-3ABA-4ECA-AC25-4B163863DEE4}"/>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05</a:t>
            </a:r>
          </a:p>
        </p:txBody>
      </p:sp>
    </p:spTree>
    <p:extLst>
      <p:ext uri="{BB962C8B-B14F-4D97-AF65-F5344CB8AC3E}">
        <p14:creationId xmlns:p14="http://schemas.microsoft.com/office/powerpoint/2010/main" val="1002447989"/>
      </p:ext>
    </p:extLst>
  </p:cSld>
</p:sld>
</file>

<file path=ppt/slides/slide6.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02EC1F6-3313-40D2-B0B6-DABC3FEC90B2}"/>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PLAN AND INSPECT</a:t>
            </a:r>
          </a:p>
        </p:txBody>
      </p:sp>
      <p:sp>
        <p:nvSpPr>
          <p:cNvPr id="2" name="">
            <a:extLst xmlns:a="http://schemas.openxmlformats.org/drawingml/2006/main">
              <a:ext uri="{FF2B5EF4-FFF2-40B4-BE49-F238E27FC236}">
                <a16:creationId xmlns:a16="http://schemas.microsoft.com/office/drawing/2014/main" id="{10A86D1E-F3B2-4336-9C75-1148C0BDFDC4}"/>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Network planning and local inspectors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0101b6bae7c47f8"/>
          <a:srcRect xmlns:a="http://schemas.openxmlformats.org/drawingml/2006/main" l="6117" t="0" r="6117" b="0"/>
          <a:stretch xmlns:a="http://schemas.openxmlformats.org/drawingml/2006/main">
            <a:fillRect l="0" t="0" r="0" b="0"/>
          </a:stretch>
        </p:blipFill>
        <p:spPr>
          <a:xfrm xmlns:a="http://schemas.openxmlformats.org/drawingml/2006/main">
            <a:off x="685800" y="1447800"/>
            <a:ext cx="6286500" cy="4476750"/>
          </a:xfrm>
          <a:prstGeom xmlns:a="http://schemas.openxmlformats.org/drawingml/2006/main" prst="roundRect">
            <a:avLst>
              <a:gd name="adj" fmla="val 3404"/>
            </a:avLst>
          </a:prstGeom>
        </p:spPr>
      </p:pic>
      <p:sp>
        <p:nvSpPr>
          <p:cNvPr id="4" name="">
            <a:extLst xmlns:a="http://schemas.openxmlformats.org/drawingml/2006/main">
              <a:ext uri="{FF2B5EF4-FFF2-40B4-BE49-F238E27FC236}">
                <a16:creationId xmlns:a16="http://schemas.microsoft.com/office/drawing/2014/main" id="{20BF840C-CC94-4C5D-9965-2480F45238C3}"/>
              </a:ext>
            </a:extLst>
          </p:cNvPr>
          <p:cNvSpPr>
            <a:spLocks xmlns:a="http://schemas.openxmlformats.org/drawingml/2006/main" noGrp="1"/>
          </p:cNvSpPr>
          <p:nvPr/>
        </p:nvSpPr>
        <p:spPr>
          <a:xfrm xmlns:a="http://schemas.openxmlformats.org/drawingml/2006/main">
            <a:off x="7448550" y="15621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Network calculations</a:t>
            </a:r>
          </a:p>
        </p:txBody>
      </p:sp>
      <p:sp>
        <p:nvSpPr>
          <p:cNvPr id="5" name="">
            <a:extLst xmlns:a="http://schemas.openxmlformats.org/drawingml/2006/main">
              <a:ext uri="{FF2B5EF4-FFF2-40B4-BE49-F238E27FC236}">
                <a16:creationId xmlns:a16="http://schemas.microsoft.com/office/drawing/2014/main" id="{F5785E9A-1A2D-4115-9EEC-4E3EB94A9EEF}"/>
              </a:ext>
            </a:extLst>
          </p:cNvPr>
          <p:cNvSpPr>
            <a:spLocks xmlns:a="http://schemas.openxmlformats.org/drawingml/2006/main" noGrp="1"/>
          </p:cNvSpPr>
          <p:nvPr/>
        </p:nvSpPr>
        <p:spPr>
          <a:xfrm xmlns:a="http://schemas.openxmlformats.org/drawingml/2006/main">
            <a:off x="7448550" y="203835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IPv4 and IPv6 subnet details</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VLSM allocation and route summaries</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Bandwidth, transfer time, MTU, and MSS</a:t>
            </a:r>
          </a:p>
        </p:txBody>
      </p:sp>
      <p:sp>
        <p:nvSpPr>
          <p:cNvPr id="6" name="">
            <a:extLst xmlns:a="http://schemas.openxmlformats.org/drawingml/2006/main">
              <a:ext uri="{FF2B5EF4-FFF2-40B4-BE49-F238E27FC236}">
                <a16:creationId xmlns:a16="http://schemas.microsoft.com/office/drawing/2014/main" id="{4703EBD7-A64C-497F-B9EF-21D3530B7CDA}"/>
              </a:ext>
            </a:extLst>
          </p:cNvPr>
          <p:cNvSpPr>
            <a:spLocks xmlns:a="http://schemas.openxmlformats.org/drawingml/2006/main" noGrp="1"/>
          </p:cNvSpPr>
          <p:nvPr/>
        </p:nvSpPr>
        <p:spPr>
          <a:xfrm xmlns:a="http://schemas.openxmlformats.org/drawingml/2006/main">
            <a:off x="7448550" y="39243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Local data inspection</a:t>
            </a:r>
          </a:p>
        </p:txBody>
      </p:sp>
      <p:sp>
        <p:nvSpPr>
          <p:cNvPr id="7" name="">
            <a:extLst xmlns:a="http://schemas.openxmlformats.org/drawingml/2006/main">
              <a:ext uri="{FF2B5EF4-FFF2-40B4-BE49-F238E27FC236}">
                <a16:creationId xmlns:a16="http://schemas.microsoft.com/office/drawing/2014/main" id="{9AEB6DF4-1E8C-4269-AC9F-94A2DFADBEC5}"/>
              </a:ext>
            </a:extLst>
          </p:cNvPr>
          <p:cNvSpPr>
            <a:spLocks xmlns:a="http://schemas.openxmlformats.org/drawingml/2006/main" noGrp="1"/>
          </p:cNvSpPr>
          <p:nvPr/>
        </p:nvSpPr>
        <p:spPr>
          <a:xfrm xmlns:a="http://schemas.openxmlformats.org/drawingml/2006/main">
            <a:off x="7448550" y="440055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JSON tree and JWT payload decoding</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SHA-256 integrity checks</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AES-256-GCM file encryption and decryption</a:t>
            </a:r>
          </a:p>
        </p:txBody>
      </p:sp>
      <p:sp>
        <p:nvSpPr>
          <p:cNvPr id="8" name="">
            <a:extLst xmlns:a="http://schemas.openxmlformats.org/drawingml/2006/main">
              <a:ext uri="{FF2B5EF4-FFF2-40B4-BE49-F238E27FC236}">
                <a16:creationId xmlns:a16="http://schemas.microsoft.com/office/drawing/2014/main" id="{11E48BB1-E626-4D76-A353-DFAA3C5E4CFF}"/>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9" name="">
            <a:extLst xmlns:a="http://schemas.openxmlformats.org/drawingml/2006/main">
              <a:ext uri="{FF2B5EF4-FFF2-40B4-BE49-F238E27FC236}">
                <a16:creationId xmlns:a16="http://schemas.microsoft.com/office/drawing/2014/main" id="{18FF779C-1A0F-4CD1-A4B2-396C6FC4D53B}"/>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06</a:t>
            </a:r>
          </a:p>
        </p:txBody>
      </p:sp>
    </p:spTree>
    <p:extLst>
      <p:ext uri="{BB962C8B-B14F-4D97-AF65-F5344CB8AC3E}">
        <p14:creationId xmlns:p14="http://schemas.microsoft.com/office/powerpoint/2010/main" val="17684099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A792D5-6E7A-439A-80D2-745C300DB2D2}"/>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TEST</a:t>
            </a:r>
          </a:p>
        </p:txBody>
      </p:sp>
      <p:sp>
        <p:nvSpPr>
          <p:cNvPr id="2" name="">
            <a:extLst xmlns:a="http://schemas.openxmlformats.org/drawingml/2006/main">
              <a:ext uri="{FF2B5EF4-FFF2-40B4-BE49-F238E27FC236}">
                <a16:creationId xmlns:a16="http://schemas.microsoft.com/office/drawing/2014/main" id="{5678F30C-9079-405B-A00F-3F816E1BCD81}"/>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Website and API assurance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9a1d159d97f4e4a"/>
          <a:srcRect xmlns:a="http://schemas.openxmlformats.org/drawingml/2006/main" l="0" t="8750" r="0" b="8750"/>
          <a:stretch xmlns:a="http://schemas.openxmlformats.org/drawingml/2006/main">
            <a:fillRect l="0" t="0" r="0" b="0"/>
          </a:stretch>
        </p:blipFill>
        <p:spPr>
          <a:xfrm xmlns:a="http://schemas.openxmlformats.org/drawingml/2006/main">
            <a:off x="685800" y="1428750"/>
            <a:ext cx="6096000" cy="3143250"/>
          </a:xfrm>
          <a:prstGeom xmlns:a="http://schemas.openxmlformats.org/drawingml/2006/main" prst="roundRect">
            <a:avLst>
              <a:gd name="adj" fmla="val 4848"/>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2c0a1cf481743c0"/>
          <a:srcRect xmlns:a="http://schemas.openxmlformats.org/drawingml/2006/main" l="6818" t="0" r="6818" b="0"/>
          <a:stretch xmlns:a="http://schemas.openxmlformats.org/drawingml/2006/main">
            <a:fillRect l="0" t="0" r="0" b="0"/>
          </a:stretch>
        </p:blipFill>
        <p:spPr>
          <a:xfrm xmlns:a="http://schemas.openxmlformats.org/drawingml/2006/main">
            <a:off x="7162800" y="1428750"/>
            <a:ext cx="4343400" cy="3143250"/>
          </a:xfrm>
          <a:prstGeom xmlns:a="http://schemas.openxmlformats.org/drawingml/2006/main" prst="roundRect">
            <a:avLst>
              <a:gd name="adj" fmla="val 4848"/>
            </a:avLst>
          </a:prstGeom>
        </p:spPr>
      </p:pic>
      <p:sp>
        <p:nvSpPr>
          <p:cNvPr id="5" name="">
            <a:extLst xmlns:a="http://schemas.openxmlformats.org/drawingml/2006/main">
              <a:ext uri="{FF2B5EF4-FFF2-40B4-BE49-F238E27FC236}">
                <a16:creationId xmlns:a16="http://schemas.microsoft.com/office/drawing/2014/main" id="{294F9538-146E-415E-9B13-1A73C4EBED84}"/>
              </a:ext>
            </a:extLst>
          </p:cNvPr>
          <p:cNvSpPr>
            <a:spLocks xmlns:a="http://schemas.openxmlformats.org/drawingml/2006/main" noGrp="1"/>
          </p:cNvSpPr>
          <p:nvPr/>
        </p:nvSpPr>
        <p:spPr>
          <a:xfrm xmlns:a="http://schemas.openxmlformats.org/drawingml/2006/main">
            <a:off x="685800" y="48768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3976ED"/>
                </a:solidFill>
                <a:latin typeface="Arial"/>
                <a:ea typeface="Arial"/>
                <a:cs typeface="Arial"/>
              </a:defRPr>
            </a:pPr>
            <a:r>
              <a:rPr sz="1725" b="1">
                <a:solidFill>
                  <a:srgbClr val="3976ED"/>
                </a:solidFill>
                <a:latin typeface="Arial"/>
                <a:ea typeface="Arial"/>
                <a:cs typeface="Arial"/>
              </a:rPr>
              <a:t>Website Audit</a:t>
            </a:r>
          </a:p>
        </p:txBody>
      </p:sp>
      <p:sp>
        <p:nvSpPr>
          <p:cNvPr id="6" name="">
            <a:extLst xmlns:a="http://schemas.openxmlformats.org/drawingml/2006/main">
              <a:ext uri="{FF2B5EF4-FFF2-40B4-BE49-F238E27FC236}">
                <a16:creationId xmlns:a16="http://schemas.microsoft.com/office/drawing/2014/main" id="{6115F901-30C3-46C4-8359-6446DEE84167}"/>
              </a:ext>
            </a:extLst>
          </p:cNvPr>
          <p:cNvSpPr>
            <a:spLocks xmlns:a="http://schemas.openxmlformats.org/drawingml/2006/main" noGrp="1"/>
          </p:cNvSpPr>
          <p:nvPr/>
        </p:nvSpPr>
        <p:spPr>
          <a:xfrm xmlns:a="http://schemas.openxmlformats.org/drawingml/2006/main">
            <a:off x="685800" y="5238750"/>
            <a:ext cx="571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Crawl checks, headers, JSON validation, Lighthouse, accessibility, screenshots, visual baselines, and scheduled uptime</a:t>
            </a:r>
          </a:p>
        </p:txBody>
      </p:sp>
      <p:sp>
        <p:nvSpPr>
          <p:cNvPr id="7" name="">
            <a:extLst xmlns:a="http://schemas.openxmlformats.org/drawingml/2006/main">
              <a:ext uri="{FF2B5EF4-FFF2-40B4-BE49-F238E27FC236}">
                <a16:creationId xmlns:a16="http://schemas.microsoft.com/office/drawing/2014/main" id="{C7B1848C-425C-4C08-B72D-0246B208C3D1}"/>
              </a:ext>
            </a:extLst>
          </p:cNvPr>
          <p:cNvSpPr>
            <a:spLocks xmlns:a="http://schemas.openxmlformats.org/drawingml/2006/main" noGrp="1"/>
          </p:cNvSpPr>
          <p:nvPr/>
        </p:nvSpPr>
        <p:spPr>
          <a:xfrm xmlns:a="http://schemas.openxmlformats.org/drawingml/2006/main">
            <a:off x="7162800" y="48768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7965A"/>
                </a:solidFill>
                <a:latin typeface="Arial"/>
                <a:ea typeface="Arial"/>
                <a:cs typeface="Arial"/>
              </a:defRPr>
            </a:pPr>
            <a:r>
              <a:rPr sz="1725" b="1">
                <a:solidFill>
                  <a:srgbClr val="17965A"/>
                </a:solidFill>
                <a:latin typeface="Arial"/>
                <a:ea typeface="Arial"/>
                <a:cs typeface="Arial"/>
              </a:rPr>
              <a:t>API and DNS</a:t>
            </a:r>
          </a:p>
        </p:txBody>
      </p:sp>
      <p:sp>
        <p:nvSpPr>
          <p:cNvPr id="8" name="">
            <a:extLst xmlns:a="http://schemas.openxmlformats.org/drawingml/2006/main">
              <a:ext uri="{FF2B5EF4-FFF2-40B4-BE49-F238E27FC236}">
                <a16:creationId xmlns:a16="http://schemas.microsoft.com/office/drawing/2014/main" id="{2E7A5FC9-79DC-4A2D-8492-5A8E65527988}"/>
              </a:ext>
            </a:extLst>
          </p:cNvPr>
          <p:cNvSpPr>
            <a:spLocks xmlns:a="http://schemas.openxmlformats.org/drawingml/2006/main" noGrp="1"/>
          </p:cNvSpPr>
          <p:nvPr/>
        </p:nvSpPr>
        <p:spPr>
          <a:xfrm xmlns:a="http://schemas.openxmlformats.org/drawingml/2006/main">
            <a:off x="7162800" y="5238750"/>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Temporary request collections, assertions, response previews, and public DNS email-policy inspection</a:t>
            </a:r>
          </a:p>
        </p:txBody>
      </p:sp>
      <p:sp>
        <p:nvSpPr>
          <p:cNvPr id="9" name="">
            <a:extLst xmlns:a="http://schemas.openxmlformats.org/drawingml/2006/main">
              <a:ext uri="{FF2B5EF4-FFF2-40B4-BE49-F238E27FC236}">
                <a16:creationId xmlns:a16="http://schemas.microsoft.com/office/drawing/2014/main" id="{99D6C4A4-D8D8-468F-A953-817FD36E38D0}"/>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0" name="">
            <a:extLst xmlns:a="http://schemas.openxmlformats.org/drawingml/2006/main">
              <a:ext uri="{FF2B5EF4-FFF2-40B4-BE49-F238E27FC236}">
                <a16:creationId xmlns:a16="http://schemas.microsoft.com/office/drawing/2014/main" id="{B619864C-3229-43CE-A12D-7D050D7645B5}"/>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07</a:t>
            </a:r>
          </a:p>
        </p:txBody>
      </p:sp>
    </p:spTree>
    <p:extLst>
      <p:ext uri="{BB962C8B-B14F-4D97-AF65-F5344CB8AC3E}">
        <p14:creationId xmlns:p14="http://schemas.microsoft.com/office/powerpoint/2010/main" val="1299212095"/>
      </p:ext>
    </p:extLst>
  </p:cSld>
</p:sld>
</file>

<file path=ppt/slides/slide8.xml><?xml version="1.0" encoding="utf-8"?>
<p:sld xmlns:p="http://schemas.openxmlformats.org/presentationml/2006/main">
  <p:cSld>
    <p:bg>
      <p:bgPr>
        <a:solidFill xmlns:a="http://schemas.openxmlformats.org/drawingml/2006/main">
          <a:srgbClr val="F4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618042-3B35-4E35-AE75-67C96D2EBCAE}"/>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DEVELOPER WELLNESS</a:t>
            </a:r>
          </a:p>
        </p:txBody>
      </p:sp>
      <p:sp>
        <p:nvSpPr>
          <p:cNvPr id="2" name="">
            <a:extLst xmlns:a="http://schemas.openxmlformats.org/drawingml/2006/main">
              <a:ext uri="{FF2B5EF4-FFF2-40B4-BE49-F238E27FC236}">
                <a16:creationId xmlns:a16="http://schemas.microsoft.com/office/drawing/2014/main" id="{491DBC58-6115-4A8C-89FB-59CF6A6EB5E5}"/>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Focus Lounge and Spotify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1ca64c885af4748"/>
          <a:srcRect xmlns:a="http://schemas.openxmlformats.org/drawingml/2006/main" l="4375" t="0" r="4375" b="0"/>
          <a:stretch xmlns:a="http://schemas.openxmlformats.org/drawingml/2006/main">
            <a:fillRect l="0" t="0" r="0" b="0"/>
          </a:stretch>
        </p:blipFill>
        <p:spPr>
          <a:xfrm xmlns:a="http://schemas.openxmlformats.org/drawingml/2006/main">
            <a:off x="685800" y="1409700"/>
            <a:ext cx="6953250" cy="4762500"/>
          </a:xfrm>
          <a:prstGeom xmlns:a="http://schemas.openxmlformats.org/drawingml/2006/main" prst="roundRect">
            <a:avLst>
              <a:gd name="adj" fmla="val 3200"/>
            </a:avLst>
          </a:prstGeom>
        </p:spPr>
      </p:pic>
      <p:sp>
        <p:nvSpPr>
          <p:cNvPr id="4" name="">
            <a:extLst xmlns:a="http://schemas.openxmlformats.org/drawingml/2006/main">
              <a:ext uri="{FF2B5EF4-FFF2-40B4-BE49-F238E27FC236}">
                <a16:creationId xmlns:a16="http://schemas.microsoft.com/office/drawing/2014/main" id="{47E02F34-AA81-402F-82BD-78700FA76247}"/>
              </a:ext>
            </a:extLst>
          </p:cNvPr>
          <p:cNvSpPr>
            <a:spLocks xmlns:a="http://schemas.openxmlformats.org/drawingml/2006/main" noGrp="1"/>
          </p:cNvSpPr>
          <p:nvPr/>
        </p:nvSpPr>
        <p:spPr>
          <a:xfrm xmlns:a="http://schemas.openxmlformats.org/drawingml/2006/main">
            <a:off x="8096250" y="1619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24B32"/>
                </a:solidFill>
                <a:latin typeface="Arial"/>
                <a:ea typeface="Arial"/>
                <a:cs typeface="Arial"/>
              </a:defRPr>
            </a:pPr>
            <a:r>
              <a:rPr sz="2250" b="1">
                <a:solidFill>
                  <a:srgbClr val="124B32"/>
                </a:solidFill>
                <a:latin typeface="Arial"/>
                <a:ea typeface="Arial"/>
                <a:cs typeface="Arial"/>
              </a:rPr>
              <a:t>A quieter workspace</a:t>
            </a:r>
          </a:p>
        </p:txBody>
      </p:sp>
      <p:sp>
        <p:nvSpPr>
          <p:cNvPr id="5" name="">
            <a:extLst xmlns:a="http://schemas.openxmlformats.org/drawingml/2006/main">
              <a:ext uri="{FF2B5EF4-FFF2-40B4-BE49-F238E27FC236}">
                <a16:creationId xmlns:a16="http://schemas.microsoft.com/office/drawing/2014/main" id="{AFD9BA2A-A191-48DE-8E34-0079FB3056DE}"/>
              </a:ext>
            </a:extLst>
          </p:cNvPr>
          <p:cNvSpPr>
            <a:spLocks xmlns:a="http://schemas.openxmlformats.org/drawingml/2006/main" noGrp="1"/>
          </p:cNvSpPr>
          <p:nvPr/>
        </p:nvSpPr>
        <p:spPr>
          <a:xfrm xmlns:a="http://schemas.openxmlformats.org/drawingml/2006/main">
            <a:off x="8096250" y="2266950"/>
            <a:ext cx="314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Focus and break timer</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Guided box breathing</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Generated ambient sound</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Private browser-local notes</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Spotify Connect and optional browser playback</a:t>
            </a:r>
          </a:p>
        </p:txBody>
      </p:sp>
      <p:sp>
        <p:nvSpPr>
          <p:cNvPr id="6" name="">
            <a:extLst xmlns:a="http://schemas.openxmlformats.org/drawingml/2006/main">
              <a:ext uri="{FF2B5EF4-FFF2-40B4-BE49-F238E27FC236}">
                <a16:creationId xmlns:a16="http://schemas.microsoft.com/office/drawing/2014/main" id="{0823481A-737F-4A73-A585-4B82B52B0841}"/>
              </a:ext>
            </a:extLst>
          </p:cNvPr>
          <p:cNvSpPr>
            <a:spLocks xmlns:a="http://schemas.openxmlformats.org/drawingml/2006/main" noGrp="1"/>
          </p:cNvSpPr>
          <p:nvPr/>
        </p:nvSpPr>
        <p:spPr>
          <a:xfrm xmlns:a="http://schemas.openxmlformats.org/drawingml/2006/main">
            <a:off x="8096250" y="521970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4D6B5B"/>
                </a:solidFill>
                <a:latin typeface="Arial"/>
                <a:ea typeface="Arial"/>
                <a:cs typeface="Arial"/>
              </a:defRPr>
            </a:pPr>
            <a:r>
              <a:rPr sz="1425" b="0">
                <a:solidFill>
                  <a:srgbClr val="4D6B5B"/>
                </a:solidFill>
                <a:latin typeface="Arial"/>
                <a:ea typeface="Arial"/>
                <a:cs typeface="Arial"/>
              </a:rPr>
              <a:t>Spotify credentials remain server-side. OAuth sessions use encrypted storage and opaque cookies.</a:t>
            </a:r>
          </a:p>
        </p:txBody>
      </p:sp>
      <p:sp>
        <p:nvSpPr>
          <p:cNvPr id="7" name="">
            <a:extLst xmlns:a="http://schemas.openxmlformats.org/drawingml/2006/main">
              <a:ext uri="{FF2B5EF4-FFF2-40B4-BE49-F238E27FC236}">
                <a16:creationId xmlns:a16="http://schemas.microsoft.com/office/drawing/2014/main" id="{71C44B26-B214-4EF9-9BB4-9D453AF87BE6}"/>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8" name="">
            <a:extLst xmlns:a="http://schemas.openxmlformats.org/drawingml/2006/main">
              <a:ext uri="{FF2B5EF4-FFF2-40B4-BE49-F238E27FC236}">
                <a16:creationId xmlns:a16="http://schemas.microsoft.com/office/drawing/2014/main" id="{101246BC-BE21-445B-9154-DE70107A06C3}"/>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08</a:t>
            </a:r>
          </a:p>
        </p:txBody>
      </p:sp>
    </p:spTree>
    <p:extLst>
      <p:ext uri="{BB962C8B-B14F-4D97-AF65-F5344CB8AC3E}">
        <p14:creationId xmlns:p14="http://schemas.microsoft.com/office/powerpoint/2010/main" val="2109381298"/>
      </p:ext>
    </p:extLst>
  </p:cSld>
</p:sld>
</file>

<file path=ppt/slides/slide9.xml><?xml version="1.0" encoding="utf-8"?>
<p:sld xmlns:p="http://schemas.openxmlformats.org/presentationml/2006/main">
  <p:cSld>
    <p:bg>
      <p:bgPr>
        <a:solidFill xmlns:a="http://schemas.openxmlformats.org/drawingml/2006/main">
          <a:srgbClr val="111C3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0689315-EEF6-49D5-BB0C-8EDF5FD92537}"/>
              </a:ext>
            </a:extLst>
          </p:cNvPr>
          <p:cNvSpPr>
            <a:spLocks xmlns:a="http://schemas.openxmlformats.org/drawingml/2006/main" noGrp="1"/>
          </p:cNvSpPr>
          <p:nvPr/>
        </p:nvSpPr>
        <p:spPr>
          <a:xfrm xmlns:a="http://schemas.openxmlformats.org/drawingml/2006/main">
            <a:off x="685800" y="4000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6D9BFF"/>
                </a:solidFill>
                <a:latin typeface="Arial"/>
                <a:ea typeface="Arial"/>
                <a:cs typeface="Arial"/>
              </a:defRPr>
            </a:pPr>
            <a:r>
              <a:rPr sz="1125" b="1">
                <a:solidFill>
                  <a:srgbClr val="6D9BFF"/>
                </a:solidFill>
                <a:latin typeface="Arial"/>
                <a:ea typeface="Arial"/>
                <a:cs typeface="Arial"/>
              </a:rPr>
              <a:t>SECURITY</a:t>
            </a:r>
          </a:p>
        </p:txBody>
      </p:sp>
      <p:sp>
        <p:nvSpPr>
          <p:cNvPr id="2" name="">
            <a:extLst xmlns:a="http://schemas.openxmlformats.org/drawingml/2006/main">
              <a:ext uri="{FF2B5EF4-FFF2-40B4-BE49-F238E27FC236}">
                <a16:creationId xmlns:a16="http://schemas.microsoft.com/office/drawing/2014/main" id="{993893F5-0AEF-4A07-B20A-6E9208425F40}"/>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Safety boundaries in Version 1</a:t>
            </a:r>
          </a:p>
        </p:txBody>
      </p:sp>
      <p:sp>
        <p:nvSpPr>
          <p:cNvPr id="3" name="">
            <a:extLst xmlns:a="http://schemas.openxmlformats.org/drawingml/2006/main">
              <a:ext uri="{FF2B5EF4-FFF2-40B4-BE49-F238E27FC236}">
                <a16:creationId xmlns:a16="http://schemas.microsoft.com/office/drawing/2014/main" id="{B49945B7-D41B-4E36-96F0-F34BDC98070B}"/>
              </a:ext>
            </a:extLst>
          </p:cNvPr>
          <p:cNvSpPr>
            <a:spLocks xmlns:a="http://schemas.openxmlformats.org/drawingml/2006/main" noGrp="1"/>
          </p:cNvSpPr>
          <p:nvPr/>
        </p:nvSpPr>
        <p:spPr>
          <a:xfrm xmlns:a="http://schemas.openxmlformats.org/drawingml/2006/main">
            <a:off x="685800" y="1676400"/>
            <a:ext cx="3333750" cy="3429000"/>
          </a:xfrm>
          <a:prstGeom xmlns:a="http://schemas.openxmlformats.org/drawingml/2006/main" prst="roundRect">
            <a:avLst>
              <a:gd name="adj" fmla="val 5714"/>
            </a:avLst>
          </a:prstGeom>
          <a:solidFill xmlns:a="http://schemas.openxmlformats.org/drawingml/2006/main">
            <a:srgbClr val="172846"/>
          </a:solidFill>
          <a:ln xmlns:a="http://schemas.openxmlformats.org/drawingml/2006/main" w="9525">
            <a:solidFill>
              <a:srgbClr val="2B4168"/>
            </a:solidFill>
          </a:ln>
        </p:spPr>
      </p:sp>
      <p:sp>
        <p:nvSpPr>
          <p:cNvPr id="4" name="">
            <a:extLst xmlns:a="http://schemas.openxmlformats.org/drawingml/2006/main">
              <a:ext uri="{FF2B5EF4-FFF2-40B4-BE49-F238E27FC236}">
                <a16:creationId xmlns:a16="http://schemas.microsoft.com/office/drawing/2014/main" id="{6D88D1EC-9957-4F73-BD22-753E1353CBBA}"/>
              </a:ext>
            </a:extLst>
          </p:cNvPr>
          <p:cNvSpPr>
            <a:spLocks xmlns:a="http://schemas.openxmlformats.org/drawingml/2006/main" noGrp="1"/>
          </p:cNvSpPr>
          <p:nvPr/>
        </p:nvSpPr>
        <p:spPr>
          <a:xfrm xmlns:a="http://schemas.openxmlformats.org/drawingml/2006/main">
            <a:off x="990600" y="198120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Network controls</a:t>
            </a:r>
          </a:p>
        </p:txBody>
      </p:sp>
      <p:sp>
        <p:nvSpPr>
          <p:cNvPr id="5" name="">
            <a:extLst xmlns:a="http://schemas.openxmlformats.org/drawingml/2006/main">
              <a:ext uri="{FF2B5EF4-FFF2-40B4-BE49-F238E27FC236}">
                <a16:creationId xmlns:a16="http://schemas.microsoft.com/office/drawing/2014/main" id="{2BD7B303-8B18-4398-8494-CA668E7103FA}"/>
              </a:ext>
            </a:extLst>
          </p:cNvPr>
          <p:cNvSpPr>
            <a:spLocks xmlns:a="http://schemas.openxmlformats.org/drawingml/2006/main" noGrp="1"/>
          </p:cNvSpPr>
          <p:nvPr/>
        </p:nvSpPr>
        <p:spPr>
          <a:xfrm xmlns:a="http://schemas.openxmlformats.org/drawingml/2006/main">
            <a:off x="990600" y="25717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93612"/>
          </a:bodyPr>
          <a:lstStyle xmlns:a="http://schemas.openxmlformats.org/drawingml/2006/main"/>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Private and reserved targets blocked by default</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Redirects disabled for diagnostic clients</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Owner allowlists permit intentional private checks</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Strict request, response, timeout, and concurrency caps</a:t>
            </a:r>
          </a:p>
        </p:txBody>
      </p:sp>
      <p:sp>
        <p:nvSpPr>
          <p:cNvPr id="6" name="">
            <a:extLst xmlns:a="http://schemas.openxmlformats.org/drawingml/2006/main">
              <a:ext uri="{FF2B5EF4-FFF2-40B4-BE49-F238E27FC236}">
                <a16:creationId xmlns:a16="http://schemas.microsoft.com/office/drawing/2014/main" id="{A68BA58D-A5E6-4A38-9EB6-1B44E81EA47B}"/>
              </a:ext>
            </a:extLst>
          </p:cNvPr>
          <p:cNvSpPr>
            <a:spLocks xmlns:a="http://schemas.openxmlformats.org/drawingml/2006/main" noGrp="1"/>
          </p:cNvSpPr>
          <p:nvPr/>
        </p:nvSpPr>
        <p:spPr>
          <a:xfrm xmlns:a="http://schemas.openxmlformats.org/drawingml/2006/main">
            <a:off x="4438650" y="1676400"/>
            <a:ext cx="3333750" cy="3429000"/>
          </a:xfrm>
          <a:prstGeom xmlns:a="http://schemas.openxmlformats.org/drawingml/2006/main" prst="roundRect">
            <a:avLst>
              <a:gd name="adj" fmla="val 5714"/>
            </a:avLst>
          </a:prstGeom>
          <a:solidFill xmlns:a="http://schemas.openxmlformats.org/drawingml/2006/main">
            <a:srgbClr val="172846"/>
          </a:solidFill>
          <a:ln xmlns:a="http://schemas.openxmlformats.org/drawingml/2006/main" w="9525">
            <a:solidFill>
              <a:srgbClr val="2B4168"/>
            </a:solidFill>
          </a:ln>
        </p:spPr>
      </p:sp>
      <p:sp>
        <p:nvSpPr>
          <p:cNvPr id="7" name="">
            <a:extLst xmlns:a="http://schemas.openxmlformats.org/drawingml/2006/main">
              <a:ext uri="{FF2B5EF4-FFF2-40B4-BE49-F238E27FC236}">
                <a16:creationId xmlns:a16="http://schemas.microsoft.com/office/drawing/2014/main" id="{E9338F69-B10C-4DE4-A2A6-371CF43F531D}"/>
              </a:ext>
            </a:extLst>
          </p:cNvPr>
          <p:cNvSpPr>
            <a:spLocks xmlns:a="http://schemas.openxmlformats.org/drawingml/2006/main" noGrp="1"/>
          </p:cNvSpPr>
          <p:nvPr/>
        </p:nvSpPr>
        <p:spPr>
          <a:xfrm xmlns:a="http://schemas.openxmlformats.org/drawingml/2006/main">
            <a:off x="4743450" y="198120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Secrets and sessions</a:t>
            </a:r>
          </a:p>
        </p:txBody>
      </p:sp>
      <p:sp>
        <p:nvSpPr>
          <p:cNvPr id="8" name="">
            <a:extLst xmlns:a="http://schemas.openxmlformats.org/drawingml/2006/main">
              <a:ext uri="{FF2B5EF4-FFF2-40B4-BE49-F238E27FC236}">
                <a16:creationId xmlns:a16="http://schemas.microsoft.com/office/drawing/2014/main" id="{CCC11278-639B-4BA9-BEA6-351D7F32E436}"/>
              </a:ext>
            </a:extLst>
          </p:cNvPr>
          <p:cNvSpPr>
            <a:spLocks xmlns:a="http://schemas.openxmlformats.org/drawingml/2006/main" noGrp="1"/>
          </p:cNvSpPr>
          <p:nvPr/>
        </p:nvSpPr>
        <p:spPr>
          <a:xfrm xmlns:a="http://schemas.openxmlformats.org/drawingml/2006/main">
            <a:off x="4743450" y="25717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93750"/>
          </a:bodyPr>
          <a:lstStyle xmlns:a="http://schemas.openxmlformats.org/drawingml/2006/main"/>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Environment variables or external secret files</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Encrypted Spotify token storage</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No credentials committed to appsettings.json</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Authorization values stay transient in the API Runner</a:t>
            </a:r>
          </a:p>
        </p:txBody>
      </p:sp>
      <p:sp>
        <p:nvSpPr>
          <p:cNvPr id="9" name="">
            <a:extLst xmlns:a="http://schemas.openxmlformats.org/drawingml/2006/main">
              <a:ext uri="{FF2B5EF4-FFF2-40B4-BE49-F238E27FC236}">
                <a16:creationId xmlns:a16="http://schemas.microsoft.com/office/drawing/2014/main" id="{AB8737CA-89A4-442A-A2CF-E5298C91869E}"/>
              </a:ext>
            </a:extLst>
          </p:cNvPr>
          <p:cNvSpPr>
            <a:spLocks xmlns:a="http://schemas.openxmlformats.org/drawingml/2006/main" noGrp="1"/>
          </p:cNvSpPr>
          <p:nvPr/>
        </p:nvSpPr>
        <p:spPr>
          <a:xfrm xmlns:a="http://schemas.openxmlformats.org/drawingml/2006/main">
            <a:off x="8191500" y="1676400"/>
            <a:ext cx="3314700" cy="3429000"/>
          </a:xfrm>
          <a:prstGeom xmlns:a="http://schemas.openxmlformats.org/drawingml/2006/main" prst="roundRect">
            <a:avLst>
              <a:gd name="adj" fmla="val 5747"/>
            </a:avLst>
          </a:prstGeom>
          <a:solidFill xmlns:a="http://schemas.openxmlformats.org/drawingml/2006/main">
            <a:srgbClr val="172846"/>
          </a:solidFill>
          <a:ln xmlns:a="http://schemas.openxmlformats.org/drawingml/2006/main" w="9525">
            <a:solidFill>
              <a:srgbClr val="2B4168"/>
            </a:solidFill>
          </a:ln>
        </p:spPr>
      </p:sp>
      <p:sp>
        <p:nvSpPr>
          <p:cNvPr id="10" name="">
            <a:extLst xmlns:a="http://schemas.openxmlformats.org/drawingml/2006/main">
              <a:ext uri="{FF2B5EF4-FFF2-40B4-BE49-F238E27FC236}">
                <a16:creationId xmlns:a16="http://schemas.microsoft.com/office/drawing/2014/main" id="{5464D014-497C-49AF-97EB-F7AF185960C5}"/>
              </a:ext>
            </a:extLst>
          </p:cNvPr>
          <p:cNvSpPr>
            <a:spLocks xmlns:a="http://schemas.openxmlformats.org/drawingml/2006/main" noGrp="1"/>
          </p:cNvSpPr>
          <p:nvPr/>
        </p:nvSpPr>
        <p:spPr>
          <a:xfrm xmlns:a="http://schemas.openxmlformats.org/drawingml/2006/main">
            <a:off x="8496300" y="1981200"/>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202"/>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Administrative actions</a:t>
            </a:r>
          </a:p>
        </p:txBody>
      </p:sp>
      <p:sp>
        <p:nvSpPr>
          <p:cNvPr id="11" name="">
            <a:extLst xmlns:a="http://schemas.openxmlformats.org/drawingml/2006/main">
              <a:ext uri="{FF2B5EF4-FFF2-40B4-BE49-F238E27FC236}">
                <a16:creationId xmlns:a16="http://schemas.microsoft.com/office/drawing/2014/main" id="{E7AB0CCE-4CC1-4C4B-A5FF-AE4AE4457841}"/>
              </a:ext>
            </a:extLst>
          </p:cNvPr>
          <p:cNvSpPr>
            <a:spLocks xmlns:a="http://schemas.openxmlformats.org/drawingml/2006/main" noGrp="1"/>
          </p:cNvSpPr>
          <p:nvPr/>
        </p:nvSpPr>
        <p:spPr>
          <a:xfrm xmlns:a="http://schemas.openxmlformats.org/drawingml/2006/main">
            <a:off x="8496300" y="25717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93750"/>
          </a:bodyPr>
          <a:lstStyle xmlns:a="http://schemas.openxmlformats.org/drawingml/2006/main"/>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Separate administrator authentication</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Rate limits and antiforgery protection</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Process termination disabled unless explicitly enabled</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Production diagnostics can be hidden completely</a:t>
            </a:r>
          </a:p>
        </p:txBody>
      </p:sp>
      <p:sp>
        <p:nvSpPr>
          <p:cNvPr id="12" name="">
            <a:extLst xmlns:a="http://schemas.openxmlformats.org/drawingml/2006/main">
              <a:ext uri="{FF2B5EF4-FFF2-40B4-BE49-F238E27FC236}">
                <a16:creationId xmlns:a16="http://schemas.microsoft.com/office/drawing/2014/main" id="{97ACADD0-04E8-4956-8B51-ABF144CA7549}"/>
              </a:ext>
            </a:extLst>
          </p:cNvPr>
          <p:cNvSpPr>
            <a:spLocks xmlns:a="http://schemas.openxmlformats.org/drawingml/2006/main" noGrp="1"/>
          </p:cNvSpPr>
          <p:nvPr/>
        </p:nvSpPr>
        <p:spPr>
          <a:xfrm xmlns:a="http://schemas.openxmlformats.org/drawingml/2006/main">
            <a:off x="685800" y="56007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FFCB76"/>
                </a:solidFill>
                <a:latin typeface="Arial"/>
                <a:ea typeface="Arial"/>
                <a:cs typeface="Arial"/>
              </a:defRPr>
            </a:pPr>
            <a:r>
              <a:rPr sz="1800" b="1">
                <a:solidFill>
                  <a:srgbClr val="FFCB76"/>
                </a:solidFill>
                <a:latin typeface="Arial"/>
                <a:ea typeface="Arial"/>
                <a:cs typeface="Arial"/>
              </a:rPr>
              <a:t>Public deployments should place diagnostic pages behind authenticated access.</a:t>
            </a:r>
          </a:p>
        </p:txBody>
      </p:sp>
      <p:sp>
        <p:nvSpPr>
          <p:cNvPr id="13" name="">
            <a:extLst xmlns:a="http://schemas.openxmlformats.org/drawingml/2006/main">
              <a:ext uri="{FF2B5EF4-FFF2-40B4-BE49-F238E27FC236}">
                <a16:creationId xmlns:a16="http://schemas.microsoft.com/office/drawing/2014/main" id="{10FA4379-7B54-4124-AB20-9A7A88FACDFA}"/>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4" name="">
            <a:extLst xmlns:a="http://schemas.openxmlformats.org/drawingml/2006/main">
              <a:ext uri="{FF2B5EF4-FFF2-40B4-BE49-F238E27FC236}">
                <a16:creationId xmlns:a16="http://schemas.microsoft.com/office/drawing/2014/main" id="{EAA0332B-1B05-408A-9644-2042436C4978}"/>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09</a:t>
            </a:r>
          </a:p>
        </p:txBody>
      </p:sp>
    </p:spTree>
    <p:extLst>
      <p:ext uri="{BB962C8B-B14F-4D97-AF65-F5344CB8AC3E}">
        <p14:creationId xmlns:p14="http://schemas.microsoft.com/office/powerpoint/2010/main" val="19856380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F356022-B26B-4706-A94B-DEC6FCC89C87}"/>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OPERATE</a:t>
            </a:r>
          </a:p>
        </p:txBody>
      </p:sp>
      <p:sp>
        <p:nvSpPr>
          <p:cNvPr id="2" name="">
            <a:extLst xmlns:a="http://schemas.openxmlformats.org/drawingml/2006/main">
              <a:ext uri="{FF2B5EF4-FFF2-40B4-BE49-F238E27FC236}">
                <a16:creationId xmlns:a16="http://schemas.microsoft.com/office/drawing/2014/main" id="{947F40A6-8A53-4A40-AB53-80DCBC9938BB}"/>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Deployment and configuration</a:t>
            </a:r>
          </a:p>
        </p:txBody>
      </p:sp>
      <p:sp>
        <p:nvSpPr>
          <p:cNvPr id="3" name="">
            <a:extLst xmlns:a="http://schemas.openxmlformats.org/drawingml/2006/main">
              <a:ext uri="{FF2B5EF4-FFF2-40B4-BE49-F238E27FC236}">
                <a16:creationId xmlns:a16="http://schemas.microsoft.com/office/drawing/2014/main" id="{09365227-353E-4B7C-97B0-E3AC4557F0D8}"/>
              </a:ext>
            </a:extLst>
          </p:cNvPr>
          <p:cNvSpPr>
            <a:spLocks xmlns:a="http://schemas.openxmlformats.org/drawingml/2006/main" noGrp="1"/>
          </p:cNvSpPr>
          <p:nvPr/>
        </p:nvSpPr>
        <p:spPr>
          <a:xfrm xmlns:a="http://schemas.openxmlformats.org/drawingml/2006/main">
            <a:off x="685800" y="1809750"/>
            <a:ext cx="2381250" cy="1257300"/>
          </a:xfrm>
          <a:prstGeom xmlns:a="http://schemas.openxmlformats.org/drawingml/2006/main" prst="roundRect">
            <a:avLst>
              <a:gd name="adj" fmla="val 13636"/>
            </a:avLst>
          </a:prstGeom>
          <a:solidFill xmlns:a="http://schemas.openxmlformats.org/drawingml/2006/main">
            <a:srgbClr val="EAF1FF"/>
          </a:solidFill>
          <a:ln xmlns:a="http://schemas.openxmlformats.org/drawingml/2006/main" w="9525">
            <a:solidFill>
              <a:srgbClr val="AFC6F5"/>
            </a:solidFill>
          </a:ln>
        </p:spPr>
      </p:sp>
      <p:sp>
        <p:nvSpPr>
          <p:cNvPr id="4" name="">
            <a:extLst xmlns:a="http://schemas.openxmlformats.org/drawingml/2006/main">
              <a:ext uri="{FF2B5EF4-FFF2-40B4-BE49-F238E27FC236}">
                <a16:creationId xmlns:a16="http://schemas.microsoft.com/office/drawing/2014/main" id="{7C2A2832-1007-4068-B662-B00C8920AC7B}"/>
              </a:ext>
            </a:extLst>
          </p:cNvPr>
          <p:cNvSpPr>
            <a:spLocks xmlns:a="http://schemas.openxmlformats.org/drawingml/2006/main" noGrp="1"/>
          </p:cNvSpPr>
          <p:nvPr/>
        </p:nvSpPr>
        <p:spPr>
          <a:xfrm xmlns:a="http://schemas.openxmlformats.org/drawingml/2006/main">
            <a:off x="914400" y="20478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994"/>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Local development</a:t>
            </a:r>
          </a:p>
        </p:txBody>
      </p:sp>
      <p:sp>
        <p:nvSpPr>
          <p:cNvPr id="5" name="">
            <a:extLst xmlns:a="http://schemas.openxmlformats.org/drawingml/2006/main">
              <a:ext uri="{FF2B5EF4-FFF2-40B4-BE49-F238E27FC236}">
                <a16:creationId xmlns:a16="http://schemas.microsoft.com/office/drawing/2014/main" id="{9EB7ADBC-C738-430B-AAE3-E331B2AE5AEC}"/>
              </a:ext>
            </a:extLst>
          </p:cNvPr>
          <p:cNvSpPr>
            <a:spLocks xmlns:a="http://schemas.openxmlformats.org/drawingml/2006/main" noGrp="1"/>
          </p:cNvSpPr>
          <p:nvPr/>
        </p:nvSpPr>
        <p:spPr>
          <a:xfrm xmlns:a="http://schemas.openxmlformats.org/drawingml/2006/main">
            <a:off x="914400" y="2495550"/>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.NET 9 SDK</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User Secrets</a:t>
            </a:r>
          </a:p>
        </p:txBody>
      </p:sp>
      <p:sp>
        <p:nvSpPr>
          <p:cNvPr id="6" name="">
            <a:extLst xmlns:a="http://schemas.openxmlformats.org/drawingml/2006/main">
              <a:ext uri="{FF2B5EF4-FFF2-40B4-BE49-F238E27FC236}">
                <a16:creationId xmlns:a16="http://schemas.microsoft.com/office/drawing/2014/main" id="{C1E2A30F-EBBD-4C6F-8D91-D12DAF413BA7}"/>
              </a:ext>
            </a:extLst>
          </p:cNvPr>
          <p:cNvSpPr>
            <a:spLocks xmlns:a="http://schemas.openxmlformats.org/drawingml/2006/main" noGrp="1"/>
          </p:cNvSpPr>
          <p:nvPr/>
        </p:nvSpPr>
        <p:spPr>
          <a:xfrm xmlns:a="http://schemas.openxmlformats.org/drawingml/2006/main">
            <a:off x="4905375" y="1809750"/>
            <a:ext cx="2381250" cy="1257300"/>
          </a:xfrm>
          <a:prstGeom xmlns:a="http://schemas.openxmlformats.org/drawingml/2006/main" prst="roundRect">
            <a:avLst>
              <a:gd name="adj" fmla="val 13636"/>
            </a:avLst>
          </a:prstGeom>
          <a:solidFill xmlns:a="http://schemas.openxmlformats.org/drawingml/2006/main">
            <a:srgbClr val="EEF0F6"/>
          </a:solidFill>
          <a:ln xmlns:a="http://schemas.openxmlformats.org/drawingml/2006/main" w="9525">
            <a:solidFill>
              <a:srgbClr val="C7CFDD"/>
            </a:solidFill>
          </a:ln>
        </p:spPr>
      </p:sp>
      <p:sp>
        <p:nvSpPr>
          <p:cNvPr id="7" name="">
            <a:extLst xmlns:a="http://schemas.openxmlformats.org/drawingml/2006/main">
              <a:ext uri="{FF2B5EF4-FFF2-40B4-BE49-F238E27FC236}">
                <a16:creationId xmlns:a16="http://schemas.microsoft.com/office/drawing/2014/main" id="{E14D5D5C-E979-4CF9-B478-CFA1B6A55676}"/>
              </a:ext>
            </a:extLst>
          </p:cNvPr>
          <p:cNvSpPr>
            <a:spLocks xmlns:a="http://schemas.openxmlformats.org/drawingml/2006/main" noGrp="1"/>
          </p:cNvSpPr>
          <p:nvPr/>
        </p:nvSpPr>
        <p:spPr>
          <a:xfrm xmlns:a="http://schemas.openxmlformats.org/drawingml/2006/main">
            <a:off x="5133975" y="20478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Docker image</a:t>
            </a:r>
          </a:p>
        </p:txBody>
      </p:sp>
      <p:sp>
        <p:nvSpPr>
          <p:cNvPr id="8" name="">
            <a:extLst xmlns:a="http://schemas.openxmlformats.org/drawingml/2006/main">
              <a:ext uri="{FF2B5EF4-FFF2-40B4-BE49-F238E27FC236}">
                <a16:creationId xmlns:a16="http://schemas.microsoft.com/office/drawing/2014/main" id="{B979932D-F00C-4069-9D93-6799916D9C00}"/>
              </a:ext>
            </a:extLst>
          </p:cNvPr>
          <p:cNvSpPr>
            <a:spLocks xmlns:a="http://schemas.openxmlformats.org/drawingml/2006/main" noGrp="1"/>
          </p:cNvSpPr>
          <p:nvPr/>
        </p:nvSpPr>
        <p:spPr>
          <a:xfrm xmlns:a="http://schemas.openxmlformats.org/drawingml/2006/main">
            <a:off x="5133975" y="2495550"/>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Published application</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Non-root container user</a:t>
            </a:r>
          </a:p>
        </p:txBody>
      </p:sp>
      <p:sp>
        <p:nvSpPr>
          <p:cNvPr id="9" name="">
            <a:extLst xmlns:a="http://schemas.openxmlformats.org/drawingml/2006/main">
              <a:ext uri="{FF2B5EF4-FFF2-40B4-BE49-F238E27FC236}">
                <a16:creationId xmlns:a16="http://schemas.microsoft.com/office/drawing/2014/main" id="{90267DCC-2114-4EDC-B42E-E7AEC553F564}"/>
              </a:ext>
            </a:extLst>
          </p:cNvPr>
          <p:cNvSpPr>
            <a:spLocks xmlns:a="http://schemas.openxmlformats.org/drawingml/2006/main" noGrp="1"/>
          </p:cNvSpPr>
          <p:nvPr/>
        </p:nvSpPr>
        <p:spPr>
          <a:xfrm xmlns:a="http://schemas.openxmlformats.org/drawingml/2006/main">
            <a:off x="9124950" y="1809750"/>
            <a:ext cx="2381250" cy="1257300"/>
          </a:xfrm>
          <a:prstGeom xmlns:a="http://schemas.openxmlformats.org/drawingml/2006/main" prst="roundRect">
            <a:avLst>
              <a:gd name="adj" fmla="val 13636"/>
            </a:avLst>
          </a:prstGeom>
          <a:solidFill xmlns:a="http://schemas.openxmlformats.org/drawingml/2006/main">
            <a:srgbClr val="E8F6EE"/>
          </a:solidFill>
          <a:ln xmlns:a="http://schemas.openxmlformats.org/drawingml/2006/main" w="9525">
            <a:solidFill>
              <a:srgbClr val="B7DDC8"/>
            </a:solidFill>
          </a:ln>
        </p:spPr>
      </p:sp>
      <p:sp>
        <p:nvSpPr>
          <p:cNvPr id="10" name="">
            <a:extLst xmlns:a="http://schemas.openxmlformats.org/drawingml/2006/main">
              <a:ext uri="{FF2B5EF4-FFF2-40B4-BE49-F238E27FC236}">
                <a16:creationId xmlns:a16="http://schemas.microsoft.com/office/drawing/2014/main" id="{88303753-277E-42E7-97D1-780BAF34253E}"/>
              </a:ext>
            </a:extLst>
          </p:cNvPr>
          <p:cNvSpPr>
            <a:spLocks xmlns:a="http://schemas.openxmlformats.org/drawingml/2006/main" noGrp="1"/>
          </p:cNvSpPr>
          <p:nvPr/>
        </p:nvSpPr>
        <p:spPr>
          <a:xfrm xmlns:a="http://schemas.openxmlformats.org/drawingml/2006/main">
            <a:off x="9353550" y="20478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Render service</a:t>
            </a:r>
          </a:p>
        </p:txBody>
      </p:sp>
      <p:sp>
        <p:nvSpPr>
          <p:cNvPr id="11" name="">
            <a:extLst xmlns:a="http://schemas.openxmlformats.org/drawingml/2006/main">
              <a:ext uri="{FF2B5EF4-FFF2-40B4-BE49-F238E27FC236}">
                <a16:creationId xmlns:a16="http://schemas.microsoft.com/office/drawing/2014/main" id="{916C27D2-53E7-4697-A7D0-BA2C71E16FF8}"/>
              </a:ext>
            </a:extLst>
          </p:cNvPr>
          <p:cNvSpPr>
            <a:spLocks xmlns:a="http://schemas.openxmlformats.org/drawingml/2006/main" noGrp="1"/>
          </p:cNvSpPr>
          <p:nvPr/>
        </p:nvSpPr>
        <p:spPr>
          <a:xfrm xmlns:a="http://schemas.openxmlformats.org/drawingml/2006/main">
            <a:off x="9353550" y="2495550"/>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HTTPS proxy</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Persistent data volume</a:t>
            </a:r>
          </a:p>
        </p:txBody>
      </p:sp>
      <p:cxnSp>
        <p:nvCxnSpPr>
          <p:cNvPr id="31" name=""/>
          <p:cNvCxnSpPr>
            <a:stCxn xmlns:a="http://schemas.openxmlformats.org/drawingml/2006/main" id="3" idx="3"/>
            <a:endCxn xmlns:a="http://schemas.openxmlformats.org/drawingml/2006/main" id="6" idx="1"/>
          </p:cNvCxnSpPr>
          <p:nvPr/>
        </p:nvCxnSpPr>
        <p:spPr>
          <a:xfrm xmlns:a="http://schemas.openxmlformats.org/drawingml/2006/main">
            <a:off x="3067050" y="2438400"/>
            <a:ext cx="1838325" cy="0"/>
          </a:xfrm>
          <a:prstGeom xmlns:a="http://schemas.openxmlformats.org/drawingml/2006/main" prst="straightConnector1">
            <a:avLst/>
          </a:prstGeom>
          <a:ln xmlns:a="http://schemas.openxmlformats.org/drawingml/2006/main" w="28575">
            <a:solidFill>
              <a:srgbClr val="3976ED"/>
            </a:solidFill>
            <a:prstDash val="solid"/>
            <a:tailEnd type="triangle" w="sm" len="sm"/>
          </a:ln>
        </p:spPr>
      </p:cxnSp>
      <p:cxnSp>
        <p:nvCxnSpPr>
          <p:cNvPr id="32" name=""/>
          <p:cNvCxnSpPr>
            <a:stCxn xmlns:a="http://schemas.openxmlformats.org/drawingml/2006/main" id="6" idx="3"/>
            <a:endCxn xmlns:a="http://schemas.openxmlformats.org/drawingml/2006/main" id="9" idx="1"/>
          </p:cNvCxnSpPr>
          <p:nvPr/>
        </p:nvCxnSpPr>
        <p:spPr>
          <a:xfrm xmlns:a="http://schemas.openxmlformats.org/drawingml/2006/main">
            <a:off x="7286625" y="2438400"/>
            <a:ext cx="1838325" cy="0"/>
          </a:xfrm>
          <a:prstGeom xmlns:a="http://schemas.openxmlformats.org/drawingml/2006/main" prst="straightConnector1">
            <a:avLst/>
          </a:prstGeom>
          <a:ln xmlns:a="http://schemas.openxmlformats.org/drawingml/2006/main" w="28575">
            <a:solidFill>
              <a:srgbClr val="17965A"/>
            </a:solidFill>
            <a:prstDash val="solid"/>
            <a:tailEnd type="triangle" w="sm" len="sm"/>
          </a:ln>
        </p:spPr>
      </p:cxnSp>
      <p:sp>
        <p:nvSpPr>
          <p:cNvPr id="14" name="">
            <a:extLst xmlns:a="http://schemas.openxmlformats.org/drawingml/2006/main">
              <a:ext uri="{FF2B5EF4-FFF2-40B4-BE49-F238E27FC236}">
                <a16:creationId xmlns:a16="http://schemas.microsoft.com/office/drawing/2014/main" id="{838CF585-0CD7-4701-9D22-7D3F61442786}"/>
              </a:ext>
            </a:extLst>
          </p:cNvPr>
          <p:cNvSpPr>
            <a:spLocks xmlns:a="http://schemas.openxmlformats.org/drawingml/2006/main" noGrp="1"/>
          </p:cNvSpPr>
          <p:nvPr/>
        </p:nvSpPr>
        <p:spPr>
          <a:xfrm xmlns:a="http://schemas.openxmlformats.org/drawingml/2006/main">
            <a:off x="685800" y="38100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Configuration that must stay outside Git</a:t>
            </a:r>
          </a:p>
        </p:txBody>
      </p:sp>
      <p:sp>
        <p:nvSpPr>
          <p:cNvPr id="15" name="">
            <a:extLst xmlns:a="http://schemas.openxmlformats.org/drawingml/2006/main">
              <a:ext uri="{FF2B5EF4-FFF2-40B4-BE49-F238E27FC236}">
                <a16:creationId xmlns:a16="http://schemas.microsoft.com/office/drawing/2014/main" id="{6550D259-D1F4-4E6E-9993-DB3F1E9BF149}"/>
              </a:ext>
            </a:extLst>
          </p:cNvPr>
          <p:cNvSpPr>
            <a:spLocks xmlns:a="http://schemas.openxmlformats.org/drawingml/2006/main" noGrp="1"/>
          </p:cNvSpPr>
          <p:nvPr/>
        </p:nvSpPr>
        <p:spPr>
          <a:xfrm xmlns:a="http://schemas.openxmlformats.org/drawingml/2006/main">
            <a:off x="685800" y="4324350"/>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Spotify client ID and secret</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Administrator password</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SMTP credentials and webhook destinations</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External secrets file and persistent encryption keys</a:t>
            </a:r>
          </a:p>
        </p:txBody>
      </p:sp>
      <p:sp>
        <p:nvSpPr>
          <p:cNvPr id="16" name="">
            <a:extLst xmlns:a="http://schemas.openxmlformats.org/drawingml/2006/main">
              <a:ext uri="{FF2B5EF4-FFF2-40B4-BE49-F238E27FC236}">
                <a16:creationId xmlns:a16="http://schemas.microsoft.com/office/drawing/2014/main" id="{68DD32C4-2329-42EF-B577-9A5978E0C045}"/>
              </a:ext>
            </a:extLst>
          </p:cNvPr>
          <p:cNvSpPr>
            <a:spLocks xmlns:a="http://schemas.openxmlformats.org/drawingml/2006/main" noGrp="1"/>
          </p:cNvSpPr>
          <p:nvPr/>
        </p:nvSpPr>
        <p:spPr>
          <a:xfrm xmlns:a="http://schemas.openxmlformats.org/drawingml/2006/main">
            <a:off x="6572250" y="38100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Deployment checks</a:t>
            </a:r>
          </a:p>
        </p:txBody>
      </p:sp>
      <p:sp>
        <p:nvSpPr>
          <p:cNvPr id="17" name="">
            <a:extLst xmlns:a="http://schemas.openxmlformats.org/drawingml/2006/main">
              <a:ext uri="{FF2B5EF4-FFF2-40B4-BE49-F238E27FC236}">
                <a16:creationId xmlns:a16="http://schemas.microsoft.com/office/drawing/2014/main" id="{55C68CB2-51F4-48E8-A7BE-4C80CC744CD9}"/>
              </a:ext>
            </a:extLst>
          </p:cNvPr>
          <p:cNvSpPr>
            <a:spLocks xmlns:a="http://schemas.openxmlformats.org/drawingml/2006/main" noGrp="1"/>
          </p:cNvSpPr>
          <p:nvPr/>
        </p:nvSpPr>
        <p:spPr>
          <a:xfrm xmlns:a="http://schemas.openxmlformats.org/drawingml/2006/main">
            <a:off x="6572250" y="4324350"/>
            <a:ext cx="4572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Health endpoint at /healthz</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Correct Spotify callback URL</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Trusted reverse proxy configuration</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Diagnostics exposure reviewed before launch</a:t>
            </a:r>
          </a:p>
        </p:txBody>
      </p:sp>
      <p:sp>
        <p:nvSpPr>
          <p:cNvPr id="18" name="">
            <a:extLst xmlns:a="http://schemas.openxmlformats.org/drawingml/2006/main">
              <a:ext uri="{FF2B5EF4-FFF2-40B4-BE49-F238E27FC236}">
                <a16:creationId xmlns:a16="http://schemas.microsoft.com/office/drawing/2014/main" id="{4348B50B-F890-4363-AA7D-88E3642C8FE4}"/>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9" name="">
            <a:extLst xmlns:a="http://schemas.openxmlformats.org/drawingml/2006/main">
              <a:ext uri="{FF2B5EF4-FFF2-40B4-BE49-F238E27FC236}">
                <a16:creationId xmlns:a16="http://schemas.microsoft.com/office/drawing/2014/main" id="{3875947D-8F5D-4A8F-A6E0-3E3DA1FFFC2A}"/>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10</a:t>
            </a:r>
          </a:p>
        </p:txBody>
      </p:sp>
    </p:spTree>
    <p:extLst>
      <p:ext uri="{BB962C8B-B14F-4D97-AF65-F5344CB8AC3E}">
        <p14:creationId xmlns:p14="http://schemas.microsoft.com/office/powerpoint/2010/main" val="297486132"/>
      </p:ext>
    </p:extLst>
  </p:cSld>
</p:sld>
</file>

<file path=ppt/slides/slide11.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15A51FB-4469-450F-84C9-176713364EC2}"/>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QUALITY</a:t>
            </a:r>
          </a:p>
        </p:txBody>
      </p:sp>
      <p:sp>
        <p:nvSpPr>
          <p:cNvPr id="2" name="">
            <a:extLst xmlns:a="http://schemas.openxmlformats.org/drawingml/2006/main">
              <a:ext uri="{FF2B5EF4-FFF2-40B4-BE49-F238E27FC236}">
                <a16:creationId xmlns:a16="http://schemas.microsoft.com/office/drawing/2014/main" id="{0AD02808-AA4B-4102-AA3A-8D5BF7A2381C}"/>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Verification and release status</a:t>
            </a:r>
          </a:p>
        </p:txBody>
      </p:sp>
      <p:sp>
        <p:nvSpPr>
          <p:cNvPr id="3" name="">
            <a:extLst xmlns:a="http://schemas.openxmlformats.org/drawingml/2006/main">
              <a:ext uri="{FF2B5EF4-FFF2-40B4-BE49-F238E27FC236}">
                <a16:creationId xmlns:a16="http://schemas.microsoft.com/office/drawing/2014/main" id="{A85B064F-6654-4F96-887E-CCBDF6EFB33B}"/>
              </a:ext>
            </a:extLst>
          </p:cNvPr>
          <p:cNvSpPr>
            <a:spLocks xmlns:a="http://schemas.openxmlformats.org/drawingml/2006/main" noGrp="1"/>
          </p:cNvSpPr>
          <p:nvPr/>
        </p:nvSpPr>
        <p:spPr>
          <a:xfrm xmlns:a="http://schemas.openxmlformats.org/drawingml/2006/main">
            <a:off x="723900" y="1714500"/>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400" b="1">
                <a:solidFill>
                  <a:srgbClr val="17965A"/>
                </a:solidFill>
                <a:latin typeface="Arial"/>
                <a:ea typeface="Arial"/>
                <a:cs typeface="Arial"/>
              </a:defRPr>
            </a:pPr>
            <a:r>
              <a:rPr sz="5400" b="1">
                <a:solidFill>
                  <a:srgbClr val="17965A"/>
                </a:solidFill>
                <a:latin typeface="Arial"/>
                <a:ea typeface="Arial"/>
                <a:cs typeface="Arial"/>
              </a:rPr>
              <a:t>79 / 79</a:t>
            </a:r>
          </a:p>
        </p:txBody>
      </p:sp>
      <p:sp>
        <p:nvSpPr>
          <p:cNvPr id="4" name="">
            <a:extLst xmlns:a="http://schemas.openxmlformats.org/drawingml/2006/main">
              <a:ext uri="{FF2B5EF4-FFF2-40B4-BE49-F238E27FC236}">
                <a16:creationId xmlns:a16="http://schemas.microsoft.com/office/drawing/2014/main" id="{6C0560E0-BE8C-476B-9E6A-71A7E2481948}"/>
              </a:ext>
            </a:extLst>
          </p:cNvPr>
          <p:cNvSpPr>
            <a:spLocks xmlns:a="http://schemas.openxmlformats.org/drawingml/2006/main" noGrp="1"/>
          </p:cNvSpPr>
          <p:nvPr/>
        </p:nvSpPr>
        <p:spPr>
          <a:xfrm xmlns:a="http://schemas.openxmlformats.org/drawingml/2006/main">
            <a:off x="762000" y="26289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158"/>
          </a:bodyPr>
          <a:lstStyle xmlns:a="http://schemas.openxmlformats.org/drawingml/2006/main"/>
          <a:p xmlns:a="http://schemas.openxmlformats.org/drawingml/2006/main">
            <a:pPr algn="l">
              <a:defRPr sz="1875" b="1">
                <a:solidFill>
                  <a:srgbClr val="172033"/>
                </a:solidFill>
                <a:latin typeface="Arial"/>
                <a:ea typeface="Arial"/>
                <a:cs typeface="Arial"/>
              </a:defRPr>
            </a:pPr>
            <a:r>
              <a:rPr sz="1875" b="1">
                <a:solidFill>
                  <a:srgbClr val="172033"/>
                </a:solidFill>
                <a:latin typeface="Arial"/>
                <a:ea typeface="Arial"/>
                <a:cs typeface="Arial"/>
              </a:rPr>
              <a:t>automated regression checks passed</a:t>
            </a:r>
          </a:p>
        </p:txBody>
      </p:sp>
      <p:sp>
        <p:nvSpPr>
          <p:cNvPr id="5" name="">
            <a:extLst xmlns:a="http://schemas.openxmlformats.org/drawingml/2006/main">
              <a:ext uri="{FF2B5EF4-FFF2-40B4-BE49-F238E27FC236}">
                <a16:creationId xmlns:a16="http://schemas.microsoft.com/office/drawing/2014/main" id="{E2FBB1E9-DDBA-450A-8AFC-949E1860FFBA}"/>
              </a:ext>
            </a:extLst>
          </p:cNvPr>
          <p:cNvSpPr>
            <a:spLocks xmlns:a="http://schemas.openxmlformats.org/drawingml/2006/main" noGrp="1"/>
          </p:cNvSpPr>
          <p:nvPr/>
        </p:nvSpPr>
        <p:spPr>
          <a:xfrm xmlns:a="http://schemas.openxmlformats.org/drawingml/2006/main">
            <a:off x="762000" y="3219450"/>
            <a:ext cx="4476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5F6F8C"/>
                </a:solidFill>
                <a:latin typeface="Arial"/>
                <a:ea typeface="Arial"/>
                <a:cs typeface="Arial"/>
              </a:defRPr>
            </a:pPr>
            <a:r>
              <a:rPr sz="1575" b="0">
                <a:solidFill>
                  <a:srgbClr val="5F6F8C"/>
                </a:solidFill>
                <a:latin typeface="Arial"/>
                <a:ea typeface="Arial"/>
                <a:cs typeface="Arial"/>
              </a:rPr>
              <a:t>Coverage includes Spotify parsing and sessions, cryptography, network safety, website audit behavior, telemetry persistence, API boundaries, and DNS email-policy analysis.</a:t>
            </a:r>
          </a:p>
        </p:txBody>
      </p:sp>
      <p:sp>
        <p:nvSpPr>
          <p:cNvPr id="6" name="">
            <a:extLst xmlns:a="http://schemas.openxmlformats.org/drawingml/2006/main">
              <a:ext uri="{FF2B5EF4-FFF2-40B4-BE49-F238E27FC236}">
                <a16:creationId xmlns:a16="http://schemas.microsoft.com/office/drawing/2014/main" id="{2C158A64-2304-40F2-8715-C5B629B651DC}"/>
              </a:ext>
            </a:extLst>
          </p:cNvPr>
          <p:cNvSpPr>
            <a:spLocks xmlns:a="http://schemas.openxmlformats.org/drawingml/2006/main" noGrp="1"/>
          </p:cNvSpPr>
          <p:nvPr/>
        </p:nvSpPr>
        <p:spPr>
          <a:xfrm xmlns:a="http://schemas.openxmlformats.org/drawingml/2006/main">
            <a:off x="6000750" y="1581150"/>
            <a:ext cx="49530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9525">
            <a:solidFill>
              <a:srgbClr val="D8E1EE"/>
            </a:solidFill>
          </a:ln>
        </p:spPr>
      </p:sp>
      <p:sp>
        <p:nvSpPr>
          <p:cNvPr id="7" name="">
            <a:extLst xmlns:a="http://schemas.openxmlformats.org/drawingml/2006/main">
              <a:ext uri="{FF2B5EF4-FFF2-40B4-BE49-F238E27FC236}">
                <a16:creationId xmlns:a16="http://schemas.microsoft.com/office/drawing/2014/main" id="{6281DD16-EE5E-4FC9-A24A-6611F970D189}"/>
              </a:ext>
            </a:extLst>
          </p:cNvPr>
          <p:cNvSpPr>
            <a:spLocks xmlns:a="http://schemas.openxmlformats.org/drawingml/2006/main" noGrp="1"/>
          </p:cNvSpPr>
          <p:nvPr/>
        </p:nvSpPr>
        <p:spPr>
          <a:xfrm xmlns:a="http://schemas.openxmlformats.org/drawingml/2006/main">
            <a:off x="6267450" y="17621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Release build</a:t>
            </a:r>
          </a:p>
        </p:txBody>
      </p:sp>
      <p:sp>
        <p:nvSpPr>
          <p:cNvPr id="8" name="">
            <a:extLst xmlns:a="http://schemas.openxmlformats.org/drawingml/2006/main">
              <a:ext uri="{FF2B5EF4-FFF2-40B4-BE49-F238E27FC236}">
                <a16:creationId xmlns:a16="http://schemas.microsoft.com/office/drawing/2014/main" id="{E2113E33-A3F4-4495-84B1-8A370E2E66A3}"/>
              </a:ext>
            </a:extLst>
          </p:cNvPr>
          <p:cNvSpPr>
            <a:spLocks xmlns:a="http://schemas.openxmlformats.org/drawingml/2006/main" noGrp="1"/>
          </p:cNvSpPr>
          <p:nvPr/>
        </p:nvSpPr>
        <p:spPr>
          <a:xfrm xmlns:a="http://schemas.openxmlformats.org/drawingml/2006/main">
            <a:off x="8667750" y="176212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1">
                <a:solidFill>
                  <a:srgbClr val="17965A"/>
                </a:solidFill>
                <a:latin typeface="Arial"/>
                <a:ea typeface="Arial"/>
                <a:cs typeface="Arial"/>
              </a:defRPr>
            </a:pPr>
            <a:r>
              <a:rPr sz="1575" b="1">
                <a:solidFill>
                  <a:srgbClr val="17965A"/>
                </a:solidFill>
                <a:latin typeface="Arial"/>
                <a:ea typeface="Arial"/>
                <a:cs typeface="Arial"/>
              </a:rPr>
              <a:t>0 warnings, 0 errors</a:t>
            </a:r>
          </a:p>
        </p:txBody>
      </p:sp>
      <p:sp>
        <p:nvSpPr>
          <p:cNvPr id="9" name="">
            <a:extLst xmlns:a="http://schemas.openxmlformats.org/drawingml/2006/main">
              <a:ext uri="{FF2B5EF4-FFF2-40B4-BE49-F238E27FC236}">
                <a16:creationId xmlns:a16="http://schemas.microsoft.com/office/drawing/2014/main" id="{231B2964-CE29-4A49-8BC4-4BEDBEEBC81A}"/>
              </a:ext>
            </a:extLst>
          </p:cNvPr>
          <p:cNvSpPr>
            <a:spLocks xmlns:a="http://schemas.openxmlformats.org/drawingml/2006/main" noGrp="1"/>
          </p:cNvSpPr>
          <p:nvPr/>
        </p:nvSpPr>
        <p:spPr>
          <a:xfrm xmlns:a="http://schemas.openxmlformats.org/drawingml/2006/main">
            <a:off x="6000750" y="2476500"/>
            <a:ext cx="49530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9525">
            <a:solidFill>
              <a:srgbClr val="D8E1EE"/>
            </a:solidFill>
          </a:ln>
        </p:spPr>
      </p:sp>
      <p:sp>
        <p:nvSpPr>
          <p:cNvPr id="10" name="">
            <a:extLst xmlns:a="http://schemas.openxmlformats.org/drawingml/2006/main">
              <a:ext uri="{FF2B5EF4-FFF2-40B4-BE49-F238E27FC236}">
                <a16:creationId xmlns:a16="http://schemas.microsoft.com/office/drawing/2014/main" id="{9CC4A47E-08A2-4C6B-B75A-3BC1209FDC3C}"/>
              </a:ext>
            </a:extLst>
          </p:cNvPr>
          <p:cNvSpPr>
            <a:spLocks xmlns:a="http://schemas.openxmlformats.org/drawingml/2006/main" noGrp="1"/>
          </p:cNvSpPr>
          <p:nvPr/>
        </p:nvSpPr>
        <p:spPr>
          <a:xfrm xmlns:a="http://schemas.openxmlformats.org/drawingml/2006/main">
            <a:off x="6267450" y="265747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Code formatting</a:t>
            </a:r>
          </a:p>
        </p:txBody>
      </p:sp>
      <p:sp>
        <p:nvSpPr>
          <p:cNvPr id="11" name="">
            <a:extLst xmlns:a="http://schemas.openxmlformats.org/drawingml/2006/main">
              <a:ext uri="{FF2B5EF4-FFF2-40B4-BE49-F238E27FC236}">
                <a16:creationId xmlns:a16="http://schemas.microsoft.com/office/drawing/2014/main" id="{A5D72507-C7A2-4AD9-B0D1-533669366982}"/>
              </a:ext>
            </a:extLst>
          </p:cNvPr>
          <p:cNvSpPr>
            <a:spLocks xmlns:a="http://schemas.openxmlformats.org/drawingml/2006/main" noGrp="1"/>
          </p:cNvSpPr>
          <p:nvPr/>
        </p:nvSpPr>
        <p:spPr>
          <a:xfrm xmlns:a="http://schemas.openxmlformats.org/drawingml/2006/main">
            <a:off x="8667750" y="265747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1">
                <a:solidFill>
                  <a:srgbClr val="17965A"/>
                </a:solidFill>
                <a:latin typeface="Arial"/>
                <a:ea typeface="Arial"/>
                <a:cs typeface="Arial"/>
              </a:defRPr>
            </a:pPr>
            <a:r>
              <a:rPr sz="1575" b="1">
                <a:solidFill>
                  <a:srgbClr val="17965A"/>
                </a:solidFill>
                <a:latin typeface="Arial"/>
                <a:ea typeface="Arial"/>
                <a:cs typeface="Arial"/>
              </a:rPr>
              <a:t>Verified</a:t>
            </a:r>
          </a:p>
        </p:txBody>
      </p:sp>
      <p:sp>
        <p:nvSpPr>
          <p:cNvPr id="12" name="">
            <a:extLst xmlns:a="http://schemas.openxmlformats.org/drawingml/2006/main">
              <a:ext uri="{FF2B5EF4-FFF2-40B4-BE49-F238E27FC236}">
                <a16:creationId xmlns:a16="http://schemas.microsoft.com/office/drawing/2014/main" id="{CA51A1C0-4BB8-40C7-A0B9-B8BC8A50D538}"/>
              </a:ext>
            </a:extLst>
          </p:cNvPr>
          <p:cNvSpPr>
            <a:spLocks xmlns:a="http://schemas.openxmlformats.org/drawingml/2006/main" noGrp="1"/>
          </p:cNvSpPr>
          <p:nvPr/>
        </p:nvSpPr>
        <p:spPr>
          <a:xfrm xmlns:a="http://schemas.openxmlformats.org/drawingml/2006/main">
            <a:off x="6000750" y="3371850"/>
            <a:ext cx="49530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9525">
            <a:solidFill>
              <a:srgbClr val="D8E1EE"/>
            </a:solidFill>
          </a:ln>
        </p:spPr>
      </p:sp>
      <p:sp>
        <p:nvSpPr>
          <p:cNvPr id="13" name="">
            <a:extLst xmlns:a="http://schemas.openxmlformats.org/drawingml/2006/main">
              <a:ext uri="{FF2B5EF4-FFF2-40B4-BE49-F238E27FC236}">
                <a16:creationId xmlns:a16="http://schemas.microsoft.com/office/drawing/2014/main" id="{1526A88A-B32B-4282-8AEC-741E842C5A64}"/>
              </a:ext>
            </a:extLst>
          </p:cNvPr>
          <p:cNvSpPr>
            <a:spLocks xmlns:a="http://schemas.openxmlformats.org/drawingml/2006/main" noGrp="1"/>
          </p:cNvSpPr>
          <p:nvPr/>
        </p:nvSpPr>
        <p:spPr>
          <a:xfrm xmlns:a="http://schemas.openxmlformats.org/drawingml/2006/main">
            <a:off x="6267450" y="35528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498"/>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Published HTTP smoke suite</a:t>
            </a:r>
          </a:p>
        </p:txBody>
      </p:sp>
      <p:sp>
        <p:nvSpPr>
          <p:cNvPr id="14" name="">
            <a:extLst xmlns:a="http://schemas.openxmlformats.org/drawingml/2006/main">
              <a:ext uri="{FF2B5EF4-FFF2-40B4-BE49-F238E27FC236}">
                <a16:creationId xmlns:a16="http://schemas.microsoft.com/office/drawing/2014/main" id="{60A9D212-AC0B-4BCB-9EE6-A7B5F88EE032}"/>
              </a:ext>
            </a:extLst>
          </p:cNvPr>
          <p:cNvSpPr>
            <a:spLocks xmlns:a="http://schemas.openxmlformats.org/drawingml/2006/main" noGrp="1"/>
          </p:cNvSpPr>
          <p:nvPr/>
        </p:nvSpPr>
        <p:spPr>
          <a:xfrm xmlns:a="http://schemas.openxmlformats.org/drawingml/2006/main">
            <a:off x="9505950" y="3552825"/>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1">
                <a:solidFill>
                  <a:srgbClr val="17965A"/>
                </a:solidFill>
                <a:latin typeface="Arial"/>
                <a:ea typeface="Arial"/>
                <a:cs typeface="Arial"/>
              </a:defRPr>
            </a:pPr>
            <a:r>
              <a:rPr sz="1575" b="1">
                <a:solidFill>
                  <a:srgbClr val="17965A"/>
                </a:solidFill>
                <a:latin typeface="Arial"/>
                <a:ea typeface="Arial"/>
                <a:cs typeface="Arial"/>
              </a:rPr>
              <a:t>Passed</a:t>
            </a:r>
          </a:p>
        </p:txBody>
      </p:sp>
      <p:sp>
        <p:nvSpPr>
          <p:cNvPr id="15" name="">
            <a:extLst xmlns:a="http://schemas.openxmlformats.org/drawingml/2006/main">
              <a:ext uri="{FF2B5EF4-FFF2-40B4-BE49-F238E27FC236}">
                <a16:creationId xmlns:a16="http://schemas.microsoft.com/office/drawing/2014/main" id="{B3232098-4F30-434F-B57F-9140B4E0E13E}"/>
              </a:ext>
            </a:extLst>
          </p:cNvPr>
          <p:cNvSpPr>
            <a:spLocks xmlns:a="http://schemas.openxmlformats.org/drawingml/2006/main" noGrp="1"/>
          </p:cNvSpPr>
          <p:nvPr/>
        </p:nvSpPr>
        <p:spPr>
          <a:xfrm xmlns:a="http://schemas.openxmlformats.org/drawingml/2006/main">
            <a:off x="6000750" y="4476750"/>
            <a:ext cx="4953000" cy="1066800"/>
          </a:xfrm>
          <a:prstGeom xmlns:a="http://schemas.openxmlformats.org/drawingml/2006/main" prst="roundRect">
            <a:avLst>
              <a:gd name="adj" fmla="val 12500"/>
            </a:avLst>
          </a:prstGeom>
          <a:solidFill xmlns:a="http://schemas.openxmlformats.org/drawingml/2006/main">
            <a:srgbClr val="FFF5E6"/>
          </a:solidFill>
          <a:ln xmlns:a="http://schemas.openxmlformats.org/drawingml/2006/main" w="9525">
            <a:solidFill>
              <a:srgbClr val="E8C991"/>
            </a:solidFill>
          </a:ln>
        </p:spPr>
      </p:sp>
      <p:sp>
        <p:nvSpPr>
          <p:cNvPr id="16" name="">
            <a:extLst xmlns:a="http://schemas.openxmlformats.org/drawingml/2006/main">
              <a:ext uri="{FF2B5EF4-FFF2-40B4-BE49-F238E27FC236}">
                <a16:creationId xmlns:a16="http://schemas.microsoft.com/office/drawing/2014/main" id="{EB866CB1-8580-4243-9AF7-C8B02ECE7A07}"/>
              </a:ext>
            </a:extLst>
          </p:cNvPr>
          <p:cNvSpPr>
            <a:spLocks xmlns:a="http://schemas.openxmlformats.org/drawingml/2006/main" noGrp="1"/>
          </p:cNvSpPr>
          <p:nvPr/>
        </p:nvSpPr>
        <p:spPr>
          <a:xfrm xmlns:a="http://schemas.openxmlformats.org/drawingml/2006/main">
            <a:off x="6267450" y="46672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D4861A"/>
                </a:solidFill>
                <a:latin typeface="Arial"/>
                <a:ea typeface="Arial"/>
                <a:cs typeface="Arial"/>
              </a:defRPr>
            </a:pPr>
            <a:r>
              <a:rPr sz="1650" b="1">
                <a:solidFill>
                  <a:srgbClr val="D4861A"/>
                </a:solidFill>
                <a:latin typeface="Arial"/>
                <a:ea typeface="Arial"/>
                <a:cs typeface="Arial"/>
              </a:rPr>
              <a:t>Public launch checkpoint</a:t>
            </a:r>
          </a:p>
        </p:txBody>
      </p:sp>
      <p:sp>
        <p:nvSpPr>
          <p:cNvPr id="17" name="">
            <a:extLst xmlns:a="http://schemas.openxmlformats.org/drawingml/2006/main">
              <a:ext uri="{FF2B5EF4-FFF2-40B4-BE49-F238E27FC236}">
                <a16:creationId xmlns:a16="http://schemas.microsoft.com/office/drawing/2014/main" id="{3CC1C4E6-7EA9-46FF-9ED4-2728BB6AFB5F}"/>
              </a:ext>
            </a:extLst>
          </p:cNvPr>
          <p:cNvSpPr>
            <a:spLocks xmlns:a="http://schemas.openxmlformats.org/drawingml/2006/main" noGrp="1"/>
          </p:cNvSpPr>
          <p:nvPr/>
        </p:nvSpPr>
        <p:spPr>
          <a:xfrm xmlns:a="http://schemas.openxmlformats.org/drawingml/2006/main">
            <a:off x="6267450" y="50292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7A551B"/>
                </a:solidFill>
                <a:latin typeface="Arial"/>
                <a:ea typeface="Arial"/>
                <a:cs typeface="Arial"/>
              </a:defRPr>
            </a:pPr>
            <a:r>
              <a:rPr sz="1350" b="0">
                <a:solidFill>
                  <a:srgbClr val="7A551B"/>
                </a:solidFill>
                <a:latin typeface="Arial"/>
                <a:ea typeface="Arial"/>
                <a:cs typeface="Arial"/>
              </a:rPr>
              <a:t>Complete Google Search Console review and protect public diagnostic pages before broad promotion.</a:t>
            </a:r>
          </a:p>
        </p:txBody>
      </p:sp>
      <p:sp>
        <p:nvSpPr>
          <p:cNvPr id="18" name="">
            <a:extLst xmlns:a="http://schemas.openxmlformats.org/drawingml/2006/main">
              <a:ext uri="{FF2B5EF4-FFF2-40B4-BE49-F238E27FC236}">
                <a16:creationId xmlns:a16="http://schemas.microsoft.com/office/drawing/2014/main" id="{DA4A6F9B-1D76-49E6-9CD5-CE54B559A619}"/>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9" name="">
            <a:extLst xmlns:a="http://schemas.openxmlformats.org/drawingml/2006/main">
              <a:ext uri="{FF2B5EF4-FFF2-40B4-BE49-F238E27FC236}">
                <a16:creationId xmlns:a16="http://schemas.microsoft.com/office/drawing/2014/main" id="{5D1AE5E2-1D72-48D3-B936-1E258649CA7F}"/>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11</a:t>
            </a:r>
          </a:p>
        </p:txBody>
      </p:sp>
    </p:spTree>
    <p:extLst>
      <p:ext uri="{BB962C8B-B14F-4D97-AF65-F5344CB8AC3E}">
        <p14:creationId xmlns:p14="http://schemas.microsoft.com/office/powerpoint/2010/main" val="13896408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832E6D3-5B8B-4C95-94CE-68E9A0C7DDD2}"/>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NEXT STEPS</a:t>
            </a:r>
          </a:p>
        </p:txBody>
      </p:sp>
      <p:sp>
        <p:nvSpPr>
          <p:cNvPr id="2" name="">
            <a:extLst xmlns:a="http://schemas.openxmlformats.org/drawingml/2006/main">
              <a:ext uri="{FF2B5EF4-FFF2-40B4-BE49-F238E27FC236}">
                <a16:creationId xmlns:a16="http://schemas.microsoft.com/office/drawing/2014/main" id="{0902DD4D-3415-432A-88B0-B1310E24531A}"/>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Presentation route and Version 2</a:t>
            </a:r>
          </a:p>
        </p:txBody>
      </p:sp>
      <p:sp>
        <p:nvSpPr>
          <p:cNvPr id="3" name="">
            <a:extLst xmlns:a="http://schemas.openxmlformats.org/drawingml/2006/main">
              <a:ext uri="{FF2B5EF4-FFF2-40B4-BE49-F238E27FC236}">
                <a16:creationId xmlns:a16="http://schemas.microsoft.com/office/drawing/2014/main" id="{EEED10F1-29B8-499D-AD87-1CCEFB6ADF2C}"/>
              </a:ext>
            </a:extLst>
          </p:cNvPr>
          <p:cNvSpPr>
            <a:spLocks xmlns:a="http://schemas.openxmlformats.org/drawingml/2006/main" noGrp="1"/>
          </p:cNvSpPr>
          <p:nvPr/>
        </p:nvSpPr>
        <p:spPr>
          <a:xfrm xmlns:a="http://schemas.openxmlformats.org/drawingml/2006/main">
            <a:off x="685800" y="15811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172033"/>
                </a:solidFill>
                <a:latin typeface="Arial"/>
                <a:ea typeface="Arial"/>
                <a:cs typeface="Arial"/>
              </a:defRPr>
            </a:pPr>
            <a:r>
              <a:rPr sz="2175" b="1">
                <a:solidFill>
                  <a:srgbClr val="172033"/>
                </a:solidFill>
                <a:latin typeface="Arial"/>
                <a:ea typeface="Arial"/>
                <a:cs typeface="Arial"/>
              </a:rPr>
              <a:t>Suggested live demonstration</a:t>
            </a:r>
          </a:p>
        </p:txBody>
      </p:sp>
      <p:sp>
        <p:nvSpPr>
          <p:cNvPr id="4" name="">
            <a:extLst xmlns:a="http://schemas.openxmlformats.org/drawingml/2006/main">
              <a:ext uri="{FF2B5EF4-FFF2-40B4-BE49-F238E27FC236}">
                <a16:creationId xmlns:a16="http://schemas.microsoft.com/office/drawing/2014/main" id="{F1744882-B0A5-4172-86FE-AC1632627939}"/>
              </a:ext>
            </a:extLst>
          </p:cNvPr>
          <p:cNvSpPr>
            <a:spLocks xmlns:a="http://schemas.openxmlformats.org/drawingml/2006/main" noGrp="1"/>
          </p:cNvSpPr>
          <p:nvPr/>
        </p:nvSpPr>
        <p:spPr>
          <a:xfrm xmlns:a="http://schemas.openxmlformats.org/drawingml/2006/main">
            <a:off x="742950" y="21526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2DC9A19-7BFB-45DE-8EDF-222D4A8921B6}"/>
              </a:ext>
            </a:extLst>
          </p:cNvPr>
          <p:cNvSpPr>
            <a:spLocks xmlns:a="http://schemas.openxmlformats.org/drawingml/2006/main" noGrp="1"/>
          </p:cNvSpPr>
          <p:nvPr/>
        </p:nvSpPr>
        <p:spPr>
          <a:xfrm xmlns:a="http://schemas.openxmlformats.org/drawingml/2006/main">
            <a:off x="1371600" y="21336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72033"/>
                </a:solidFill>
                <a:latin typeface="Arial"/>
                <a:ea typeface="Arial"/>
                <a:cs typeface="Arial"/>
              </a:defRPr>
            </a:pPr>
            <a:r>
              <a:rPr sz="1875" b="1">
                <a:solidFill>
                  <a:srgbClr val="172033"/>
                </a:solidFill>
                <a:latin typeface="Arial"/>
                <a:ea typeface="Arial"/>
                <a:cs typeface="Arial"/>
              </a:rPr>
              <a:t>Overview</a:t>
            </a:r>
          </a:p>
        </p:txBody>
      </p:sp>
      <p:sp>
        <p:nvSpPr>
          <p:cNvPr id="6" name="">
            <a:extLst xmlns:a="http://schemas.openxmlformats.org/drawingml/2006/main">
              <a:ext uri="{FF2B5EF4-FFF2-40B4-BE49-F238E27FC236}">
                <a16:creationId xmlns:a16="http://schemas.microsoft.com/office/drawing/2014/main" id="{2A869E91-AA92-4BB9-9493-462AE79CB791}"/>
              </a:ext>
            </a:extLst>
          </p:cNvPr>
          <p:cNvSpPr>
            <a:spLocks xmlns:a="http://schemas.openxmlformats.org/drawingml/2006/main" noGrp="1"/>
          </p:cNvSpPr>
          <p:nvPr/>
        </p:nvSpPr>
        <p:spPr>
          <a:xfrm xmlns:a="http://schemas.openxmlformats.org/drawingml/2006/main">
            <a:off x="742950" y="27622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0AA969E9-2A0F-46E8-94F4-D748C14C47FB}"/>
              </a:ext>
            </a:extLst>
          </p:cNvPr>
          <p:cNvSpPr>
            <a:spLocks xmlns:a="http://schemas.openxmlformats.org/drawingml/2006/main" noGrp="1"/>
          </p:cNvSpPr>
          <p:nvPr/>
        </p:nvSpPr>
        <p:spPr>
          <a:xfrm xmlns:a="http://schemas.openxmlformats.org/drawingml/2006/main">
            <a:off x="1371600" y="27432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Network Calculator</a:t>
            </a:r>
          </a:p>
        </p:txBody>
      </p:sp>
      <p:sp>
        <p:nvSpPr>
          <p:cNvPr id="8" name="">
            <a:extLst xmlns:a="http://schemas.openxmlformats.org/drawingml/2006/main">
              <a:ext uri="{FF2B5EF4-FFF2-40B4-BE49-F238E27FC236}">
                <a16:creationId xmlns:a16="http://schemas.microsoft.com/office/drawing/2014/main" id="{5F9FEB4C-39D4-4660-9D2F-9B3D49CB6CEA}"/>
              </a:ext>
            </a:extLst>
          </p:cNvPr>
          <p:cNvSpPr>
            <a:spLocks xmlns:a="http://schemas.openxmlformats.org/drawingml/2006/main" noGrp="1"/>
          </p:cNvSpPr>
          <p:nvPr/>
        </p:nvSpPr>
        <p:spPr>
          <a:xfrm xmlns:a="http://schemas.openxmlformats.org/drawingml/2006/main">
            <a:off x="742950" y="33718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A7AC436A-3CD0-41EC-BF2F-9CD18BADAF8F}"/>
              </a:ext>
            </a:extLst>
          </p:cNvPr>
          <p:cNvSpPr>
            <a:spLocks xmlns:a="http://schemas.openxmlformats.org/drawingml/2006/main" noGrp="1"/>
          </p:cNvSpPr>
          <p:nvPr/>
        </p:nvSpPr>
        <p:spPr>
          <a:xfrm xmlns:a="http://schemas.openxmlformats.org/drawingml/2006/main">
            <a:off x="1371600" y="33528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Website Audit</a:t>
            </a:r>
          </a:p>
        </p:txBody>
      </p:sp>
      <p:sp>
        <p:nvSpPr>
          <p:cNvPr id="10" name="">
            <a:extLst xmlns:a="http://schemas.openxmlformats.org/drawingml/2006/main">
              <a:ext uri="{FF2B5EF4-FFF2-40B4-BE49-F238E27FC236}">
                <a16:creationId xmlns:a16="http://schemas.microsoft.com/office/drawing/2014/main" id="{7F86CA10-7B8F-4AB0-9DD1-C3B460CDECAC}"/>
              </a:ext>
            </a:extLst>
          </p:cNvPr>
          <p:cNvSpPr>
            <a:spLocks xmlns:a="http://schemas.openxmlformats.org/drawingml/2006/main" noGrp="1"/>
          </p:cNvSpPr>
          <p:nvPr/>
        </p:nvSpPr>
        <p:spPr>
          <a:xfrm xmlns:a="http://schemas.openxmlformats.org/drawingml/2006/main">
            <a:off x="742950" y="39814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33E1DCA6-2543-47FA-92E0-A8738210FDA6}"/>
              </a:ext>
            </a:extLst>
          </p:cNvPr>
          <p:cNvSpPr>
            <a:spLocks xmlns:a="http://schemas.openxmlformats.org/drawingml/2006/main" noGrp="1"/>
          </p:cNvSpPr>
          <p:nvPr/>
        </p:nvSpPr>
        <p:spPr>
          <a:xfrm xmlns:a="http://schemas.openxmlformats.org/drawingml/2006/main">
            <a:off x="1371600" y="39624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API Runner</a:t>
            </a:r>
          </a:p>
        </p:txBody>
      </p:sp>
      <p:sp>
        <p:nvSpPr>
          <p:cNvPr id="12" name="">
            <a:extLst xmlns:a="http://schemas.openxmlformats.org/drawingml/2006/main">
              <a:ext uri="{FF2B5EF4-FFF2-40B4-BE49-F238E27FC236}">
                <a16:creationId xmlns:a16="http://schemas.microsoft.com/office/drawing/2014/main" id="{A078C07F-CA05-418B-B24D-DE78909209B1}"/>
              </a:ext>
            </a:extLst>
          </p:cNvPr>
          <p:cNvSpPr>
            <a:spLocks xmlns:a="http://schemas.openxmlformats.org/drawingml/2006/main" noGrp="1"/>
          </p:cNvSpPr>
          <p:nvPr/>
        </p:nvSpPr>
        <p:spPr>
          <a:xfrm xmlns:a="http://schemas.openxmlformats.org/drawingml/2006/main">
            <a:off x="742950" y="45910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05</a:t>
            </a:r>
          </a:p>
        </p:txBody>
      </p:sp>
      <p:sp>
        <p:nvSpPr>
          <p:cNvPr id="13" name="">
            <a:extLst xmlns:a="http://schemas.openxmlformats.org/drawingml/2006/main">
              <a:ext uri="{FF2B5EF4-FFF2-40B4-BE49-F238E27FC236}">
                <a16:creationId xmlns:a16="http://schemas.microsoft.com/office/drawing/2014/main" id="{88E57101-4FE2-4395-9BAC-300606B5AF64}"/>
              </a:ext>
            </a:extLst>
          </p:cNvPr>
          <p:cNvSpPr>
            <a:spLocks xmlns:a="http://schemas.openxmlformats.org/drawingml/2006/main" noGrp="1"/>
          </p:cNvSpPr>
          <p:nvPr/>
        </p:nvSpPr>
        <p:spPr>
          <a:xfrm xmlns:a="http://schemas.openxmlformats.org/drawingml/2006/main">
            <a:off x="1371600" y="45720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Focus Lounge</a:t>
            </a:r>
          </a:p>
        </p:txBody>
      </p:sp>
      <p:sp>
        <p:nvSpPr>
          <p:cNvPr id="14" name="">
            <a:extLst xmlns:a="http://schemas.openxmlformats.org/drawingml/2006/main">
              <a:ext uri="{FF2B5EF4-FFF2-40B4-BE49-F238E27FC236}">
                <a16:creationId xmlns:a16="http://schemas.microsoft.com/office/drawing/2014/main" id="{0EB1B87D-1C5B-4CBA-9FF0-C201E7D5FEE4}"/>
              </a:ext>
            </a:extLst>
          </p:cNvPr>
          <p:cNvSpPr>
            <a:spLocks xmlns:a="http://schemas.openxmlformats.org/drawingml/2006/main" noGrp="1"/>
          </p:cNvSpPr>
          <p:nvPr/>
        </p:nvSpPr>
        <p:spPr>
          <a:xfrm xmlns:a="http://schemas.openxmlformats.org/drawingml/2006/main">
            <a:off x="5657850" y="1428750"/>
            <a:ext cx="5848350" cy="4191000"/>
          </a:xfrm>
          <a:prstGeom xmlns:a="http://schemas.openxmlformats.org/drawingml/2006/main" prst="roundRect">
            <a:avLst>
              <a:gd name="adj" fmla="val 5455"/>
            </a:avLst>
          </a:prstGeom>
          <a:solidFill xmlns:a="http://schemas.openxmlformats.org/drawingml/2006/main">
            <a:srgbClr val="111C3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B4D92FD-72BD-4999-95A1-B9AE32EC1C07}"/>
              </a:ext>
            </a:extLst>
          </p:cNvPr>
          <p:cNvSpPr>
            <a:spLocks xmlns:a="http://schemas.openxmlformats.org/drawingml/2006/main" noGrp="1"/>
          </p:cNvSpPr>
          <p:nvPr/>
        </p:nvSpPr>
        <p:spPr>
          <a:xfrm xmlns:a="http://schemas.openxmlformats.org/drawingml/2006/main">
            <a:off x="6019800" y="17716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Version 2 candidates</a:t>
            </a:r>
          </a:p>
        </p:txBody>
      </p:sp>
      <p:sp>
        <p:nvSpPr>
          <p:cNvPr id="16" name="">
            <a:extLst xmlns:a="http://schemas.openxmlformats.org/drawingml/2006/main">
              <a:ext uri="{FF2B5EF4-FFF2-40B4-BE49-F238E27FC236}">
                <a16:creationId xmlns:a16="http://schemas.microsoft.com/office/drawing/2014/main" id="{475F6B90-1CD1-47FF-A77F-4593669EC247}"/>
              </a:ext>
            </a:extLst>
          </p:cNvPr>
          <p:cNvSpPr>
            <a:spLocks xmlns:a="http://schemas.openxmlformats.org/drawingml/2006/main" noGrp="1"/>
          </p:cNvSpPr>
          <p:nvPr/>
        </p:nvSpPr>
        <p:spPr>
          <a:xfrm xmlns:a="http://schemas.openxmlformats.org/drawingml/2006/main">
            <a:off x="6019800" y="2457450"/>
            <a:ext cx="485775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SQL Server health and performance monitor</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IT asset inventory with IP address management</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Authenticated remote monitoring agent</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Incident response and backup verification</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Role-based access for every diagnostic tool</a:t>
            </a:r>
          </a:p>
        </p:txBody>
      </p:sp>
      <p:sp>
        <p:nvSpPr>
          <p:cNvPr id="17" name="">
            <a:extLst xmlns:a="http://schemas.openxmlformats.org/drawingml/2006/main">
              <a:ext uri="{FF2B5EF4-FFF2-40B4-BE49-F238E27FC236}">
                <a16:creationId xmlns:a16="http://schemas.microsoft.com/office/drawing/2014/main" id="{7A6CCFF0-0219-4F75-8386-40848EE8D8FC}"/>
              </a:ext>
            </a:extLst>
          </p:cNvPr>
          <p:cNvSpPr>
            <a:spLocks xmlns:a="http://schemas.openxmlformats.org/drawingml/2006/main" noGrp="1"/>
          </p:cNvSpPr>
          <p:nvPr/>
        </p:nvSpPr>
        <p:spPr>
          <a:xfrm xmlns:a="http://schemas.openxmlformats.org/drawingml/2006/main">
            <a:off x="6019800" y="50673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491"/>
          </a:bodyPr>
          <a:lstStyle xmlns:a="http://schemas.openxmlformats.org/drawingml/2006/main"/>
          <a:p xmlns:a="http://schemas.openxmlformats.org/drawingml/2006/main">
            <a:pPr algn="l">
              <a:defRPr sz="1425" b="0">
                <a:solidFill>
                  <a:srgbClr val="6D9BFF"/>
                </a:solidFill>
                <a:latin typeface="Arial"/>
                <a:ea typeface="Arial"/>
                <a:cs typeface="Arial"/>
              </a:defRPr>
            </a:pPr>
            <a:r>
              <a:rPr sz="1425" b="0">
                <a:solidFill>
                  <a:srgbClr val="6D9BFF"/>
                </a:solidFill>
                <a:latin typeface="Arial"/>
                <a:ea typeface="Arial"/>
                <a:cs typeface="Arial"/>
              </a:rPr>
              <a:t>Version 1 establishes the platform and the safety model needed for these additions.</a:t>
            </a:r>
          </a:p>
        </p:txBody>
      </p:sp>
      <p:sp>
        <p:nvSpPr>
          <p:cNvPr id="18" name="">
            <a:extLst xmlns:a="http://schemas.openxmlformats.org/drawingml/2006/main">
              <a:ext uri="{FF2B5EF4-FFF2-40B4-BE49-F238E27FC236}">
                <a16:creationId xmlns:a16="http://schemas.microsoft.com/office/drawing/2014/main" id="{4AEAD3DB-EF6C-4579-9232-02942B4C5D28}"/>
              </a:ext>
            </a:extLst>
          </p:cNvPr>
          <p:cNvSpPr>
            <a:spLocks xmlns:a="http://schemas.openxmlformats.org/drawingml/2006/main" noGrp="1"/>
          </p:cNvSpPr>
          <p:nvPr/>
        </p:nvSpPr>
        <p:spPr>
          <a:xfrm xmlns:a="http://schemas.openxmlformats.org/drawingml/2006/main">
            <a:off x="685800" y="59245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3976ED"/>
                </a:solidFill>
                <a:latin typeface="Arial"/>
                <a:ea typeface="Arial"/>
                <a:cs typeface="Arial"/>
              </a:defRPr>
            </a:pPr>
            <a:r>
              <a:rPr sz="2325" b="1">
                <a:solidFill>
                  <a:srgbClr val="3976ED"/>
                </a:solidFill>
                <a:latin typeface="Arial"/>
                <a:ea typeface="Arial"/>
                <a:cs typeface="Arial"/>
              </a:rPr>
              <a:t>DevPulse Version 1</a:t>
            </a:r>
          </a:p>
        </p:txBody>
      </p:sp>
      <p:sp>
        <p:nvSpPr>
          <p:cNvPr id="19" name="">
            <a:extLst xmlns:a="http://schemas.openxmlformats.org/drawingml/2006/main">
              <a:ext uri="{FF2B5EF4-FFF2-40B4-BE49-F238E27FC236}">
                <a16:creationId xmlns:a16="http://schemas.microsoft.com/office/drawing/2014/main" id="{937D68F0-8384-4AA0-8E1A-A026C247B78F}"/>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20" name="">
            <a:extLst xmlns:a="http://schemas.openxmlformats.org/drawingml/2006/main">
              <a:ext uri="{FF2B5EF4-FFF2-40B4-BE49-F238E27FC236}">
                <a16:creationId xmlns:a16="http://schemas.microsoft.com/office/drawing/2014/main" id="{5EB4C7F0-9DEC-44BD-8D41-27C11D86BD85}"/>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12</a:t>
            </a:r>
          </a:p>
        </p:txBody>
      </p:sp>
    </p:spTree>
    <p:extLst>
      <p:ext uri="{BB962C8B-B14F-4D97-AF65-F5344CB8AC3E}">
        <p14:creationId xmlns:p14="http://schemas.microsoft.com/office/powerpoint/2010/main" val="5976603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2026-09-21T02:32:34.4490000Z</dcterms:created>
  <dcterms:modified xsi:type="dcterms:W3CDTF">2026-09-21T02:32:34.4490000Z</dcterms:modified>
</coreProperties>
</file>