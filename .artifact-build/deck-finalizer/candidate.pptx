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65ebd21743465d" /><Relationship Type="http://schemas.openxmlformats.org/officeDocument/2006/relationships/extended-properties" Target="/docProps/app.xml" Id="R19e34d74465d4523" /><Relationship Type="http://schemas.openxmlformats.org/officeDocument/2006/relationships/officeDocument" Target="/ppt/presentation.xml" Id="Rf4489d3e394f43d7" /></Relationships>
</file>

<file path=ppt/presentation.xml><?xml version="1.0" encoding="utf-8"?>
<p:presentation xmlns:p="http://schemas.openxmlformats.org/presentationml/2006/main">
  <p:sldMasterIdLst>
    <p:sldMasterId xmlns:r="http://schemas.openxmlformats.org/officeDocument/2006/relationships" id="2147483648" r:id="R552b87424d3542a4"/>
  </p:sldMasterIdLst>
  <p:notesMasterIdLst>
    <p:notesMasterId xmlns:r="http://schemas.openxmlformats.org/officeDocument/2006/relationships" r:id="R868ec545164a46e2"/>
  </p:notesMasterIdLst>
  <p:sldIdLst>
    <p:sldId xmlns:r="http://schemas.openxmlformats.org/officeDocument/2006/relationships" id="256" r:id="R6e1c6d6f037044c3"/>
    <p:sldId xmlns:r="http://schemas.openxmlformats.org/officeDocument/2006/relationships" id="257" r:id="R8401e6da67bd4d8a"/>
    <p:sldId xmlns:r="http://schemas.openxmlformats.org/officeDocument/2006/relationships" id="258" r:id="R3bc31bd94d644758"/>
    <p:sldId xmlns:r="http://schemas.openxmlformats.org/officeDocument/2006/relationships" id="259" r:id="Rdb1996f546dc459b"/>
    <p:sldId xmlns:r="http://schemas.openxmlformats.org/officeDocument/2006/relationships" id="260" r:id="R8adeab9ff4bd4f86"/>
    <p:sldId xmlns:r="http://schemas.openxmlformats.org/officeDocument/2006/relationships" id="261" r:id="R3ca09547655f4333"/>
    <p:sldId xmlns:r="http://schemas.openxmlformats.org/officeDocument/2006/relationships" id="262" r:id="Red028a3371144c78"/>
    <p:sldId xmlns:r="http://schemas.openxmlformats.org/officeDocument/2006/relationships" id="263" r:id="R26b8512406f84d20"/>
    <p:sldId xmlns:r="http://schemas.openxmlformats.org/officeDocument/2006/relationships" id="264" r:id="R0224b419a5a34f8f"/>
    <p:sldId xmlns:r="http://schemas.openxmlformats.org/officeDocument/2006/relationships" id="265" r:id="Ra4742c751c0642bb"/>
    <p:sldId xmlns:r="http://schemas.openxmlformats.org/officeDocument/2006/relationships" id="266" r:id="R016f5041a720446a"/>
    <p:sldId xmlns:r="http://schemas.openxmlformats.org/officeDocument/2006/relationships" id="267" r:id="R7faeab56f46541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e35156e336496e" /><Relationship Type="http://schemas.openxmlformats.org/officeDocument/2006/relationships/slideMaster" Target="/ppt/slideMasters/slideMaster1.xml" Id="R552b87424d3542a4" /><Relationship Type="http://schemas.openxmlformats.org/officeDocument/2006/relationships/notesMaster" Target="/ppt/notesMasters/notesMaster1.xml" Id="R868ec545164a46e2" /><Relationship Type="http://schemas.openxmlformats.org/officeDocument/2006/relationships/presProps" Target="/ppt/presProps.xml" Id="Rfdea70665ebe467c" /><Relationship Type="http://schemas.openxmlformats.org/officeDocument/2006/relationships/tableStyles" Target="/ppt/tableStyles.xml" Id="R3f1ac5e3284b4204" /><Relationship Type="http://schemas.openxmlformats.org/officeDocument/2006/relationships/slide" Target="/ppt/slides/slide1.xml" Id="R6e1c6d6f037044c3" /><Relationship Type="http://schemas.openxmlformats.org/officeDocument/2006/relationships/slide" Target="/ppt/slides/slide2.xml" Id="R8401e6da67bd4d8a" /><Relationship Type="http://schemas.openxmlformats.org/officeDocument/2006/relationships/slide" Target="/ppt/slides/slide3.xml" Id="R3bc31bd94d644758" /><Relationship Type="http://schemas.openxmlformats.org/officeDocument/2006/relationships/slide" Target="/ppt/slides/slide4.xml" Id="Rdb1996f546dc459b" /><Relationship Type="http://schemas.openxmlformats.org/officeDocument/2006/relationships/slide" Target="/ppt/slides/slide5.xml" Id="R8adeab9ff4bd4f86" /><Relationship Type="http://schemas.openxmlformats.org/officeDocument/2006/relationships/slide" Target="/ppt/slides/slide6.xml" Id="R3ca09547655f4333" /><Relationship Type="http://schemas.openxmlformats.org/officeDocument/2006/relationships/slide" Target="/ppt/slides/slide7.xml" Id="Red028a3371144c78" /><Relationship Type="http://schemas.openxmlformats.org/officeDocument/2006/relationships/slide" Target="/ppt/slides/slide8.xml" Id="R26b8512406f84d20" /><Relationship Type="http://schemas.openxmlformats.org/officeDocument/2006/relationships/slide" Target="/ppt/slides/slide9.xml" Id="R0224b419a5a34f8f" /><Relationship Type="http://schemas.openxmlformats.org/officeDocument/2006/relationships/slide" Target="/ppt/slides/slide10.xml" Id="Ra4742c751c0642bb" /><Relationship Type="http://schemas.openxmlformats.org/officeDocument/2006/relationships/slide" Target="/ppt/slides/slide11.xml" Id="R016f5041a720446a" /><Relationship Type="http://schemas.openxmlformats.org/officeDocument/2006/relationships/slide" Target="/ppt/slides/slide12.xml" Id="R7faeab56f46541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1143d178a44b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181d12d44e4cfb" /><Relationship Type="http://schemas.openxmlformats.org/officeDocument/2006/relationships/notesMaster" Target="/ppt/notesMasters/notesMaster1.xml" Id="Ra3df0dc6c99342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b5c25453114f15" /><Relationship Type="http://schemas.openxmlformats.org/officeDocument/2006/relationships/notesMaster" Target="/ppt/notesMasters/notesMaster1.xml" Id="R3cb293ea722b46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dc519ac40e44d8" /><Relationship Type="http://schemas.openxmlformats.org/officeDocument/2006/relationships/notesMaster" Target="/ppt/notesMasters/notesMaster1.xml" Id="Rcf81a56ea73947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e9b40a59624bb4" /><Relationship Type="http://schemas.openxmlformats.org/officeDocument/2006/relationships/notesMaster" Target="/ppt/notesMasters/notesMaster1.xml" Id="Rde3ede4a7e6a4e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b1ced61a964414" /><Relationship Type="http://schemas.openxmlformats.org/officeDocument/2006/relationships/notesMaster" Target="/ppt/notesMasters/notesMaster1.xml" Id="R675ad0d45dd647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95beef595e4457" /><Relationship Type="http://schemas.openxmlformats.org/officeDocument/2006/relationships/notesMaster" Target="/ppt/notesMasters/notesMaster1.xml" Id="Rf899fedb79f542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27288a8b9e47de" /><Relationship Type="http://schemas.openxmlformats.org/officeDocument/2006/relationships/notesMaster" Target="/ppt/notesMasters/notesMaster1.xml" Id="Rf4b8f7667eb94e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d407b325994d14" /><Relationship Type="http://schemas.openxmlformats.org/officeDocument/2006/relationships/notesMaster" Target="/ppt/notesMasters/notesMaster1.xml" Id="R1b882588686547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2ba6cc47904fe1" /><Relationship Type="http://schemas.openxmlformats.org/officeDocument/2006/relationships/notesMaster" Target="/ppt/notesMasters/notesMaster1.xml" Id="Rd5607cc449c846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c54d8355774acd" /><Relationship Type="http://schemas.openxmlformats.org/officeDocument/2006/relationships/notesMaster" Target="/ppt/notesMasters/notesMaster1.xml" Id="R258ac9e7e21944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046821894d44af" /><Relationship Type="http://schemas.openxmlformats.org/officeDocument/2006/relationships/notesMaster" Target="/ppt/notesMasters/notesMaster1.xml" Id="Rb1bfb309813949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cf9f5758044657" /><Relationship Type="http://schemas.openxmlformats.org/officeDocument/2006/relationships/notesMaster" Target="/ppt/notesMasters/notesMaster1.xml" Id="Rd1282bf0595a4d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introducing DevPulse as a personal IT operations workspace. Version 1 combines system diagnostics, network tools, website testing, API checks, and a developer wellness area. Source: project README and running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tool switching and fragmented evidence. DevPulse does not replace enterprise monitoring. It gives students, developers, and small teams one place to run bounded checks and understand what the server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feature map. Avoid reading every item. Pick one example from each row, then transition into the architecture and live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Blazor Server executes diagnostics on the machine hosting DevPulse. A Render deployment therefore reports Render's container, not the visitor's computer. External requests pass through validation and bounded HTTP clients. Sources: Program.cs, PublicHttpTarget.cs, TelemetryService.cs.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Operations answers whether a service can be reached now, while Telemetry preserves evidence about application behavior over time. Clarify that private addresses need explicit owner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calculator performs local arithmetic and contacts no target. Uploaded inspector files stay in memory and are not stored. SHA-256 proves integrity but cannot be decoded, while AES encryption can be reversed only with the password.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Audit combines a bounded crawler with an optional browser worker. The API Runner supports read-only public requests and restricts write methods to exact approved URLs. The DNS inspector checks MX, SPF, DMARC, DKIM, CAA, and addressing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module gives the presentation a human side. Explain that Spotify playback can remain on the user's phone or computer through Spotify Connect. Browser playback requires Premium and an explicit user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 1 has strong request-level boundaries, but the current public Render deployment exposes diagnostic pages anonymously. Before a public launch, require administrator authentication or a private access gateway. This also supports the ongoing Google Safe Browsing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credentials use .NET User Secrets. Render credentials use environment variables or a mounted secret file. Persistent storage keeps data-protection keys and encrypted sessions across container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count reflects the custom regression executable run for this release. The build, formatter, publish, and production HTTP smoke checks also passed. The Chrome Safe Browsing warning remains a launch blocker until Google identifies or clears the reported 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short live demonstration. The roadmap extends DevPulse from a single-host diagnostics workspace into a small IT operations platform. Do not promise a delivery date for Version 2 until scope and access controls are agreed.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99453c9d8c4a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68ed03c7c4f56" /><Relationship Type="http://schemas.openxmlformats.org/officeDocument/2006/relationships/slideLayout" Target="/ppt/slideLayouts/slideLayout1.xml" Id="Rca5b9db809434c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5b9db809434c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db39a9ca174843" /><Relationship Type="http://schemas.openxmlformats.org/officeDocument/2006/relationships/notesSlide" Target="/ppt/notesSlides/notesSlide1.xml" Id="R88f4b710bc184b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9db7a9f5e34ec0" /><Relationship Type="http://schemas.openxmlformats.org/officeDocument/2006/relationships/image" Target="/ppt/media/image.png" Id="R90eae431ed56460b" /><Relationship Type="http://schemas.openxmlformats.org/officeDocument/2006/relationships/notesSlide" Target="/ppt/notesSlides/notesSlide2.xml" Id="R8e08d597d99d49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9dfe70a16349f6" /><Relationship Type="http://schemas.openxmlformats.org/officeDocument/2006/relationships/notesSlide" Target="/ppt/notesSlides/notesSlide3.xml" Id="Reecaee02141e4d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4cda2830654c60" /><Relationship Type="http://schemas.openxmlformats.org/officeDocument/2006/relationships/notesSlide" Target="/ppt/notesSlides/notesSlide4.xml" Id="Rd8b1a0ae43f54d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f7f8db695c4a94" /><Relationship Type="http://schemas.openxmlformats.org/officeDocument/2006/relationships/image" Target="/ppt/media/image2.png" Id="R010ed3c609a34207" /><Relationship Type="http://schemas.openxmlformats.org/officeDocument/2006/relationships/image" Target="/ppt/media/image3.png" Id="R0750aa7027d54bfd" /><Relationship Type="http://schemas.openxmlformats.org/officeDocument/2006/relationships/notesSlide" Target="/ppt/notesSlides/notesSlide5.xml" Id="R47419c675c5741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071683b2244618" /><Relationship Type="http://schemas.openxmlformats.org/officeDocument/2006/relationships/image" Target="/ppt/media/image4.png" Id="R20131601a9124c66" /><Relationship Type="http://schemas.openxmlformats.org/officeDocument/2006/relationships/notesSlide" Target="/ppt/notesSlides/notesSlide6.xml" Id="R86e565bb02d846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0779e8a4c34d7b" /><Relationship Type="http://schemas.openxmlformats.org/officeDocument/2006/relationships/image" Target="/ppt/media/image5.png" Id="R429aeb64ed084c56" /><Relationship Type="http://schemas.openxmlformats.org/officeDocument/2006/relationships/image" Target="/ppt/media/image6.png" Id="Ree779c0d4a174d56" /><Relationship Type="http://schemas.openxmlformats.org/officeDocument/2006/relationships/notesSlide" Target="/ppt/notesSlides/notesSlide7.xml" Id="Ra3e1cfc77a854f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91e6a6344644ef" /><Relationship Type="http://schemas.openxmlformats.org/officeDocument/2006/relationships/image" Target="/ppt/media/image7.png" Id="Rda7cb7febe774568" /><Relationship Type="http://schemas.openxmlformats.org/officeDocument/2006/relationships/notesSlide" Target="/ppt/notesSlides/notesSlide8.xml" Id="R285cb46054364c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0c2a82ba0744bd" /><Relationship Type="http://schemas.openxmlformats.org/officeDocument/2006/relationships/notesSlide" Target="/ppt/notesSlides/notesSlide9.xml" Id="R3e57e8cdb2e84b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669224fe634da2" /><Relationship Type="http://schemas.openxmlformats.org/officeDocument/2006/relationships/notesSlide" Target="/ppt/notesSlides/notesSlide10.xml" Id="R975e3e079f914f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a6efab23b34b23" /><Relationship Type="http://schemas.openxmlformats.org/officeDocument/2006/relationships/notesSlide" Target="/ppt/notesSlides/notesSlide11.xml" Id="R83cf87e9a3f340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de18a812a54e29" /><Relationship Type="http://schemas.openxmlformats.org/officeDocument/2006/relationships/notesSlide" Target="/ppt/notesSlides/notesSlide12.xml" Id="R9e35c0feab274cac" /></Relationships>
</file>

<file path=ppt/slides/slide1.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C6C68C-4462-4530-9D56-538AD2AA0E0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976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FB3D8A-7949-4813-AE12-36873BFEA9C9}"/>
              </a:ext>
            </a:extLst>
          </p:cNvPr>
          <p:cNvSpPr>
            <a:spLocks xmlns:a="http://schemas.openxmlformats.org/drawingml/2006/main" noGrp="1"/>
          </p:cNvSpPr>
          <p:nvPr/>
        </p:nvSpPr>
        <p:spPr>
          <a:xfrm xmlns:a="http://schemas.openxmlformats.org/drawingml/2006/main">
            <a:off x="781050" y="7048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DP</a:t>
            </a:r>
          </a:p>
        </p:txBody>
      </p:sp>
      <p:sp>
        <p:nvSpPr>
          <p:cNvPr id="3" name="">
            <a:extLst xmlns:a="http://schemas.openxmlformats.org/drawingml/2006/main">
              <a:ext uri="{FF2B5EF4-FFF2-40B4-BE49-F238E27FC236}">
                <a16:creationId xmlns:a16="http://schemas.microsoft.com/office/drawing/2014/main" id="{DB4E502A-F1E7-4E9B-B5CC-ED30F8164728}"/>
              </a:ext>
            </a:extLst>
          </p:cNvPr>
          <p:cNvSpPr>
            <a:spLocks xmlns:a="http://schemas.openxmlformats.org/drawingml/2006/main" noGrp="1"/>
          </p:cNvSpPr>
          <p:nvPr/>
        </p:nvSpPr>
        <p:spPr>
          <a:xfrm xmlns:a="http://schemas.openxmlformats.org/drawingml/2006/main">
            <a:off x="781050" y="1866900"/>
            <a:ext cx="9906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DevPulse</a:t>
            </a:r>
          </a:p>
        </p:txBody>
      </p:sp>
      <p:sp>
        <p:nvSpPr>
          <p:cNvPr id="4" name="">
            <a:extLst xmlns:a="http://schemas.openxmlformats.org/drawingml/2006/main">
              <a:ext uri="{FF2B5EF4-FFF2-40B4-BE49-F238E27FC236}">
                <a16:creationId xmlns:a16="http://schemas.microsoft.com/office/drawing/2014/main" id="{43CBFF3C-CBF8-452B-847F-1BF31C90B24A}"/>
              </a:ext>
            </a:extLst>
          </p:cNvPr>
          <p:cNvSpPr>
            <a:spLocks xmlns:a="http://schemas.openxmlformats.org/drawingml/2006/main" noGrp="1"/>
          </p:cNvSpPr>
          <p:nvPr/>
        </p:nvSpPr>
        <p:spPr>
          <a:xfrm xmlns:a="http://schemas.openxmlformats.org/drawingml/2006/main">
            <a:off x="800100" y="28575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6D9BFF"/>
                </a:solidFill>
                <a:latin typeface="Arial"/>
                <a:ea typeface="Arial"/>
                <a:cs typeface="Arial"/>
              </a:defRPr>
            </a:pPr>
            <a:r>
              <a:rPr sz="2175" b="1">
                <a:solidFill>
                  <a:srgbClr val="6D9BFF"/>
                </a:solidFill>
                <a:latin typeface="Arial"/>
                <a:ea typeface="Arial"/>
                <a:cs typeface="Arial"/>
              </a:rPr>
              <a:t>Version 1 project presentation</a:t>
            </a:r>
          </a:p>
        </p:txBody>
      </p:sp>
      <p:sp>
        <p:nvSpPr>
          <p:cNvPr id="5" name="">
            <a:extLst xmlns:a="http://schemas.openxmlformats.org/drawingml/2006/main">
              <a:ext uri="{FF2B5EF4-FFF2-40B4-BE49-F238E27FC236}">
                <a16:creationId xmlns:a16="http://schemas.microsoft.com/office/drawing/2014/main" id="{FF5EE387-B1AD-46AF-8B69-DDC5019BFB76}"/>
              </a:ext>
            </a:extLst>
          </p:cNvPr>
          <p:cNvSpPr>
            <a:spLocks xmlns:a="http://schemas.openxmlformats.org/drawingml/2006/main" noGrp="1"/>
          </p:cNvSpPr>
          <p:nvPr/>
        </p:nvSpPr>
        <p:spPr>
          <a:xfrm xmlns:a="http://schemas.openxmlformats.org/drawingml/2006/main">
            <a:off x="800100" y="3543300"/>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0">
                <a:solidFill>
                  <a:srgbClr val="DCE6F8"/>
                </a:solidFill>
                <a:latin typeface="Arial"/>
                <a:ea typeface="Arial"/>
                <a:cs typeface="Arial"/>
              </a:defRPr>
            </a:pPr>
            <a:r>
              <a:rPr sz="2175" b="0">
                <a:solidFill>
                  <a:srgbClr val="DCE6F8"/>
                </a:solidFill>
                <a:latin typeface="Arial"/>
                <a:ea typeface="Arial"/>
                <a:cs typeface="Arial"/>
              </a:rPr>
              <a:t>IT diagnostics, testing, and developer focus in one web workspace</a:t>
            </a:r>
          </a:p>
        </p:txBody>
      </p:sp>
      <p:sp>
        <p:nvSpPr>
          <p:cNvPr id="6" name="">
            <a:extLst xmlns:a="http://schemas.openxmlformats.org/drawingml/2006/main">
              <a:ext uri="{FF2B5EF4-FFF2-40B4-BE49-F238E27FC236}">
                <a16:creationId xmlns:a16="http://schemas.microsoft.com/office/drawing/2014/main" id="{85B9685D-3E56-4AB2-A682-838E52C6784F}"/>
              </a:ext>
            </a:extLst>
          </p:cNvPr>
          <p:cNvSpPr>
            <a:spLocks xmlns:a="http://schemas.openxmlformats.org/drawingml/2006/main" noGrp="1"/>
          </p:cNvSpPr>
          <p:nvPr/>
        </p:nvSpPr>
        <p:spPr>
          <a:xfrm xmlns:a="http://schemas.openxmlformats.org/drawingml/2006/main">
            <a:off x="800100" y="582930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9FB1CF"/>
                </a:solidFill>
                <a:latin typeface="Arial"/>
                <a:ea typeface="Arial"/>
                <a:cs typeface="Arial"/>
              </a:defRPr>
            </a:pPr>
            <a:r>
              <a:rPr sz="1350" b="0">
                <a:solidFill>
                  <a:srgbClr val="9FB1CF"/>
                </a:solidFill>
                <a:latin typeface="Arial"/>
                <a:ea typeface="Arial"/>
                <a:cs typeface="Arial"/>
              </a:rPr>
              <a:t>Built with .NET 9 and Blazor Server</a:t>
            </a:r>
          </a:p>
        </p:txBody>
      </p:sp>
      <p:sp>
        <p:nvSpPr>
          <p:cNvPr id="7" name="">
            <a:extLst xmlns:a="http://schemas.openxmlformats.org/drawingml/2006/main">
              <a:ext uri="{FF2B5EF4-FFF2-40B4-BE49-F238E27FC236}">
                <a16:creationId xmlns:a16="http://schemas.microsoft.com/office/drawing/2014/main" id="{6E21E020-30AC-4C98-817F-3EA547D382F1}"/>
              </a:ext>
            </a:extLst>
          </p:cNvPr>
          <p:cNvSpPr>
            <a:spLocks xmlns:a="http://schemas.openxmlformats.org/drawingml/2006/main" noGrp="1"/>
          </p:cNvSpPr>
          <p:nvPr/>
        </p:nvSpPr>
        <p:spPr>
          <a:xfrm xmlns:a="http://schemas.openxmlformats.org/drawingml/2006/main">
            <a:off x="9658350" y="4933950"/>
            <a:ext cx="1409700" cy="1409700"/>
          </a:xfrm>
          <a:prstGeom xmlns:a="http://schemas.openxmlformats.org/drawingml/2006/main" prst="roundRect">
            <a:avLst>
              <a:gd name="adj" fmla="val 20270"/>
            </a:avLst>
          </a:prstGeom>
          <a:solidFill xmlns:a="http://schemas.openxmlformats.org/drawingml/2006/main">
            <a:srgbClr val="3976E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1BABCDD-9DB4-4639-B631-4A2A7A16058F}"/>
              </a:ext>
            </a:extLst>
          </p:cNvPr>
          <p:cNvSpPr>
            <a:spLocks xmlns:a="http://schemas.openxmlformats.org/drawingml/2006/main" noGrp="1"/>
          </p:cNvSpPr>
          <p:nvPr/>
        </p:nvSpPr>
        <p:spPr>
          <a:xfrm xmlns:a="http://schemas.openxmlformats.org/drawingml/2006/main">
            <a:off x="9658350" y="5238750"/>
            <a:ext cx="140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600" b="1">
                <a:solidFill>
                  <a:srgbClr val="FFFFFF"/>
                </a:solidFill>
                <a:latin typeface="Arial"/>
                <a:ea typeface="Arial"/>
                <a:cs typeface="Arial"/>
              </a:defRPr>
            </a:pPr>
            <a:r>
              <a:rPr sz="3600" b="1">
                <a:solidFill>
                  <a:srgbClr val="FFFFFF"/>
                </a:solidFill>
                <a:latin typeface="Arial"/>
                <a:ea typeface="Arial"/>
                <a:cs typeface="Arial"/>
              </a:rPr>
              <a:t>V1</a:t>
            </a:r>
          </a:p>
        </p:txBody>
      </p:sp>
    </p:spTree>
    <p:extLst>
      <p:ext uri="{BB962C8B-B14F-4D97-AF65-F5344CB8AC3E}">
        <p14:creationId xmlns:p14="http://schemas.microsoft.com/office/powerpoint/2010/main" val="1879484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258089-34FD-4937-A54A-E9B5F17EA663}"/>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PURPOSE</a:t>
            </a:r>
          </a:p>
        </p:txBody>
      </p:sp>
      <p:sp>
        <p:nvSpPr>
          <p:cNvPr id="2" name="">
            <a:extLst xmlns:a="http://schemas.openxmlformats.org/drawingml/2006/main">
              <a:ext uri="{FF2B5EF4-FFF2-40B4-BE49-F238E27FC236}">
                <a16:creationId xmlns:a16="http://schemas.microsoft.com/office/drawing/2014/main" id="{CC61DDC5-1F8D-41D0-8C2C-971EFF1A9DA4}"/>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The project goal</a:t>
            </a:r>
          </a:p>
        </p:txBody>
      </p:sp>
      <p:sp>
        <p:nvSpPr>
          <p:cNvPr id="3" name="">
            <a:extLst xmlns:a="http://schemas.openxmlformats.org/drawingml/2006/main">
              <a:ext uri="{FF2B5EF4-FFF2-40B4-BE49-F238E27FC236}">
                <a16:creationId xmlns:a16="http://schemas.microsoft.com/office/drawing/2014/main" id="{31F97DFE-9F07-43D6-893C-ACB878C5B192}"/>
              </a:ext>
            </a:extLst>
          </p:cNvPr>
          <p:cNvSpPr>
            <a:spLocks xmlns:a="http://schemas.openxmlformats.org/drawingml/2006/main" noGrp="1"/>
          </p:cNvSpPr>
          <p:nvPr/>
        </p:nvSpPr>
        <p:spPr>
          <a:xfrm xmlns:a="http://schemas.openxmlformats.org/drawingml/2006/main">
            <a:off x="685800" y="160020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72033"/>
                </a:solidFill>
                <a:latin typeface="Arial"/>
                <a:ea typeface="Arial"/>
                <a:cs typeface="Arial"/>
              </a:defRPr>
            </a:pPr>
            <a:r>
              <a:rPr sz="2100" b="1">
                <a:solidFill>
                  <a:srgbClr val="172033"/>
                </a:solidFill>
                <a:latin typeface="Arial"/>
                <a:ea typeface="Arial"/>
                <a:cs typeface="Arial"/>
              </a:rPr>
              <a:t>Developers often switch between operating system tools, network calculators, API clients, website auditors, and music applications.</a:t>
            </a:r>
          </a:p>
        </p:txBody>
      </p:sp>
      <p:sp>
        <p:nvSpPr>
          <p:cNvPr id="4" name="">
            <a:extLst xmlns:a="http://schemas.openxmlformats.org/drawingml/2006/main">
              <a:ext uri="{FF2B5EF4-FFF2-40B4-BE49-F238E27FC236}">
                <a16:creationId xmlns:a16="http://schemas.microsoft.com/office/drawing/2014/main" id="{D64A6E63-C704-4C64-87F1-9E0A61263EDF}"/>
              </a:ext>
            </a:extLst>
          </p:cNvPr>
          <p:cNvSpPr>
            <a:spLocks xmlns:a="http://schemas.openxmlformats.org/drawingml/2006/main" noGrp="1"/>
          </p:cNvSpPr>
          <p:nvPr/>
        </p:nvSpPr>
        <p:spPr>
          <a:xfrm xmlns:a="http://schemas.openxmlformats.org/drawingml/2006/main">
            <a:off x="685800" y="3286125"/>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5F6F8C"/>
                </a:solidFill>
                <a:latin typeface="Arial"/>
                <a:ea typeface="Arial"/>
                <a:cs typeface="Arial"/>
              </a:defRPr>
            </a:pPr>
            <a:r>
              <a:rPr sz="1725" b="0">
                <a:solidFill>
                  <a:srgbClr val="5F6F8C"/>
                </a:solidFill>
                <a:latin typeface="Arial"/>
                <a:ea typeface="Arial"/>
                <a:cs typeface="Arial"/>
              </a:rPr>
              <a:t>DevPulse brings these tasks into one controlled browser workspace. The application emphasizes bounded tests, clear ownership checks, and results that are easy to demonstrate.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0eae431ed56460b"/>
          <a:srcRect xmlns:a="http://schemas.openxmlformats.org/drawingml/2006/main" l="7737" t="0" r="7737" b="0"/>
          <a:stretch xmlns:a="http://schemas.openxmlformats.org/drawingml/2006/main">
            <a:fillRect l="0" t="0" r="0" b="0"/>
          </a:stretch>
        </p:blipFill>
        <p:spPr>
          <a:xfrm xmlns:a="http://schemas.openxmlformats.org/drawingml/2006/main">
            <a:off x="5657850" y="1466850"/>
            <a:ext cx="5848350" cy="4324350"/>
          </a:xfrm>
          <a:prstGeom xmlns:a="http://schemas.openxmlformats.org/drawingml/2006/main" prst="roundRect">
            <a:avLst>
              <a:gd name="adj" fmla="val 3524"/>
            </a:avLst>
          </a:prstGeom>
        </p:spPr>
      </p:pic>
      <p:sp>
        <p:nvSpPr>
          <p:cNvPr id="6" name="">
            <a:extLst xmlns:a="http://schemas.openxmlformats.org/drawingml/2006/main">
              <a:ext uri="{FF2B5EF4-FFF2-40B4-BE49-F238E27FC236}">
                <a16:creationId xmlns:a16="http://schemas.microsoft.com/office/drawing/2014/main" id="{AA9D88AD-16EF-4337-9959-D3C78CE02871}"/>
              </a:ext>
            </a:extLst>
          </p:cNvPr>
          <p:cNvSpPr>
            <a:spLocks xmlns:a="http://schemas.openxmlformats.org/drawingml/2006/main" noGrp="1"/>
          </p:cNvSpPr>
          <p:nvPr/>
        </p:nvSpPr>
        <p:spPr>
          <a:xfrm xmlns:a="http://schemas.openxmlformats.org/drawingml/2006/main">
            <a:off x="5657850" y="5962650"/>
            <a:ext cx="584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One workspace for day-to-day IT checks</a:t>
            </a:r>
          </a:p>
        </p:txBody>
      </p:sp>
      <p:sp>
        <p:nvSpPr>
          <p:cNvPr id="7" name="">
            <a:extLst xmlns:a="http://schemas.openxmlformats.org/drawingml/2006/main">
              <a:ext uri="{FF2B5EF4-FFF2-40B4-BE49-F238E27FC236}">
                <a16:creationId xmlns:a16="http://schemas.microsoft.com/office/drawing/2014/main" id="{7C61C5D0-1597-4B55-92A4-50D46F4D2884}"/>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CDDFD1BD-5BEB-4051-A33F-42F041DE3F44}"/>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02</a:t>
            </a:r>
          </a:p>
        </p:txBody>
      </p:sp>
    </p:spTree>
    <p:extLst>
      <p:ext uri="{BB962C8B-B14F-4D97-AF65-F5344CB8AC3E}">
        <p14:creationId xmlns:p14="http://schemas.microsoft.com/office/powerpoint/2010/main" val="116608772"/>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05DE4A1-E4D6-4AED-A08F-E8492ED1D4AD}"/>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PRODUCT</a:t>
            </a:r>
          </a:p>
        </p:txBody>
      </p:sp>
      <p:sp>
        <p:nvSpPr>
          <p:cNvPr id="2" name="">
            <a:extLst xmlns:a="http://schemas.openxmlformats.org/drawingml/2006/main">
              <a:ext uri="{FF2B5EF4-FFF2-40B4-BE49-F238E27FC236}">
                <a16:creationId xmlns:a16="http://schemas.microsoft.com/office/drawing/2014/main" id="{0F4ABD9A-474E-4659-8676-0A3C5DCA5ADC}"/>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Version 1 scope</a:t>
            </a:r>
          </a:p>
        </p:txBody>
      </p:sp>
      <p:sp>
        <p:nvSpPr>
          <p:cNvPr id="3" name="">
            <a:extLst xmlns:a="http://schemas.openxmlformats.org/drawingml/2006/main">
              <a:ext uri="{FF2B5EF4-FFF2-40B4-BE49-F238E27FC236}">
                <a16:creationId xmlns:a16="http://schemas.microsoft.com/office/drawing/2014/main" id="{961EBC46-0428-494E-812E-687D84B1A079}"/>
              </a:ext>
            </a:extLst>
          </p:cNvPr>
          <p:cNvSpPr>
            <a:spLocks xmlns:a="http://schemas.openxmlformats.org/drawingml/2006/main" noGrp="1"/>
          </p:cNvSpPr>
          <p:nvPr/>
        </p:nvSpPr>
        <p:spPr>
          <a:xfrm xmlns:a="http://schemas.openxmlformats.org/drawingml/2006/main">
            <a:off x="685800" y="1466850"/>
            <a:ext cx="95250" cy="742950"/>
          </a:xfrm>
          <a:prstGeom xmlns:a="http://schemas.openxmlformats.org/drawingml/2006/main" prst="roundRect">
            <a:avLst>
              <a:gd name="adj" fmla="val 50000"/>
            </a:avLst>
          </a:prstGeom>
          <a:solidFill xmlns:a="http://schemas.openxmlformats.org/drawingml/2006/main">
            <a:srgbClr val="3976E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CDE7AD-ECBE-44BC-B285-D396E4DCBBC1}"/>
              </a:ext>
            </a:extLst>
          </p:cNvPr>
          <p:cNvSpPr>
            <a:spLocks xmlns:a="http://schemas.openxmlformats.org/drawingml/2006/main" noGrp="1"/>
          </p:cNvSpPr>
          <p:nvPr/>
        </p:nvSpPr>
        <p:spPr>
          <a:xfrm xmlns:a="http://schemas.openxmlformats.org/drawingml/2006/main">
            <a:off x="1028700" y="1543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OBSERVE</a:t>
            </a:r>
          </a:p>
        </p:txBody>
      </p:sp>
      <p:sp>
        <p:nvSpPr>
          <p:cNvPr id="5" name="">
            <a:extLst xmlns:a="http://schemas.openxmlformats.org/drawingml/2006/main">
              <a:ext uri="{FF2B5EF4-FFF2-40B4-BE49-F238E27FC236}">
                <a16:creationId xmlns:a16="http://schemas.microsoft.com/office/drawing/2014/main" id="{2CEA3CEE-93D8-4245-850C-98306FF33658}"/>
              </a:ext>
            </a:extLst>
          </p:cNvPr>
          <p:cNvSpPr>
            <a:spLocks xmlns:a="http://schemas.openxmlformats.org/drawingml/2006/main" noGrp="1"/>
          </p:cNvSpPr>
          <p:nvPr/>
        </p:nvSpPr>
        <p:spPr>
          <a:xfrm xmlns:a="http://schemas.openxmlformats.org/drawingml/2006/main">
            <a:off x="2647950" y="15144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Host metrics, storage, processes, telemetry, incidents</a:t>
            </a:r>
          </a:p>
        </p:txBody>
      </p:sp>
      <p:sp>
        <p:nvSpPr>
          <p:cNvPr id="6" name="">
            <a:extLst xmlns:a="http://schemas.openxmlformats.org/drawingml/2006/main">
              <a:ext uri="{FF2B5EF4-FFF2-40B4-BE49-F238E27FC236}">
                <a16:creationId xmlns:a16="http://schemas.microsoft.com/office/drawing/2014/main" id="{247A1FDB-E71F-4771-B747-C09C059B5754}"/>
              </a:ext>
            </a:extLst>
          </p:cNvPr>
          <p:cNvSpPr>
            <a:spLocks xmlns:a="http://schemas.openxmlformats.org/drawingml/2006/main" noGrp="1"/>
          </p:cNvSpPr>
          <p:nvPr/>
        </p:nvSpPr>
        <p:spPr>
          <a:xfrm xmlns:a="http://schemas.openxmlformats.org/drawingml/2006/main">
            <a:off x="685800" y="2362200"/>
            <a:ext cx="95250" cy="742950"/>
          </a:xfrm>
          <a:prstGeom xmlns:a="http://schemas.openxmlformats.org/drawingml/2006/main" prst="roundRect">
            <a:avLst>
              <a:gd name="adj" fmla="val 50000"/>
            </a:avLst>
          </a:prstGeom>
          <a:solidFill xmlns:a="http://schemas.openxmlformats.org/drawingml/2006/main">
            <a:srgbClr val="17965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448F66C-13E2-4860-849B-DD31D38C3E4F}"/>
              </a:ext>
            </a:extLst>
          </p:cNvPr>
          <p:cNvSpPr>
            <a:spLocks xmlns:a="http://schemas.openxmlformats.org/drawingml/2006/main" noGrp="1"/>
          </p:cNvSpPr>
          <p:nvPr/>
        </p:nvSpPr>
        <p:spPr>
          <a:xfrm xmlns:a="http://schemas.openxmlformats.org/drawingml/2006/main">
            <a:off x="1028700" y="2438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7965A"/>
                </a:solidFill>
                <a:latin typeface="Arial"/>
                <a:ea typeface="Arial"/>
                <a:cs typeface="Arial"/>
              </a:defRPr>
            </a:pPr>
            <a:r>
              <a:rPr sz="1350" b="1">
                <a:solidFill>
                  <a:srgbClr val="17965A"/>
                </a:solidFill>
                <a:latin typeface="Arial"/>
                <a:ea typeface="Arial"/>
                <a:cs typeface="Arial"/>
              </a:rPr>
              <a:t>TEST</a:t>
            </a:r>
          </a:p>
        </p:txBody>
      </p:sp>
      <p:sp>
        <p:nvSpPr>
          <p:cNvPr id="8" name="">
            <a:extLst xmlns:a="http://schemas.openxmlformats.org/drawingml/2006/main">
              <a:ext uri="{FF2B5EF4-FFF2-40B4-BE49-F238E27FC236}">
                <a16:creationId xmlns:a16="http://schemas.microsoft.com/office/drawing/2014/main" id="{967A68FE-FE52-4877-B023-8C43905693BE}"/>
              </a:ext>
            </a:extLst>
          </p:cNvPr>
          <p:cNvSpPr>
            <a:spLocks xmlns:a="http://schemas.openxmlformats.org/drawingml/2006/main" noGrp="1"/>
          </p:cNvSpPr>
          <p:nvPr/>
        </p:nvSpPr>
        <p:spPr>
          <a:xfrm xmlns:a="http://schemas.openxmlformats.org/drawingml/2006/main">
            <a:off x="2647950" y="24098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Ping, DNS, TLS, ports, databases, websites, APIs</a:t>
            </a:r>
          </a:p>
        </p:txBody>
      </p:sp>
      <p:sp>
        <p:nvSpPr>
          <p:cNvPr id="9" name="">
            <a:extLst xmlns:a="http://schemas.openxmlformats.org/drawingml/2006/main">
              <a:ext uri="{FF2B5EF4-FFF2-40B4-BE49-F238E27FC236}">
                <a16:creationId xmlns:a16="http://schemas.microsoft.com/office/drawing/2014/main" id="{40909FD1-E213-4ABB-A08D-BA35828DD261}"/>
              </a:ext>
            </a:extLst>
          </p:cNvPr>
          <p:cNvSpPr>
            <a:spLocks xmlns:a="http://schemas.openxmlformats.org/drawingml/2006/main" noGrp="1"/>
          </p:cNvSpPr>
          <p:nvPr/>
        </p:nvSpPr>
        <p:spPr>
          <a:xfrm xmlns:a="http://schemas.openxmlformats.org/drawingml/2006/main">
            <a:off x="685800" y="3257550"/>
            <a:ext cx="95250" cy="742950"/>
          </a:xfrm>
          <a:prstGeom xmlns:a="http://schemas.openxmlformats.org/drawingml/2006/main" prst="roundRect">
            <a:avLst>
              <a:gd name="adj" fmla="val 50000"/>
            </a:avLst>
          </a:prstGeom>
          <a:solidFill xmlns:a="http://schemas.openxmlformats.org/drawingml/2006/main">
            <a:srgbClr val="7C4D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8CF3E0-46AB-45CD-9A29-F1ED6B1D93EE}"/>
              </a:ext>
            </a:extLst>
          </p:cNvPr>
          <p:cNvSpPr>
            <a:spLocks xmlns:a="http://schemas.openxmlformats.org/drawingml/2006/main" noGrp="1"/>
          </p:cNvSpPr>
          <p:nvPr/>
        </p:nvSpPr>
        <p:spPr>
          <a:xfrm xmlns:a="http://schemas.openxmlformats.org/drawingml/2006/main">
            <a:off x="1028700" y="33337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C4DCC"/>
                </a:solidFill>
                <a:latin typeface="Arial"/>
                <a:ea typeface="Arial"/>
                <a:cs typeface="Arial"/>
              </a:defRPr>
            </a:pPr>
            <a:r>
              <a:rPr sz="1350" b="1">
                <a:solidFill>
                  <a:srgbClr val="7C4DCC"/>
                </a:solidFill>
                <a:latin typeface="Arial"/>
                <a:ea typeface="Arial"/>
                <a:cs typeface="Arial"/>
              </a:rPr>
              <a:t>INSPECT</a:t>
            </a:r>
          </a:p>
        </p:txBody>
      </p:sp>
      <p:sp>
        <p:nvSpPr>
          <p:cNvPr id="11" name="">
            <a:extLst xmlns:a="http://schemas.openxmlformats.org/drawingml/2006/main">
              <a:ext uri="{FF2B5EF4-FFF2-40B4-BE49-F238E27FC236}">
                <a16:creationId xmlns:a16="http://schemas.microsoft.com/office/drawing/2014/main" id="{A0FB868D-44FB-4861-A99D-9697EE656D64}"/>
              </a:ext>
            </a:extLst>
          </p:cNvPr>
          <p:cNvSpPr>
            <a:spLocks xmlns:a="http://schemas.openxmlformats.org/drawingml/2006/main" noGrp="1"/>
          </p:cNvSpPr>
          <p:nvPr/>
        </p:nvSpPr>
        <p:spPr>
          <a:xfrm xmlns:a="http://schemas.openxmlformats.org/drawingml/2006/main">
            <a:off x="2647950" y="33051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JSON, JWT, SHA-256, encrypted files, DNS email policy</a:t>
            </a:r>
          </a:p>
        </p:txBody>
      </p:sp>
      <p:sp>
        <p:nvSpPr>
          <p:cNvPr id="12" name="">
            <a:extLst xmlns:a="http://schemas.openxmlformats.org/drawingml/2006/main">
              <a:ext uri="{FF2B5EF4-FFF2-40B4-BE49-F238E27FC236}">
                <a16:creationId xmlns:a16="http://schemas.microsoft.com/office/drawing/2014/main" id="{AAE8690A-1D90-4911-AC73-A18CAABD1CCF}"/>
              </a:ext>
            </a:extLst>
          </p:cNvPr>
          <p:cNvSpPr>
            <a:spLocks xmlns:a="http://schemas.openxmlformats.org/drawingml/2006/main" noGrp="1"/>
          </p:cNvSpPr>
          <p:nvPr/>
        </p:nvSpPr>
        <p:spPr>
          <a:xfrm xmlns:a="http://schemas.openxmlformats.org/drawingml/2006/main">
            <a:off x="685800" y="4152900"/>
            <a:ext cx="95250" cy="742950"/>
          </a:xfrm>
          <a:prstGeom xmlns:a="http://schemas.openxmlformats.org/drawingml/2006/main" prst="roundRect">
            <a:avLst>
              <a:gd name="adj" fmla="val 50000"/>
            </a:avLst>
          </a:prstGeom>
          <a:solidFill xmlns:a="http://schemas.openxmlformats.org/drawingml/2006/main">
            <a:srgbClr val="D4861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F0F865F-F081-4746-AD7F-68D85EF2C6E2}"/>
              </a:ext>
            </a:extLst>
          </p:cNvPr>
          <p:cNvSpPr>
            <a:spLocks xmlns:a="http://schemas.openxmlformats.org/drawingml/2006/main" noGrp="1"/>
          </p:cNvSpPr>
          <p:nvPr/>
        </p:nvSpPr>
        <p:spPr>
          <a:xfrm xmlns:a="http://schemas.openxmlformats.org/drawingml/2006/main">
            <a:off x="1028700" y="42291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D4861A"/>
                </a:solidFill>
                <a:latin typeface="Arial"/>
                <a:ea typeface="Arial"/>
                <a:cs typeface="Arial"/>
              </a:defRPr>
            </a:pPr>
            <a:r>
              <a:rPr sz="1350" b="1">
                <a:solidFill>
                  <a:srgbClr val="D4861A"/>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271BE11A-C823-4C01-A8C9-4898D9D8F498}"/>
              </a:ext>
            </a:extLst>
          </p:cNvPr>
          <p:cNvSpPr>
            <a:spLocks xmlns:a="http://schemas.openxmlformats.org/drawingml/2006/main" noGrp="1"/>
          </p:cNvSpPr>
          <p:nvPr/>
        </p:nvSpPr>
        <p:spPr>
          <a:xfrm xmlns:a="http://schemas.openxmlformats.org/drawingml/2006/main">
            <a:off x="2647950" y="42005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IPv4, IPv6, VLSM, routes, bandwidth, MTU and MSS</a:t>
            </a:r>
          </a:p>
        </p:txBody>
      </p:sp>
      <p:sp>
        <p:nvSpPr>
          <p:cNvPr id="15" name="">
            <a:extLst xmlns:a="http://schemas.openxmlformats.org/drawingml/2006/main">
              <a:ext uri="{FF2B5EF4-FFF2-40B4-BE49-F238E27FC236}">
                <a16:creationId xmlns:a16="http://schemas.microsoft.com/office/drawing/2014/main" id="{6C113EC0-B3AE-4C65-A0C4-DE36BFE39DAC}"/>
              </a:ext>
            </a:extLst>
          </p:cNvPr>
          <p:cNvSpPr>
            <a:spLocks xmlns:a="http://schemas.openxmlformats.org/drawingml/2006/main" noGrp="1"/>
          </p:cNvSpPr>
          <p:nvPr/>
        </p:nvSpPr>
        <p:spPr>
          <a:xfrm xmlns:a="http://schemas.openxmlformats.org/drawingml/2006/main">
            <a:off x="685800" y="5048250"/>
            <a:ext cx="95250" cy="742950"/>
          </a:xfrm>
          <a:prstGeom xmlns:a="http://schemas.openxmlformats.org/drawingml/2006/main" prst="roundRect">
            <a:avLst>
              <a:gd name="adj" fmla="val 50000"/>
            </a:avLst>
          </a:prstGeom>
          <a:solidFill xmlns:a="http://schemas.openxmlformats.org/drawingml/2006/main">
            <a:srgbClr val="1379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B191F1D-BC8B-480E-838C-87541B140D62}"/>
              </a:ext>
            </a:extLst>
          </p:cNvPr>
          <p:cNvSpPr>
            <a:spLocks xmlns:a="http://schemas.openxmlformats.org/drawingml/2006/main" noGrp="1"/>
          </p:cNvSpPr>
          <p:nvPr/>
        </p:nvSpPr>
        <p:spPr>
          <a:xfrm xmlns:a="http://schemas.openxmlformats.org/drawingml/2006/main">
            <a:off x="1028700" y="51244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3795B"/>
                </a:solidFill>
                <a:latin typeface="Arial"/>
                <a:ea typeface="Arial"/>
                <a:cs typeface="Arial"/>
              </a:defRPr>
            </a:pPr>
            <a:r>
              <a:rPr sz="1350" b="1">
                <a:solidFill>
                  <a:srgbClr val="13795B"/>
                </a:solidFill>
                <a:latin typeface="Arial"/>
                <a:ea typeface="Arial"/>
                <a:cs typeface="Arial"/>
              </a:rPr>
              <a:t>FOCUS</a:t>
            </a:r>
          </a:p>
        </p:txBody>
      </p:sp>
      <p:sp>
        <p:nvSpPr>
          <p:cNvPr id="17" name="">
            <a:extLst xmlns:a="http://schemas.openxmlformats.org/drawingml/2006/main">
              <a:ext uri="{FF2B5EF4-FFF2-40B4-BE49-F238E27FC236}">
                <a16:creationId xmlns:a16="http://schemas.microsoft.com/office/drawing/2014/main" id="{1207B516-3225-465E-AEA3-4964801D18AA}"/>
              </a:ext>
            </a:extLst>
          </p:cNvPr>
          <p:cNvSpPr>
            <a:spLocks xmlns:a="http://schemas.openxmlformats.org/drawingml/2006/main" noGrp="1"/>
          </p:cNvSpPr>
          <p:nvPr/>
        </p:nvSpPr>
        <p:spPr>
          <a:xfrm xmlns:a="http://schemas.openxmlformats.org/drawingml/2006/main">
            <a:off x="2647950" y="50958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Timer, breathing, ambient sound, reflection, Spotify</a:t>
            </a:r>
          </a:p>
        </p:txBody>
      </p:sp>
      <p:sp>
        <p:nvSpPr>
          <p:cNvPr id="18" name="">
            <a:extLst xmlns:a="http://schemas.openxmlformats.org/drawingml/2006/main">
              <a:ext uri="{FF2B5EF4-FFF2-40B4-BE49-F238E27FC236}">
                <a16:creationId xmlns:a16="http://schemas.microsoft.com/office/drawing/2014/main" id="{87247B67-8689-421D-80D2-08EAA249230B}"/>
              </a:ext>
            </a:extLst>
          </p:cNvPr>
          <p:cNvSpPr>
            <a:spLocks xmlns:a="http://schemas.openxmlformats.org/drawingml/2006/main" noGrp="1"/>
          </p:cNvSpPr>
          <p:nvPr/>
        </p:nvSpPr>
        <p:spPr>
          <a:xfrm xmlns:a="http://schemas.openxmlformats.org/drawingml/2006/main">
            <a:off x="685800" y="60579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The same navigation supports technical demonstrations and daily use.</a:t>
            </a:r>
          </a:p>
        </p:txBody>
      </p:sp>
      <p:sp>
        <p:nvSpPr>
          <p:cNvPr id="19" name="">
            <a:extLst xmlns:a="http://schemas.openxmlformats.org/drawingml/2006/main">
              <a:ext uri="{FF2B5EF4-FFF2-40B4-BE49-F238E27FC236}">
                <a16:creationId xmlns:a16="http://schemas.microsoft.com/office/drawing/2014/main" id="{919D2FDF-A229-4233-8C23-11125BB23588}"/>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D82A0E09-2E0E-42AF-AEF2-FD5FBC07A90C}"/>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03</a:t>
            </a:r>
          </a:p>
        </p:txBody>
      </p:sp>
    </p:spTree>
    <p:extLst>
      <p:ext uri="{BB962C8B-B14F-4D97-AF65-F5344CB8AC3E}">
        <p14:creationId xmlns:p14="http://schemas.microsoft.com/office/powerpoint/2010/main" val="223992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85628C4-A7F7-4B1E-9FC0-1043848425B7}"/>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055035A3-45C9-4F2E-89DB-540A2CB34E90}"/>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Application architecture</a:t>
            </a:r>
          </a:p>
        </p:txBody>
      </p:sp>
      <p:sp>
        <p:nvSpPr>
          <p:cNvPr id="3" name="">
            <a:extLst xmlns:a="http://schemas.openxmlformats.org/drawingml/2006/main">
              <a:ext uri="{FF2B5EF4-FFF2-40B4-BE49-F238E27FC236}">
                <a16:creationId xmlns:a16="http://schemas.microsoft.com/office/drawing/2014/main" id="{150D5CCC-C432-4639-BBB9-8FA369AA5FBA}"/>
              </a:ext>
            </a:extLst>
          </p:cNvPr>
          <p:cNvSpPr>
            <a:spLocks xmlns:a="http://schemas.openxmlformats.org/drawingml/2006/main" noGrp="1"/>
          </p:cNvSpPr>
          <p:nvPr/>
        </p:nvSpPr>
        <p:spPr>
          <a:xfrm xmlns:a="http://schemas.openxmlformats.org/drawingml/2006/main">
            <a:off x="704850" y="1962150"/>
            <a:ext cx="2286000" cy="1466850"/>
          </a:xfrm>
          <a:prstGeom xmlns:a="http://schemas.openxmlformats.org/drawingml/2006/main" prst="roundRect">
            <a:avLst>
              <a:gd name="adj" fmla="val 11688"/>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023CCBAD-1688-4C66-B70D-769ADFC3B6E4}"/>
              </a:ext>
            </a:extLst>
          </p:cNvPr>
          <p:cNvSpPr>
            <a:spLocks xmlns:a="http://schemas.openxmlformats.org/drawingml/2006/main" noGrp="1"/>
          </p:cNvSpPr>
          <p:nvPr/>
        </p:nvSpPr>
        <p:spPr>
          <a:xfrm xmlns:a="http://schemas.openxmlformats.org/drawingml/2006/main">
            <a:off x="933450" y="21907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72033"/>
                </a:solidFill>
                <a:latin typeface="Arial"/>
                <a:ea typeface="Arial"/>
                <a:cs typeface="Arial"/>
              </a:defRPr>
            </a:pPr>
            <a:r>
              <a:rPr sz="2100" b="1">
                <a:solidFill>
                  <a:srgbClr val="172033"/>
                </a:solidFill>
                <a:latin typeface="Arial"/>
                <a:ea typeface="Arial"/>
                <a:cs typeface="Arial"/>
              </a:rPr>
              <a:t>Browser</a:t>
            </a:r>
          </a:p>
        </p:txBody>
      </p:sp>
      <p:sp>
        <p:nvSpPr>
          <p:cNvPr id="5" name="">
            <a:extLst xmlns:a="http://schemas.openxmlformats.org/drawingml/2006/main">
              <a:ext uri="{FF2B5EF4-FFF2-40B4-BE49-F238E27FC236}">
                <a16:creationId xmlns:a16="http://schemas.microsoft.com/office/drawing/2014/main" id="{AD093235-908F-48CB-A819-ED51599E7C72}"/>
              </a:ext>
            </a:extLst>
          </p:cNvPr>
          <p:cNvSpPr>
            <a:spLocks xmlns:a="http://schemas.openxmlformats.org/drawingml/2006/main" noGrp="1"/>
          </p:cNvSpPr>
          <p:nvPr/>
        </p:nvSpPr>
        <p:spPr>
          <a:xfrm xmlns:a="http://schemas.openxmlformats.org/drawingml/2006/main">
            <a:off x="933450" y="26670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506"/>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Interactive Blazor circuit</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actions and live updates</a:t>
            </a:r>
          </a:p>
        </p:txBody>
      </p:sp>
      <p:sp>
        <p:nvSpPr>
          <p:cNvPr id="6" name="">
            <a:extLst xmlns:a="http://schemas.openxmlformats.org/drawingml/2006/main">
              <a:ext uri="{FF2B5EF4-FFF2-40B4-BE49-F238E27FC236}">
                <a16:creationId xmlns:a16="http://schemas.microsoft.com/office/drawing/2014/main" id="{B95FEC00-0635-496E-8D5D-7C7E378A734F}"/>
              </a:ext>
            </a:extLst>
          </p:cNvPr>
          <p:cNvSpPr>
            <a:spLocks xmlns:a="http://schemas.openxmlformats.org/drawingml/2006/main" noGrp="1"/>
          </p:cNvSpPr>
          <p:nvPr/>
        </p:nvSpPr>
        <p:spPr>
          <a:xfrm xmlns:a="http://schemas.openxmlformats.org/drawingml/2006/main">
            <a:off x="4324350" y="1600200"/>
            <a:ext cx="3333750" cy="2190750"/>
          </a:xfrm>
          <a:prstGeom xmlns:a="http://schemas.openxmlformats.org/drawingml/2006/main" prst="roundRect">
            <a:avLst>
              <a:gd name="adj" fmla="val 9565"/>
            </a:avLst>
          </a:prstGeom>
          <a:solidFill xmlns:a="http://schemas.openxmlformats.org/drawingml/2006/main">
            <a:srgbClr val="111C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EDD46F-C212-476F-AE2F-152B2E8DC4D1}"/>
              </a:ext>
            </a:extLst>
          </p:cNvPr>
          <p:cNvSpPr>
            <a:spLocks xmlns:a="http://schemas.openxmlformats.org/drawingml/2006/main" noGrp="1"/>
          </p:cNvSpPr>
          <p:nvPr/>
        </p:nvSpPr>
        <p:spPr>
          <a:xfrm xmlns:a="http://schemas.openxmlformats.org/drawingml/2006/main">
            <a:off x="46101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362"/>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.NET 9 Blazor Server</a:t>
            </a:r>
          </a:p>
        </p:txBody>
      </p:sp>
      <p:sp>
        <p:nvSpPr>
          <p:cNvPr id="8" name="">
            <a:extLst xmlns:a="http://schemas.openxmlformats.org/drawingml/2006/main">
              <a:ext uri="{FF2B5EF4-FFF2-40B4-BE49-F238E27FC236}">
                <a16:creationId xmlns:a16="http://schemas.microsoft.com/office/drawing/2014/main" id="{C7BA7E4F-4DD8-44F4-9887-3BC7D4E1CF36}"/>
              </a:ext>
            </a:extLst>
          </p:cNvPr>
          <p:cNvSpPr>
            <a:spLocks xmlns:a="http://schemas.openxmlformats.org/drawingml/2006/main" noGrp="1"/>
          </p:cNvSpPr>
          <p:nvPr/>
        </p:nvSpPr>
        <p:spPr>
          <a:xfrm xmlns:a="http://schemas.openxmlformats.org/drawingml/2006/main">
            <a:off x="4667250" y="25908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Razor components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Application services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Safety validation</a:t>
            </a:r>
          </a:p>
        </p:txBody>
      </p:sp>
      <p:sp>
        <p:nvSpPr>
          <p:cNvPr id="9" name="">
            <a:extLst xmlns:a="http://schemas.openxmlformats.org/drawingml/2006/main">
              <a:ext uri="{FF2B5EF4-FFF2-40B4-BE49-F238E27FC236}">
                <a16:creationId xmlns:a16="http://schemas.microsoft.com/office/drawing/2014/main" id="{862F3769-B798-40BA-AF38-08825975F379}"/>
              </a:ext>
            </a:extLst>
          </p:cNvPr>
          <p:cNvSpPr>
            <a:spLocks xmlns:a="http://schemas.openxmlformats.org/drawingml/2006/main" noGrp="1"/>
          </p:cNvSpPr>
          <p:nvPr/>
        </p:nvSpPr>
        <p:spPr>
          <a:xfrm xmlns:a="http://schemas.openxmlformats.org/drawingml/2006/main">
            <a:off x="8991600" y="1085850"/>
            <a:ext cx="2495550" cy="1714500"/>
          </a:xfrm>
          <a:prstGeom xmlns:a="http://schemas.openxmlformats.org/drawingml/2006/main" prst="roundRect">
            <a:avLst>
              <a:gd name="adj" fmla="val 10000"/>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95C7B4A8-FB35-4F0B-B3A2-8095B9903E7C}"/>
              </a:ext>
            </a:extLst>
          </p:cNvPr>
          <p:cNvSpPr>
            <a:spLocks xmlns:a="http://schemas.openxmlformats.org/drawingml/2006/main" noGrp="1"/>
          </p:cNvSpPr>
          <p:nvPr/>
        </p:nvSpPr>
        <p:spPr>
          <a:xfrm xmlns:a="http://schemas.openxmlformats.org/drawingml/2006/main">
            <a:off x="9239250" y="13716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086"/>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System and storage</a:t>
            </a:r>
          </a:p>
        </p:txBody>
      </p:sp>
      <p:sp>
        <p:nvSpPr>
          <p:cNvPr id="11" name="">
            <a:extLst xmlns:a="http://schemas.openxmlformats.org/drawingml/2006/main">
              <a:ext uri="{FF2B5EF4-FFF2-40B4-BE49-F238E27FC236}">
                <a16:creationId xmlns:a16="http://schemas.microsoft.com/office/drawing/2014/main" id="{E6C1C9CD-8618-4213-975F-5B28274877FE}"/>
              </a:ext>
            </a:extLst>
          </p:cNvPr>
          <p:cNvSpPr>
            <a:spLocks xmlns:a="http://schemas.openxmlformats.org/drawingml/2006/main" noGrp="1"/>
          </p:cNvSpPr>
          <p:nvPr/>
        </p:nvSpPr>
        <p:spPr>
          <a:xfrm xmlns:a="http://schemas.openxmlformats.org/drawingml/2006/main">
            <a:off x="9239250" y="19050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Runtime metrics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Processes and files</a:t>
            </a:r>
          </a:p>
        </p:txBody>
      </p:sp>
      <p:sp>
        <p:nvSpPr>
          <p:cNvPr id="12" name="">
            <a:extLst xmlns:a="http://schemas.openxmlformats.org/drawingml/2006/main">
              <a:ext uri="{FF2B5EF4-FFF2-40B4-BE49-F238E27FC236}">
                <a16:creationId xmlns:a16="http://schemas.microsoft.com/office/drawing/2014/main" id="{79E0B414-410C-4F9A-B910-C66359826BEF}"/>
              </a:ext>
            </a:extLst>
          </p:cNvPr>
          <p:cNvSpPr>
            <a:spLocks xmlns:a="http://schemas.openxmlformats.org/drawingml/2006/main" noGrp="1"/>
          </p:cNvSpPr>
          <p:nvPr/>
        </p:nvSpPr>
        <p:spPr>
          <a:xfrm xmlns:a="http://schemas.openxmlformats.org/drawingml/2006/main">
            <a:off x="8991600" y="3409950"/>
            <a:ext cx="2495550" cy="1714500"/>
          </a:xfrm>
          <a:prstGeom xmlns:a="http://schemas.openxmlformats.org/drawingml/2006/main" prst="roundRect">
            <a:avLst>
              <a:gd name="adj" fmla="val 10000"/>
            </a:avLst>
          </a:prstGeom>
          <a:solidFill xmlns:a="http://schemas.openxmlformats.org/drawingml/2006/main">
            <a:srgbClr val="FFF5E6"/>
          </a:solidFill>
          <a:ln xmlns:a="http://schemas.openxmlformats.org/drawingml/2006/main" w="9525">
            <a:solidFill>
              <a:srgbClr val="E8C991"/>
            </a:solidFill>
          </a:ln>
        </p:spPr>
      </p:sp>
      <p:sp>
        <p:nvSpPr>
          <p:cNvPr id="13" name="">
            <a:extLst xmlns:a="http://schemas.openxmlformats.org/drawingml/2006/main">
              <a:ext uri="{FF2B5EF4-FFF2-40B4-BE49-F238E27FC236}">
                <a16:creationId xmlns:a16="http://schemas.microsoft.com/office/drawing/2014/main" id="{D797B17D-5A29-4755-91DF-9212A6F95247}"/>
              </a:ext>
            </a:extLst>
          </p:cNvPr>
          <p:cNvSpPr>
            <a:spLocks xmlns:a="http://schemas.openxmlformats.org/drawingml/2006/main" noGrp="1"/>
          </p:cNvSpPr>
          <p:nvPr/>
        </p:nvSpPr>
        <p:spPr>
          <a:xfrm xmlns:a="http://schemas.openxmlformats.org/drawingml/2006/main">
            <a:off x="9239250" y="3695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094"/>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Approved services</a:t>
            </a:r>
          </a:p>
        </p:txBody>
      </p:sp>
      <p:sp>
        <p:nvSpPr>
          <p:cNvPr id="14" name="">
            <a:extLst xmlns:a="http://schemas.openxmlformats.org/drawingml/2006/main">
              <a:ext uri="{FF2B5EF4-FFF2-40B4-BE49-F238E27FC236}">
                <a16:creationId xmlns:a16="http://schemas.microsoft.com/office/drawing/2014/main" id="{3D26C370-56C5-4CCA-9528-32E39BC3D423}"/>
              </a:ext>
            </a:extLst>
          </p:cNvPr>
          <p:cNvSpPr>
            <a:spLocks xmlns:a="http://schemas.openxmlformats.org/drawingml/2006/main" noGrp="1"/>
          </p:cNvSpPr>
          <p:nvPr/>
        </p:nvSpPr>
        <p:spPr>
          <a:xfrm xmlns:a="http://schemas.openxmlformats.org/drawingml/2006/main">
            <a:off x="9239250" y="42291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Websites, APIs, DNS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Spotify and OTLP</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990850" y="2695575"/>
            <a:ext cx="1333500"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flipV="1">
            <a:off x="7658100" y="1943100"/>
            <a:ext cx="1333500" cy="752475"/>
          </a:xfrm>
          <a:prstGeom xmlns:a="http://schemas.openxmlformats.org/drawingml/2006/main" prst="bentConnector3">
            <a:avLst>
              <a:gd name="adj1" fmla="val 50000"/>
            </a:avLst>
          </a:prstGeom>
          <a:ln xmlns:a="http://schemas.openxmlformats.org/drawingml/2006/main" w="28575">
            <a:solidFill>
              <a:srgbClr val="17965A"/>
            </a:solidFill>
            <a:prstDash val="solid"/>
            <a:tailEnd type="triangle" w="sm" len="sm"/>
          </a:ln>
        </p:spPr>
      </p:cxnSp>
      <p:cxnSp>
        <p:nvCxnSpPr>
          <p:cNvPr id="37" name=""/>
          <p:cNvCxnSpPr>
            <a:stCxn xmlns:a="http://schemas.openxmlformats.org/drawingml/2006/main" id="6" idx="3"/>
            <a:endCxn xmlns:a="http://schemas.openxmlformats.org/drawingml/2006/main" id="12" idx="1"/>
          </p:cNvCxnSpPr>
          <p:nvPr/>
        </p:nvCxnSpPr>
        <p:spPr>
          <a:xfrm xmlns:a="http://schemas.openxmlformats.org/drawingml/2006/main">
            <a:off x="7658100" y="2695575"/>
            <a:ext cx="1333500" cy="1571625"/>
          </a:xfrm>
          <a:prstGeom xmlns:a="http://schemas.openxmlformats.org/drawingml/2006/main" prst="bentConnector3">
            <a:avLst>
              <a:gd name="adj1" fmla="val 50000"/>
            </a:avLst>
          </a:prstGeom>
          <a:ln xmlns:a="http://schemas.openxmlformats.org/drawingml/2006/main" w="28575">
            <a:solidFill>
              <a:srgbClr val="D4861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314DA452-3429-461B-AEBC-91E28221651C}"/>
              </a:ext>
            </a:extLst>
          </p:cNvPr>
          <p:cNvSpPr>
            <a:spLocks xmlns:a="http://schemas.openxmlformats.org/drawingml/2006/main" noGrp="1"/>
          </p:cNvSpPr>
          <p:nvPr/>
        </p:nvSpPr>
        <p:spPr>
          <a:xfrm xmlns:a="http://schemas.openxmlformats.org/drawingml/2006/main">
            <a:off x="3752850" y="489585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5F6F8C"/>
                </a:solidFill>
                <a:latin typeface="Arial"/>
                <a:ea typeface="Arial"/>
                <a:cs typeface="Arial"/>
              </a:defRPr>
            </a:pPr>
            <a:r>
              <a:rPr sz="1500" b="0">
                <a:solidFill>
                  <a:srgbClr val="5F6F8C"/>
                </a:solidFill>
                <a:latin typeface="Arial"/>
                <a:ea typeface="Arial"/>
                <a:cs typeface="Arial"/>
              </a:rPr>
              <a:t>Encrypted session state and bounded telemetry journals use the configured data directory.</a:t>
            </a:r>
          </a:p>
        </p:txBody>
      </p:sp>
      <p:sp>
        <p:nvSpPr>
          <p:cNvPr id="19" name="">
            <a:extLst xmlns:a="http://schemas.openxmlformats.org/drawingml/2006/main">
              <a:ext uri="{FF2B5EF4-FFF2-40B4-BE49-F238E27FC236}">
                <a16:creationId xmlns:a16="http://schemas.microsoft.com/office/drawing/2014/main" id="{B3B9F156-94C0-40AC-AABF-2F6E248A673C}"/>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D8CE93D8-EDF6-4723-90FA-E768E034967C}"/>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04</a:t>
            </a:r>
          </a:p>
        </p:txBody>
      </p:sp>
    </p:spTree>
    <p:extLst>
      <p:ext uri="{BB962C8B-B14F-4D97-AF65-F5344CB8AC3E}">
        <p14:creationId xmlns:p14="http://schemas.microsoft.com/office/powerpoint/2010/main" val="5213376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5E7B4E-E9B5-4F62-827F-CF46B3545EEC}"/>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OBSERVE</a:t>
            </a:r>
          </a:p>
        </p:txBody>
      </p:sp>
      <p:sp>
        <p:nvSpPr>
          <p:cNvPr id="2" name="">
            <a:extLst xmlns:a="http://schemas.openxmlformats.org/drawingml/2006/main">
              <a:ext uri="{FF2B5EF4-FFF2-40B4-BE49-F238E27FC236}">
                <a16:creationId xmlns:a16="http://schemas.microsoft.com/office/drawing/2014/main" id="{4FAB8B8B-FA77-43A7-ADE3-087E5053F2B8}"/>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Operations and telemetry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0ed3c609a34207"/>
          <a:srcRect xmlns:a="http://schemas.openxmlformats.org/drawingml/2006/main" l="5863" t="0" r="5863" b="0"/>
          <a:stretch xmlns:a="http://schemas.openxmlformats.org/drawingml/2006/main">
            <a:fillRect l="0" t="0" r="0" b="0"/>
          </a:stretch>
        </p:blipFill>
        <p:spPr>
          <a:xfrm xmlns:a="http://schemas.openxmlformats.org/drawingml/2006/main">
            <a:off x="685800" y="1447800"/>
            <a:ext cx="5219700" cy="3695700"/>
          </a:xfrm>
          <a:prstGeom xmlns:a="http://schemas.openxmlformats.org/drawingml/2006/main" prst="roundRect">
            <a:avLst>
              <a:gd name="adj" fmla="val 4124"/>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750aa7027d54bfd"/>
          <a:srcRect xmlns:a="http://schemas.openxmlformats.org/drawingml/2006/main" l="5863" t="0" r="5863" b="0"/>
          <a:stretch xmlns:a="http://schemas.openxmlformats.org/drawingml/2006/main">
            <a:fillRect l="0" t="0" r="0" b="0"/>
          </a:stretch>
        </p:blipFill>
        <p:spPr>
          <a:xfrm xmlns:a="http://schemas.openxmlformats.org/drawingml/2006/main">
            <a:off x="6286500" y="1447800"/>
            <a:ext cx="5219700" cy="3695700"/>
          </a:xfrm>
          <a:prstGeom xmlns:a="http://schemas.openxmlformats.org/drawingml/2006/main" prst="roundRect">
            <a:avLst>
              <a:gd name="adj" fmla="val 4124"/>
            </a:avLst>
          </a:prstGeom>
        </p:spPr>
      </p:pic>
      <p:sp>
        <p:nvSpPr>
          <p:cNvPr id="5" name="">
            <a:extLst xmlns:a="http://schemas.openxmlformats.org/drawingml/2006/main">
              <a:ext uri="{FF2B5EF4-FFF2-40B4-BE49-F238E27FC236}">
                <a16:creationId xmlns:a16="http://schemas.microsoft.com/office/drawing/2014/main" id="{71447980-0CE0-43A8-A81F-C8FB9A8D4157}"/>
              </a:ext>
            </a:extLst>
          </p:cNvPr>
          <p:cNvSpPr>
            <a:spLocks xmlns:a="http://schemas.openxmlformats.org/drawingml/2006/main" noGrp="1"/>
          </p:cNvSpPr>
          <p:nvPr/>
        </p:nvSpPr>
        <p:spPr>
          <a:xfrm xmlns:a="http://schemas.openxmlformats.org/drawingml/2006/main">
            <a:off x="6858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976ED"/>
                </a:solidFill>
                <a:latin typeface="Arial"/>
                <a:ea typeface="Arial"/>
                <a:cs typeface="Arial"/>
              </a:defRPr>
            </a:pPr>
            <a:r>
              <a:rPr sz="1650" b="1">
                <a:solidFill>
                  <a:srgbClr val="3976ED"/>
                </a:solidFill>
                <a:latin typeface="Arial"/>
                <a:ea typeface="Arial"/>
                <a:cs typeface="Arial"/>
              </a:rPr>
              <a:t>Bounded checks</a:t>
            </a:r>
          </a:p>
        </p:txBody>
      </p:sp>
      <p:sp>
        <p:nvSpPr>
          <p:cNvPr id="6" name="">
            <a:extLst xmlns:a="http://schemas.openxmlformats.org/drawingml/2006/main">
              <a:ext uri="{FF2B5EF4-FFF2-40B4-BE49-F238E27FC236}">
                <a16:creationId xmlns:a16="http://schemas.microsoft.com/office/drawing/2014/main" id="{E48ED8B2-B7EF-48EF-9805-47F02DD7C652}"/>
              </a:ext>
            </a:extLst>
          </p:cNvPr>
          <p:cNvSpPr>
            <a:spLocks xmlns:a="http://schemas.openxmlformats.org/drawingml/2006/main" noGrp="1"/>
          </p:cNvSpPr>
          <p:nvPr/>
        </p:nvSpPr>
        <p:spPr>
          <a:xfrm xmlns:a="http://schemas.openxmlformats.org/drawingml/2006/main">
            <a:off x="685800" y="56959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HTTP, TCP, ping, DNS, TLS, database connectivity, and approved log files</a:t>
            </a:r>
          </a:p>
        </p:txBody>
      </p:sp>
      <p:sp>
        <p:nvSpPr>
          <p:cNvPr id="7" name="">
            <a:extLst xmlns:a="http://schemas.openxmlformats.org/drawingml/2006/main">
              <a:ext uri="{FF2B5EF4-FFF2-40B4-BE49-F238E27FC236}">
                <a16:creationId xmlns:a16="http://schemas.microsoft.com/office/drawing/2014/main" id="{6B7C41AF-3A83-4211-903F-EC180383D7D1}"/>
              </a:ext>
            </a:extLst>
          </p:cNvPr>
          <p:cNvSpPr>
            <a:spLocks xmlns:a="http://schemas.openxmlformats.org/drawingml/2006/main" noGrp="1"/>
          </p:cNvSpPr>
          <p:nvPr/>
        </p:nvSpPr>
        <p:spPr>
          <a:xfrm xmlns:a="http://schemas.openxmlformats.org/drawingml/2006/main">
            <a:off x="62865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965A"/>
                </a:solidFill>
                <a:latin typeface="Arial"/>
                <a:ea typeface="Arial"/>
                <a:cs typeface="Arial"/>
              </a:defRPr>
            </a:pPr>
            <a:r>
              <a:rPr sz="1650" b="1">
                <a:solidFill>
                  <a:srgbClr val="17965A"/>
                </a:solidFill>
                <a:latin typeface="Arial"/>
                <a:ea typeface="Arial"/>
                <a:cs typeface="Arial"/>
              </a:rPr>
              <a:t>Evidence over time</a:t>
            </a:r>
          </a:p>
        </p:txBody>
      </p:sp>
      <p:sp>
        <p:nvSpPr>
          <p:cNvPr id="8" name="">
            <a:extLst xmlns:a="http://schemas.openxmlformats.org/drawingml/2006/main">
              <a:ext uri="{FF2B5EF4-FFF2-40B4-BE49-F238E27FC236}">
                <a16:creationId xmlns:a16="http://schemas.microsoft.com/office/drawing/2014/main" id="{985EE37A-9D73-4F56-8244-F93BCF04A9D5}"/>
              </a:ext>
            </a:extLst>
          </p:cNvPr>
          <p:cNvSpPr>
            <a:spLocks xmlns:a="http://schemas.openxmlformats.org/drawingml/2006/main" noGrp="1"/>
          </p:cNvSpPr>
          <p:nvPr/>
        </p:nvSpPr>
        <p:spPr>
          <a:xfrm xmlns:a="http://schemas.openxmlformats.org/drawingml/2006/main">
            <a:off x="6286500" y="56959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Runtime metrics, request traces, deployment identity, threshold incidents, and optional OTLP export</a:t>
            </a:r>
          </a:p>
        </p:txBody>
      </p:sp>
      <p:sp>
        <p:nvSpPr>
          <p:cNvPr id="9" name="">
            <a:extLst xmlns:a="http://schemas.openxmlformats.org/drawingml/2006/main">
              <a:ext uri="{FF2B5EF4-FFF2-40B4-BE49-F238E27FC236}">
                <a16:creationId xmlns:a16="http://schemas.microsoft.com/office/drawing/2014/main" id="{EEB0F2F6-3DDE-4E8A-B425-05D5842AB9D1}"/>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35F48AFB-678C-4199-9AFC-5F727E941302}"/>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05</a:t>
            </a:r>
          </a:p>
        </p:txBody>
      </p:sp>
    </p:spTree>
    <p:extLst>
      <p:ext uri="{BB962C8B-B14F-4D97-AF65-F5344CB8AC3E}">
        <p14:creationId xmlns:p14="http://schemas.microsoft.com/office/powerpoint/2010/main" val="1098037181"/>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90A5C2-446D-43EA-92AB-9B91802A85E6}"/>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PLAN AND INSPECT</a:t>
            </a:r>
          </a:p>
        </p:txBody>
      </p:sp>
      <p:sp>
        <p:nvSpPr>
          <p:cNvPr id="2" name="">
            <a:extLst xmlns:a="http://schemas.openxmlformats.org/drawingml/2006/main">
              <a:ext uri="{FF2B5EF4-FFF2-40B4-BE49-F238E27FC236}">
                <a16:creationId xmlns:a16="http://schemas.microsoft.com/office/drawing/2014/main" id="{3219125D-2739-4237-9CB4-AC6E8C632463}"/>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Network planning and local inspectors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0131601a9124c66"/>
          <a:srcRect xmlns:a="http://schemas.openxmlformats.org/drawingml/2006/main" l="6117" t="0" r="6117" b="0"/>
          <a:stretch xmlns:a="http://schemas.openxmlformats.org/drawingml/2006/main">
            <a:fillRect l="0" t="0" r="0" b="0"/>
          </a:stretch>
        </p:blipFill>
        <p:spPr>
          <a:xfrm xmlns:a="http://schemas.openxmlformats.org/drawingml/2006/main">
            <a:off x="685800" y="1447800"/>
            <a:ext cx="6286500" cy="4476750"/>
          </a:xfrm>
          <a:prstGeom xmlns:a="http://schemas.openxmlformats.org/drawingml/2006/main" prst="roundRect">
            <a:avLst>
              <a:gd name="adj" fmla="val 3404"/>
            </a:avLst>
          </a:prstGeom>
        </p:spPr>
      </p:pic>
      <p:sp>
        <p:nvSpPr>
          <p:cNvPr id="4" name="">
            <a:extLst xmlns:a="http://schemas.openxmlformats.org/drawingml/2006/main">
              <a:ext uri="{FF2B5EF4-FFF2-40B4-BE49-F238E27FC236}">
                <a16:creationId xmlns:a16="http://schemas.microsoft.com/office/drawing/2014/main" id="{1B415121-0B29-41E2-AA53-D05AB70E2C9C}"/>
              </a:ext>
            </a:extLst>
          </p:cNvPr>
          <p:cNvSpPr>
            <a:spLocks xmlns:a="http://schemas.openxmlformats.org/drawingml/2006/main" noGrp="1"/>
          </p:cNvSpPr>
          <p:nvPr/>
        </p:nvSpPr>
        <p:spPr>
          <a:xfrm xmlns:a="http://schemas.openxmlformats.org/drawingml/2006/main">
            <a:off x="7448550" y="15621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Network calculations</a:t>
            </a:r>
          </a:p>
        </p:txBody>
      </p:sp>
      <p:sp>
        <p:nvSpPr>
          <p:cNvPr id="5" name="">
            <a:extLst xmlns:a="http://schemas.openxmlformats.org/drawingml/2006/main">
              <a:ext uri="{FF2B5EF4-FFF2-40B4-BE49-F238E27FC236}">
                <a16:creationId xmlns:a16="http://schemas.microsoft.com/office/drawing/2014/main" id="{6845DCDC-68CE-44CA-9B63-07970CDBA5AC}"/>
              </a:ext>
            </a:extLst>
          </p:cNvPr>
          <p:cNvSpPr>
            <a:spLocks xmlns:a="http://schemas.openxmlformats.org/drawingml/2006/main" noGrp="1"/>
          </p:cNvSpPr>
          <p:nvPr/>
        </p:nvSpPr>
        <p:spPr>
          <a:xfrm xmlns:a="http://schemas.openxmlformats.org/drawingml/2006/main">
            <a:off x="7448550" y="20383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IPv4 and IPv6 subnet details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VLSM allocation and route summaries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Bandwidth, transfer time, MTU, and MSS</a:t>
            </a:r>
          </a:p>
        </p:txBody>
      </p:sp>
      <p:sp>
        <p:nvSpPr>
          <p:cNvPr id="6" name="">
            <a:extLst xmlns:a="http://schemas.openxmlformats.org/drawingml/2006/main">
              <a:ext uri="{FF2B5EF4-FFF2-40B4-BE49-F238E27FC236}">
                <a16:creationId xmlns:a16="http://schemas.microsoft.com/office/drawing/2014/main" id="{3AC47115-CF41-4342-B1A8-10BE4B82B881}"/>
              </a:ext>
            </a:extLst>
          </p:cNvPr>
          <p:cNvSpPr>
            <a:spLocks xmlns:a="http://schemas.openxmlformats.org/drawingml/2006/main" noGrp="1"/>
          </p:cNvSpPr>
          <p:nvPr/>
        </p:nvSpPr>
        <p:spPr>
          <a:xfrm xmlns:a="http://schemas.openxmlformats.org/drawingml/2006/main">
            <a:off x="7448550" y="39243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Local data inspection</a:t>
            </a:r>
          </a:p>
        </p:txBody>
      </p:sp>
      <p:sp>
        <p:nvSpPr>
          <p:cNvPr id="7" name="">
            <a:extLst xmlns:a="http://schemas.openxmlformats.org/drawingml/2006/main">
              <a:ext uri="{FF2B5EF4-FFF2-40B4-BE49-F238E27FC236}">
                <a16:creationId xmlns:a16="http://schemas.microsoft.com/office/drawing/2014/main" id="{1AFE0C64-19DC-44A1-94FD-DC87F5F8948B}"/>
              </a:ext>
            </a:extLst>
          </p:cNvPr>
          <p:cNvSpPr>
            <a:spLocks xmlns:a="http://schemas.openxmlformats.org/drawingml/2006/main" noGrp="1"/>
          </p:cNvSpPr>
          <p:nvPr/>
        </p:nvSpPr>
        <p:spPr>
          <a:xfrm xmlns:a="http://schemas.openxmlformats.org/drawingml/2006/main">
            <a:off x="7448550" y="44005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JSON tree and JWT payload decoding</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SHA-256 integrity checks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AES-256-GCM file encryption and decryption</a:t>
            </a:r>
          </a:p>
        </p:txBody>
      </p:sp>
      <p:sp>
        <p:nvSpPr>
          <p:cNvPr id="8" name="">
            <a:extLst xmlns:a="http://schemas.openxmlformats.org/drawingml/2006/main">
              <a:ext uri="{FF2B5EF4-FFF2-40B4-BE49-F238E27FC236}">
                <a16:creationId xmlns:a16="http://schemas.microsoft.com/office/drawing/2014/main" id="{BAAA1EC0-9152-46A6-9416-380AB4651AAC}"/>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9" name="">
            <a:extLst xmlns:a="http://schemas.openxmlformats.org/drawingml/2006/main">
              <a:ext uri="{FF2B5EF4-FFF2-40B4-BE49-F238E27FC236}">
                <a16:creationId xmlns:a16="http://schemas.microsoft.com/office/drawing/2014/main" id="{D1CC391E-8661-446B-8F55-871B555C033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06</a:t>
            </a:r>
          </a:p>
        </p:txBody>
      </p:sp>
    </p:spTree>
    <p:extLst>
      <p:ext uri="{BB962C8B-B14F-4D97-AF65-F5344CB8AC3E}">
        <p14:creationId xmlns:p14="http://schemas.microsoft.com/office/powerpoint/2010/main" val="9586142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1609BD-9132-450F-8223-4265846104C0}"/>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TEST</a:t>
            </a:r>
          </a:p>
        </p:txBody>
      </p:sp>
      <p:sp>
        <p:nvSpPr>
          <p:cNvPr id="2" name="">
            <a:extLst xmlns:a="http://schemas.openxmlformats.org/drawingml/2006/main">
              <a:ext uri="{FF2B5EF4-FFF2-40B4-BE49-F238E27FC236}">
                <a16:creationId xmlns:a16="http://schemas.microsoft.com/office/drawing/2014/main" id="{EDA0328C-8F21-499E-881C-314AB2D41569}"/>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Website and API assurance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29aeb64ed084c56"/>
          <a:srcRect xmlns:a="http://schemas.openxmlformats.org/drawingml/2006/main" l="0" t="8750" r="0" b="8750"/>
          <a:stretch xmlns:a="http://schemas.openxmlformats.org/drawingml/2006/main">
            <a:fillRect l="0" t="0" r="0" b="0"/>
          </a:stretch>
        </p:blipFill>
        <p:spPr>
          <a:xfrm xmlns:a="http://schemas.openxmlformats.org/drawingml/2006/main">
            <a:off x="685800" y="1428750"/>
            <a:ext cx="6096000" cy="3143250"/>
          </a:xfrm>
          <a:prstGeom xmlns:a="http://schemas.openxmlformats.org/drawingml/2006/main" prst="roundRect">
            <a:avLst>
              <a:gd name="adj" fmla="val 484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e779c0d4a174d56"/>
          <a:srcRect xmlns:a="http://schemas.openxmlformats.org/drawingml/2006/main" l="6818" t="0" r="6818" b="0"/>
          <a:stretch xmlns:a="http://schemas.openxmlformats.org/drawingml/2006/main">
            <a:fillRect l="0" t="0" r="0" b="0"/>
          </a:stretch>
        </p:blipFill>
        <p:spPr>
          <a:xfrm xmlns:a="http://schemas.openxmlformats.org/drawingml/2006/main">
            <a:off x="7162800" y="1428750"/>
            <a:ext cx="4343400" cy="3143250"/>
          </a:xfrm>
          <a:prstGeom xmlns:a="http://schemas.openxmlformats.org/drawingml/2006/main" prst="roundRect">
            <a:avLst>
              <a:gd name="adj" fmla="val 4848"/>
            </a:avLst>
          </a:prstGeom>
        </p:spPr>
      </p:pic>
      <p:sp>
        <p:nvSpPr>
          <p:cNvPr id="5" name="">
            <a:extLst xmlns:a="http://schemas.openxmlformats.org/drawingml/2006/main">
              <a:ext uri="{FF2B5EF4-FFF2-40B4-BE49-F238E27FC236}">
                <a16:creationId xmlns:a16="http://schemas.microsoft.com/office/drawing/2014/main" id="{3AA9F6E5-4CE7-4261-8EDF-CA91108B633A}"/>
              </a:ext>
            </a:extLst>
          </p:cNvPr>
          <p:cNvSpPr>
            <a:spLocks xmlns:a="http://schemas.openxmlformats.org/drawingml/2006/main" noGrp="1"/>
          </p:cNvSpPr>
          <p:nvPr/>
        </p:nvSpPr>
        <p:spPr>
          <a:xfrm xmlns:a="http://schemas.openxmlformats.org/drawingml/2006/main">
            <a:off x="685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3976ED"/>
                </a:solidFill>
                <a:latin typeface="Arial"/>
                <a:ea typeface="Arial"/>
                <a:cs typeface="Arial"/>
              </a:defRPr>
            </a:pPr>
            <a:r>
              <a:rPr sz="1725" b="1">
                <a:solidFill>
                  <a:srgbClr val="3976ED"/>
                </a:solidFill>
                <a:latin typeface="Arial"/>
                <a:ea typeface="Arial"/>
                <a:cs typeface="Arial"/>
              </a:rPr>
              <a:t>Website Audit</a:t>
            </a:r>
          </a:p>
        </p:txBody>
      </p:sp>
      <p:sp>
        <p:nvSpPr>
          <p:cNvPr id="6" name="">
            <a:extLst xmlns:a="http://schemas.openxmlformats.org/drawingml/2006/main">
              <a:ext uri="{FF2B5EF4-FFF2-40B4-BE49-F238E27FC236}">
                <a16:creationId xmlns:a16="http://schemas.microsoft.com/office/drawing/2014/main" id="{B940AA05-ECEF-4FEB-8287-C76FDAB42BF2}"/>
              </a:ext>
            </a:extLst>
          </p:cNvPr>
          <p:cNvSpPr>
            <a:spLocks xmlns:a="http://schemas.openxmlformats.org/drawingml/2006/main" noGrp="1"/>
          </p:cNvSpPr>
          <p:nvPr/>
        </p:nvSpPr>
        <p:spPr>
          <a:xfrm xmlns:a="http://schemas.openxmlformats.org/drawingml/2006/main">
            <a:off x="685800" y="523875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Crawl checks, headers, JSON validation, Lighthouse, accessibility, screenshots, visual baselines, and scheduled uptime</a:t>
            </a:r>
          </a:p>
        </p:txBody>
      </p:sp>
      <p:sp>
        <p:nvSpPr>
          <p:cNvPr id="7" name="">
            <a:extLst xmlns:a="http://schemas.openxmlformats.org/drawingml/2006/main">
              <a:ext uri="{FF2B5EF4-FFF2-40B4-BE49-F238E27FC236}">
                <a16:creationId xmlns:a16="http://schemas.microsoft.com/office/drawing/2014/main" id="{89260A79-8356-4010-880E-FEB964894ABF}"/>
              </a:ext>
            </a:extLst>
          </p:cNvPr>
          <p:cNvSpPr>
            <a:spLocks xmlns:a="http://schemas.openxmlformats.org/drawingml/2006/main" noGrp="1"/>
          </p:cNvSpPr>
          <p:nvPr/>
        </p:nvSpPr>
        <p:spPr>
          <a:xfrm xmlns:a="http://schemas.openxmlformats.org/drawingml/2006/main">
            <a:off x="7162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7965A"/>
                </a:solidFill>
                <a:latin typeface="Arial"/>
                <a:ea typeface="Arial"/>
                <a:cs typeface="Arial"/>
              </a:defRPr>
            </a:pPr>
            <a:r>
              <a:rPr sz="1725" b="1">
                <a:solidFill>
                  <a:srgbClr val="17965A"/>
                </a:solidFill>
                <a:latin typeface="Arial"/>
                <a:ea typeface="Arial"/>
                <a:cs typeface="Arial"/>
              </a:rPr>
              <a:t>API and DNS</a:t>
            </a:r>
          </a:p>
        </p:txBody>
      </p:sp>
      <p:sp>
        <p:nvSpPr>
          <p:cNvPr id="8" name="">
            <a:extLst xmlns:a="http://schemas.openxmlformats.org/drawingml/2006/main">
              <a:ext uri="{FF2B5EF4-FFF2-40B4-BE49-F238E27FC236}">
                <a16:creationId xmlns:a16="http://schemas.microsoft.com/office/drawing/2014/main" id="{416AC4A2-858A-469E-B286-980D3EBFA476}"/>
              </a:ext>
            </a:extLst>
          </p:cNvPr>
          <p:cNvSpPr>
            <a:spLocks xmlns:a="http://schemas.openxmlformats.org/drawingml/2006/main" noGrp="1"/>
          </p:cNvSpPr>
          <p:nvPr/>
        </p:nvSpPr>
        <p:spPr>
          <a:xfrm xmlns:a="http://schemas.openxmlformats.org/drawingml/2006/main">
            <a:off x="7162800" y="5238750"/>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Temporary request collections, assertions, response previews, and public DNS email-policy inspection</a:t>
            </a:r>
          </a:p>
        </p:txBody>
      </p:sp>
      <p:sp>
        <p:nvSpPr>
          <p:cNvPr id="9" name="">
            <a:extLst xmlns:a="http://schemas.openxmlformats.org/drawingml/2006/main">
              <a:ext uri="{FF2B5EF4-FFF2-40B4-BE49-F238E27FC236}">
                <a16:creationId xmlns:a16="http://schemas.microsoft.com/office/drawing/2014/main" id="{732D8D67-18E9-4B00-8469-463A138E6500}"/>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ECE14064-F7CF-4C26-9294-ECE281A5749D}"/>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07</a:t>
            </a:r>
          </a:p>
        </p:txBody>
      </p:sp>
    </p:spTree>
    <p:extLst>
      <p:ext uri="{BB962C8B-B14F-4D97-AF65-F5344CB8AC3E}">
        <p14:creationId xmlns:p14="http://schemas.microsoft.com/office/powerpoint/2010/main" val="633634746"/>
      </p:ext>
    </p:extLst>
  </p:cSld>
</p:sld>
</file>

<file path=ppt/slides/slide8.xml><?xml version="1.0" encoding="utf-8"?>
<p:sld xmlns:p="http://schemas.openxmlformats.org/presentationml/2006/main">
  <p:cSld>
    <p:bg>
      <p:bgPr>
        <a:solidFill xmlns:a="http://schemas.openxmlformats.org/drawingml/2006/main">
          <a:srgbClr val="F4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D493A5-D293-4E72-8841-DAFE1F689F48}"/>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DEVELOPER WELLNESS</a:t>
            </a:r>
          </a:p>
        </p:txBody>
      </p:sp>
      <p:sp>
        <p:nvSpPr>
          <p:cNvPr id="2" name="">
            <a:extLst xmlns:a="http://schemas.openxmlformats.org/drawingml/2006/main">
              <a:ext uri="{FF2B5EF4-FFF2-40B4-BE49-F238E27FC236}">
                <a16:creationId xmlns:a16="http://schemas.microsoft.com/office/drawing/2014/main" id="{33A8B425-D547-4CA6-AE0B-EF5D49E915A4}"/>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Focus Lounge and Spotify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a7cb7febe774568"/>
          <a:srcRect xmlns:a="http://schemas.openxmlformats.org/drawingml/2006/main" l="4375" t="0" r="4375" b="0"/>
          <a:stretch xmlns:a="http://schemas.openxmlformats.org/drawingml/2006/main">
            <a:fillRect l="0" t="0" r="0" b="0"/>
          </a:stretch>
        </p:blipFill>
        <p:spPr>
          <a:xfrm xmlns:a="http://schemas.openxmlformats.org/drawingml/2006/main">
            <a:off x="685800" y="1409700"/>
            <a:ext cx="6953250" cy="4762500"/>
          </a:xfrm>
          <a:prstGeom xmlns:a="http://schemas.openxmlformats.org/drawingml/2006/main" prst="roundRect">
            <a:avLst>
              <a:gd name="adj" fmla="val 3200"/>
            </a:avLst>
          </a:prstGeom>
        </p:spPr>
      </p:pic>
      <p:sp>
        <p:nvSpPr>
          <p:cNvPr id="4" name="">
            <a:extLst xmlns:a="http://schemas.openxmlformats.org/drawingml/2006/main">
              <a:ext uri="{FF2B5EF4-FFF2-40B4-BE49-F238E27FC236}">
                <a16:creationId xmlns:a16="http://schemas.microsoft.com/office/drawing/2014/main" id="{41AD3316-AAB0-45BF-94EC-C32EFB2C9D6C}"/>
              </a:ext>
            </a:extLst>
          </p:cNvPr>
          <p:cNvSpPr>
            <a:spLocks xmlns:a="http://schemas.openxmlformats.org/drawingml/2006/main" noGrp="1"/>
          </p:cNvSpPr>
          <p:nvPr/>
        </p:nvSpPr>
        <p:spPr>
          <a:xfrm xmlns:a="http://schemas.openxmlformats.org/drawingml/2006/main">
            <a:off x="8096250" y="1619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24B32"/>
                </a:solidFill>
                <a:latin typeface="Arial"/>
                <a:ea typeface="Arial"/>
                <a:cs typeface="Arial"/>
              </a:defRPr>
            </a:pPr>
            <a:r>
              <a:rPr sz="2250" b="1">
                <a:solidFill>
                  <a:srgbClr val="124B32"/>
                </a:solidFill>
                <a:latin typeface="Arial"/>
                <a:ea typeface="Arial"/>
                <a:cs typeface="Arial"/>
              </a:rPr>
              <a:t>A quieter workspace</a:t>
            </a:r>
          </a:p>
        </p:txBody>
      </p:sp>
      <p:sp>
        <p:nvSpPr>
          <p:cNvPr id="5" name="">
            <a:extLst xmlns:a="http://schemas.openxmlformats.org/drawingml/2006/main">
              <a:ext uri="{FF2B5EF4-FFF2-40B4-BE49-F238E27FC236}">
                <a16:creationId xmlns:a16="http://schemas.microsoft.com/office/drawing/2014/main" id="{EBAC0FEF-A1B1-4C66-8B5F-0A1915A33FEB}"/>
              </a:ext>
            </a:extLst>
          </p:cNvPr>
          <p:cNvSpPr>
            <a:spLocks xmlns:a="http://schemas.openxmlformats.org/drawingml/2006/main" noGrp="1"/>
          </p:cNvSpPr>
          <p:nvPr/>
        </p:nvSpPr>
        <p:spPr>
          <a:xfrm xmlns:a="http://schemas.openxmlformats.org/drawingml/2006/main">
            <a:off x="8096250" y="226695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Focus and break timer</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Guided box breathing</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Generated ambient sound</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Private browser-local notes</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Spotify Connect and optional browser playback</a:t>
            </a:r>
          </a:p>
        </p:txBody>
      </p:sp>
      <p:sp>
        <p:nvSpPr>
          <p:cNvPr id="6" name="">
            <a:extLst xmlns:a="http://schemas.openxmlformats.org/drawingml/2006/main">
              <a:ext uri="{FF2B5EF4-FFF2-40B4-BE49-F238E27FC236}">
                <a16:creationId xmlns:a16="http://schemas.microsoft.com/office/drawing/2014/main" id="{A6287019-367B-480C-836D-7407114B02FC}"/>
              </a:ext>
            </a:extLst>
          </p:cNvPr>
          <p:cNvSpPr>
            <a:spLocks xmlns:a="http://schemas.openxmlformats.org/drawingml/2006/main" noGrp="1"/>
          </p:cNvSpPr>
          <p:nvPr/>
        </p:nvSpPr>
        <p:spPr>
          <a:xfrm xmlns:a="http://schemas.openxmlformats.org/drawingml/2006/main">
            <a:off x="8096250" y="52197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4D6B5B"/>
                </a:solidFill>
                <a:latin typeface="Arial"/>
                <a:ea typeface="Arial"/>
                <a:cs typeface="Arial"/>
              </a:defRPr>
            </a:pPr>
            <a:r>
              <a:rPr sz="1425" b="0">
                <a:solidFill>
                  <a:srgbClr val="4D6B5B"/>
                </a:solidFill>
                <a:latin typeface="Arial"/>
                <a:ea typeface="Arial"/>
                <a:cs typeface="Arial"/>
              </a:rPr>
              <a:t>Spotify credentials remain server-side. OAuth sessions use encrypted storage and opaque cookies.</a:t>
            </a:r>
          </a:p>
        </p:txBody>
      </p:sp>
      <p:sp>
        <p:nvSpPr>
          <p:cNvPr id="7" name="">
            <a:extLst xmlns:a="http://schemas.openxmlformats.org/drawingml/2006/main">
              <a:ext uri="{FF2B5EF4-FFF2-40B4-BE49-F238E27FC236}">
                <a16:creationId xmlns:a16="http://schemas.microsoft.com/office/drawing/2014/main" id="{908116E2-152F-4BF6-9702-33919D504240}"/>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CC445582-DA28-4599-960A-335BCA08D634}"/>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08</a:t>
            </a:r>
          </a:p>
        </p:txBody>
      </p:sp>
    </p:spTree>
    <p:extLst>
      <p:ext uri="{BB962C8B-B14F-4D97-AF65-F5344CB8AC3E}">
        <p14:creationId xmlns:p14="http://schemas.microsoft.com/office/powerpoint/2010/main" val="1317068964"/>
      </p:ext>
    </p:extLst>
  </p:cSld>
</p:sld>
</file>

<file path=ppt/slides/slide9.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2EE435-8818-4926-BC75-5E8905AFD1C6}"/>
              </a:ext>
            </a:extLst>
          </p:cNvPr>
          <p:cNvSpPr>
            <a:spLocks xmlns:a="http://schemas.openxmlformats.org/drawingml/2006/main" noGrp="1"/>
          </p:cNvSpPr>
          <p:nvPr/>
        </p:nvSpPr>
        <p:spPr>
          <a:xfrm xmlns:a="http://schemas.openxmlformats.org/drawingml/2006/main">
            <a:off x="6858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9BFF"/>
                </a:solidFill>
                <a:latin typeface="Arial"/>
                <a:ea typeface="Arial"/>
                <a:cs typeface="Arial"/>
              </a:defRPr>
            </a:pPr>
            <a:r>
              <a:rPr sz="1125" b="1">
                <a:solidFill>
                  <a:srgbClr val="6D9BFF"/>
                </a:solidFill>
                <a:latin typeface="Arial"/>
                <a:ea typeface="Arial"/>
                <a:cs typeface="Arial"/>
              </a:rPr>
              <a:t>SECURITY</a:t>
            </a:r>
          </a:p>
        </p:txBody>
      </p:sp>
      <p:sp>
        <p:nvSpPr>
          <p:cNvPr id="2" name="">
            <a:extLst xmlns:a="http://schemas.openxmlformats.org/drawingml/2006/main">
              <a:ext uri="{FF2B5EF4-FFF2-40B4-BE49-F238E27FC236}">
                <a16:creationId xmlns:a16="http://schemas.microsoft.com/office/drawing/2014/main" id="{AA55DA2B-DB67-46DF-80ED-5E11E2D7AE76}"/>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Safety boundaries in Version 1</a:t>
            </a:r>
          </a:p>
        </p:txBody>
      </p:sp>
      <p:sp>
        <p:nvSpPr>
          <p:cNvPr id="3" name="">
            <a:extLst xmlns:a="http://schemas.openxmlformats.org/drawingml/2006/main">
              <a:ext uri="{FF2B5EF4-FFF2-40B4-BE49-F238E27FC236}">
                <a16:creationId xmlns:a16="http://schemas.microsoft.com/office/drawing/2014/main" id="{88F9BDEB-6861-491E-BE2A-E9C5389B63F5}"/>
              </a:ext>
            </a:extLst>
          </p:cNvPr>
          <p:cNvSpPr>
            <a:spLocks xmlns:a="http://schemas.openxmlformats.org/drawingml/2006/main" noGrp="1"/>
          </p:cNvSpPr>
          <p:nvPr/>
        </p:nvSpPr>
        <p:spPr>
          <a:xfrm xmlns:a="http://schemas.openxmlformats.org/drawingml/2006/main">
            <a:off x="68580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4" name="">
            <a:extLst xmlns:a="http://schemas.openxmlformats.org/drawingml/2006/main">
              <a:ext uri="{FF2B5EF4-FFF2-40B4-BE49-F238E27FC236}">
                <a16:creationId xmlns:a16="http://schemas.microsoft.com/office/drawing/2014/main" id="{2A133F4C-012C-437D-A07E-692B5AB34319}"/>
              </a:ext>
            </a:extLst>
          </p:cNvPr>
          <p:cNvSpPr>
            <a:spLocks xmlns:a="http://schemas.openxmlformats.org/drawingml/2006/main" noGrp="1"/>
          </p:cNvSpPr>
          <p:nvPr/>
        </p:nvSpPr>
        <p:spPr>
          <a:xfrm xmlns:a="http://schemas.openxmlformats.org/drawingml/2006/main">
            <a:off x="99060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Network controls</a:t>
            </a:r>
          </a:p>
        </p:txBody>
      </p:sp>
      <p:sp>
        <p:nvSpPr>
          <p:cNvPr id="5" name="">
            <a:extLst xmlns:a="http://schemas.openxmlformats.org/drawingml/2006/main">
              <a:ext uri="{FF2B5EF4-FFF2-40B4-BE49-F238E27FC236}">
                <a16:creationId xmlns:a16="http://schemas.microsoft.com/office/drawing/2014/main" id="{BE419F46-2299-4AF2-B003-7BB29F70DB9B}"/>
              </a:ext>
            </a:extLst>
          </p:cNvPr>
          <p:cNvSpPr>
            <a:spLocks xmlns:a="http://schemas.openxmlformats.org/drawingml/2006/main" noGrp="1"/>
          </p:cNvSpPr>
          <p:nvPr/>
        </p:nvSpPr>
        <p:spPr>
          <a:xfrm xmlns:a="http://schemas.openxmlformats.org/drawingml/2006/main">
            <a:off x="9906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612"/>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Private and reserved targets blocked by default</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Redirects disabled for diagnostic clients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Owner allowlists permit intentional private checks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Strict request, response, timeout, and concurrency caps</a:t>
            </a:r>
          </a:p>
        </p:txBody>
      </p:sp>
      <p:sp>
        <p:nvSpPr>
          <p:cNvPr id="6" name="">
            <a:extLst xmlns:a="http://schemas.openxmlformats.org/drawingml/2006/main">
              <a:ext uri="{FF2B5EF4-FFF2-40B4-BE49-F238E27FC236}">
                <a16:creationId xmlns:a16="http://schemas.microsoft.com/office/drawing/2014/main" id="{6D1FEBCA-3685-40D9-84D9-5FA8C755E7B1}"/>
              </a:ext>
            </a:extLst>
          </p:cNvPr>
          <p:cNvSpPr>
            <a:spLocks xmlns:a="http://schemas.openxmlformats.org/drawingml/2006/main" noGrp="1"/>
          </p:cNvSpPr>
          <p:nvPr/>
        </p:nvSpPr>
        <p:spPr>
          <a:xfrm xmlns:a="http://schemas.openxmlformats.org/drawingml/2006/main">
            <a:off x="443865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7" name="">
            <a:extLst xmlns:a="http://schemas.openxmlformats.org/drawingml/2006/main">
              <a:ext uri="{FF2B5EF4-FFF2-40B4-BE49-F238E27FC236}">
                <a16:creationId xmlns:a16="http://schemas.microsoft.com/office/drawing/2014/main" id="{6CF2BA9B-BD43-46B0-9755-A54A85F694EC}"/>
              </a:ext>
            </a:extLst>
          </p:cNvPr>
          <p:cNvSpPr>
            <a:spLocks xmlns:a="http://schemas.openxmlformats.org/drawingml/2006/main" noGrp="1"/>
          </p:cNvSpPr>
          <p:nvPr/>
        </p:nvSpPr>
        <p:spPr>
          <a:xfrm xmlns:a="http://schemas.openxmlformats.org/drawingml/2006/main">
            <a:off x="474345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Secrets and sessions</a:t>
            </a:r>
          </a:p>
        </p:txBody>
      </p:sp>
      <p:sp>
        <p:nvSpPr>
          <p:cNvPr id="8" name="">
            <a:extLst xmlns:a="http://schemas.openxmlformats.org/drawingml/2006/main">
              <a:ext uri="{FF2B5EF4-FFF2-40B4-BE49-F238E27FC236}">
                <a16:creationId xmlns:a16="http://schemas.microsoft.com/office/drawing/2014/main" id="{90D48B65-8899-4209-B5A3-4B845A26F773}"/>
              </a:ext>
            </a:extLst>
          </p:cNvPr>
          <p:cNvSpPr>
            <a:spLocks xmlns:a="http://schemas.openxmlformats.org/drawingml/2006/main" noGrp="1"/>
          </p:cNvSpPr>
          <p:nvPr/>
        </p:nvSpPr>
        <p:spPr>
          <a:xfrm xmlns:a="http://schemas.openxmlformats.org/drawingml/2006/main">
            <a:off x="474345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Environment variables or external secret files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Encrypted Spotify token storage</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No credentials committed to appsettings.json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Authorization values stay transient in the API Runner</a:t>
            </a:r>
          </a:p>
        </p:txBody>
      </p:sp>
      <p:sp>
        <p:nvSpPr>
          <p:cNvPr id="9" name="">
            <a:extLst xmlns:a="http://schemas.openxmlformats.org/drawingml/2006/main">
              <a:ext uri="{FF2B5EF4-FFF2-40B4-BE49-F238E27FC236}">
                <a16:creationId xmlns:a16="http://schemas.microsoft.com/office/drawing/2014/main" id="{DA058EF3-2936-4B35-BAC1-D9867886B42B}"/>
              </a:ext>
            </a:extLst>
          </p:cNvPr>
          <p:cNvSpPr>
            <a:spLocks xmlns:a="http://schemas.openxmlformats.org/drawingml/2006/main" noGrp="1"/>
          </p:cNvSpPr>
          <p:nvPr/>
        </p:nvSpPr>
        <p:spPr>
          <a:xfrm xmlns:a="http://schemas.openxmlformats.org/drawingml/2006/main">
            <a:off x="8191500" y="1676400"/>
            <a:ext cx="3314700" cy="3429000"/>
          </a:xfrm>
          <a:prstGeom xmlns:a="http://schemas.openxmlformats.org/drawingml/2006/main" prst="roundRect">
            <a:avLst>
              <a:gd name="adj" fmla="val 5747"/>
            </a:avLst>
          </a:prstGeom>
          <a:solidFill xmlns:a="http://schemas.openxmlformats.org/drawingml/2006/main">
            <a:srgbClr val="172846"/>
          </a:solidFill>
          <a:ln xmlns:a="http://schemas.openxmlformats.org/drawingml/2006/main" w="9525">
            <a:solidFill>
              <a:srgbClr val="2B4168"/>
            </a:solidFill>
          </a:ln>
        </p:spPr>
      </p:sp>
      <p:sp>
        <p:nvSpPr>
          <p:cNvPr id="10" name="">
            <a:extLst xmlns:a="http://schemas.openxmlformats.org/drawingml/2006/main">
              <a:ext uri="{FF2B5EF4-FFF2-40B4-BE49-F238E27FC236}">
                <a16:creationId xmlns:a16="http://schemas.microsoft.com/office/drawing/2014/main" id="{898E0F27-25C9-491B-BD7F-BCA150DEFE8A}"/>
              </a:ext>
            </a:extLst>
          </p:cNvPr>
          <p:cNvSpPr>
            <a:spLocks xmlns:a="http://schemas.openxmlformats.org/drawingml/2006/main" noGrp="1"/>
          </p:cNvSpPr>
          <p:nvPr/>
        </p:nvSpPr>
        <p:spPr>
          <a:xfrm xmlns:a="http://schemas.openxmlformats.org/drawingml/2006/main">
            <a:off x="8496300" y="19812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202"/>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Administrative actions</a:t>
            </a:r>
          </a:p>
        </p:txBody>
      </p:sp>
      <p:sp>
        <p:nvSpPr>
          <p:cNvPr id="11" name="">
            <a:extLst xmlns:a="http://schemas.openxmlformats.org/drawingml/2006/main">
              <a:ext uri="{FF2B5EF4-FFF2-40B4-BE49-F238E27FC236}">
                <a16:creationId xmlns:a16="http://schemas.microsoft.com/office/drawing/2014/main" id="{6CEBFB37-6506-4B90-B05D-CCA2138ED617}"/>
              </a:ext>
            </a:extLst>
          </p:cNvPr>
          <p:cNvSpPr>
            <a:spLocks xmlns:a="http://schemas.openxmlformats.org/drawingml/2006/main" noGrp="1"/>
          </p:cNvSpPr>
          <p:nvPr/>
        </p:nvSpPr>
        <p:spPr>
          <a:xfrm xmlns:a="http://schemas.openxmlformats.org/drawingml/2006/main">
            <a:off x="84963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Separate administrator authentication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Rate limits and antiforgery protection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Process termination disabled unless explicitly enabled</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Production diagnostics can be hidden completely</a:t>
            </a:r>
          </a:p>
        </p:txBody>
      </p:sp>
      <p:sp>
        <p:nvSpPr>
          <p:cNvPr id="12" name="">
            <a:extLst xmlns:a="http://schemas.openxmlformats.org/drawingml/2006/main">
              <a:ext uri="{FF2B5EF4-FFF2-40B4-BE49-F238E27FC236}">
                <a16:creationId xmlns:a16="http://schemas.microsoft.com/office/drawing/2014/main" id="{759D5F4B-5344-49F8-A9A8-7A1D7C269F32}"/>
              </a:ext>
            </a:extLst>
          </p:cNvPr>
          <p:cNvSpPr>
            <a:spLocks xmlns:a="http://schemas.openxmlformats.org/drawingml/2006/main" noGrp="1"/>
          </p:cNvSpPr>
          <p:nvPr/>
        </p:nvSpPr>
        <p:spPr>
          <a:xfrm xmlns:a="http://schemas.openxmlformats.org/drawingml/2006/main">
            <a:off x="685800" y="5600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CB76"/>
                </a:solidFill>
                <a:latin typeface="Arial"/>
                <a:ea typeface="Arial"/>
                <a:cs typeface="Arial"/>
              </a:defRPr>
            </a:pPr>
            <a:r>
              <a:rPr sz="1800" b="1">
                <a:solidFill>
                  <a:srgbClr val="FFCB76"/>
                </a:solidFill>
                <a:latin typeface="Arial"/>
                <a:ea typeface="Arial"/>
                <a:cs typeface="Arial"/>
              </a:rPr>
              <a:t>Public deployments should place diagnostic pages behind authenticated access.</a:t>
            </a:r>
          </a:p>
        </p:txBody>
      </p:sp>
      <p:sp>
        <p:nvSpPr>
          <p:cNvPr id="13" name="">
            <a:extLst xmlns:a="http://schemas.openxmlformats.org/drawingml/2006/main">
              <a:ext uri="{FF2B5EF4-FFF2-40B4-BE49-F238E27FC236}">
                <a16:creationId xmlns:a16="http://schemas.microsoft.com/office/drawing/2014/main" id="{7D197002-8705-4535-BBF0-0C90002A6EC6}"/>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4" name="">
            <a:extLst xmlns:a="http://schemas.openxmlformats.org/drawingml/2006/main">
              <a:ext uri="{FF2B5EF4-FFF2-40B4-BE49-F238E27FC236}">
                <a16:creationId xmlns:a16="http://schemas.microsoft.com/office/drawing/2014/main" id="{C397F343-DCDC-4891-91A2-D31A615F171F}"/>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09</a:t>
            </a:r>
          </a:p>
        </p:txBody>
      </p:sp>
    </p:spTree>
    <p:extLst>
      <p:ext uri="{BB962C8B-B14F-4D97-AF65-F5344CB8AC3E}">
        <p14:creationId xmlns:p14="http://schemas.microsoft.com/office/powerpoint/2010/main" val="14640805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65C4C8A-2058-4B91-AC6C-62179CA688E1}"/>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OPERATE</a:t>
            </a:r>
          </a:p>
        </p:txBody>
      </p:sp>
      <p:sp>
        <p:nvSpPr>
          <p:cNvPr id="2" name="">
            <a:extLst xmlns:a="http://schemas.openxmlformats.org/drawingml/2006/main">
              <a:ext uri="{FF2B5EF4-FFF2-40B4-BE49-F238E27FC236}">
                <a16:creationId xmlns:a16="http://schemas.microsoft.com/office/drawing/2014/main" id="{80E1D3E9-5539-486E-9DC3-28F4D7DD4DF3}"/>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Deployment and configuration</a:t>
            </a:r>
          </a:p>
        </p:txBody>
      </p:sp>
      <p:sp>
        <p:nvSpPr>
          <p:cNvPr id="3" name="">
            <a:extLst xmlns:a="http://schemas.openxmlformats.org/drawingml/2006/main">
              <a:ext uri="{FF2B5EF4-FFF2-40B4-BE49-F238E27FC236}">
                <a16:creationId xmlns:a16="http://schemas.microsoft.com/office/drawing/2014/main" id="{4AC68FF4-DC96-4E52-BC99-930ADC8A8517}"/>
              </a:ext>
            </a:extLst>
          </p:cNvPr>
          <p:cNvSpPr>
            <a:spLocks xmlns:a="http://schemas.openxmlformats.org/drawingml/2006/main" noGrp="1"/>
          </p:cNvSpPr>
          <p:nvPr/>
        </p:nvSpPr>
        <p:spPr>
          <a:xfrm xmlns:a="http://schemas.openxmlformats.org/drawingml/2006/main">
            <a:off x="685800" y="1809750"/>
            <a:ext cx="2381250" cy="1257300"/>
          </a:xfrm>
          <a:prstGeom xmlns:a="http://schemas.openxmlformats.org/drawingml/2006/main" prst="roundRect">
            <a:avLst>
              <a:gd name="adj" fmla="val 13636"/>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1C23B125-E0DB-4053-A269-420F15447F91}"/>
              </a:ext>
            </a:extLst>
          </p:cNvPr>
          <p:cNvSpPr>
            <a:spLocks xmlns:a="http://schemas.openxmlformats.org/drawingml/2006/main" noGrp="1"/>
          </p:cNvSpPr>
          <p:nvPr/>
        </p:nvSpPr>
        <p:spPr>
          <a:xfrm xmlns:a="http://schemas.openxmlformats.org/drawingml/2006/main">
            <a:off x="91440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994"/>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Local development</a:t>
            </a:r>
          </a:p>
        </p:txBody>
      </p:sp>
      <p:sp>
        <p:nvSpPr>
          <p:cNvPr id="5" name="">
            <a:extLst xmlns:a="http://schemas.openxmlformats.org/drawingml/2006/main">
              <a:ext uri="{FF2B5EF4-FFF2-40B4-BE49-F238E27FC236}">
                <a16:creationId xmlns:a16="http://schemas.microsoft.com/office/drawing/2014/main" id="{A1D60DF9-C210-458D-A4D8-B6E059AAA41E}"/>
              </a:ext>
            </a:extLst>
          </p:cNvPr>
          <p:cNvSpPr>
            <a:spLocks xmlns:a="http://schemas.openxmlformats.org/drawingml/2006/main" noGrp="1"/>
          </p:cNvSpPr>
          <p:nvPr/>
        </p:nvSpPr>
        <p:spPr>
          <a:xfrm xmlns:a="http://schemas.openxmlformats.org/drawingml/2006/main">
            <a:off x="91440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.NET 9 SDK</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Secrets</a:t>
            </a:r>
          </a:p>
        </p:txBody>
      </p:sp>
      <p:sp>
        <p:nvSpPr>
          <p:cNvPr id="6" name="">
            <a:extLst xmlns:a="http://schemas.openxmlformats.org/drawingml/2006/main">
              <a:ext uri="{FF2B5EF4-FFF2-40B4-BE49-F238E27FC236}">
                <a16:creationId xmlns:a16="http://schemas.microsoft.com/office/drawing/2014/main" id="{BA7322F4-5FDA-406D-8B9C-4E46D29B9ABE}"/>
              </a:ext>
            </a:extLst>
          </p:cNvPr>
          <p:cNvSpPr>
            <a:spLocks xmlns:a="http://schemas.openxmlformats.org/drawingml/2006/main" noGrp="1"/>
          </p:cNvSpPr>
          <p:nvPr/>
        </p:nvSpPr>
        <p:spPr>
          <a:xfrm xmlns:a="http://schemas.openxmlformats.org/drawingml/2006/main">
            <a:off x="4905375" y="1809750"/>
            <a:ext cx="2381250" cy="1257300"/>
          </a:xfrm>
          <a:prstGeom xmlns:a="http://schemas.openxmlformats.org/drawingml/2006/main" prst="roundRect">
            <a:avLst>
              <a:gd name="adj" fmla="val 13636"/>
            </a:avLst>
          </a:prstGeom>
          <a:solidFill xmlns:a="http://schemas.openxmlformats.org/drawingml/2006/main">
            <a:srgbClr val="EEF0F6"/>
          </a:solidFill>
          <a:ln xmlns:a="http://schemas.openxmlformats.org/drawingml/2006/main" w="9525">
            <a:solidFill>
              <a:srgbClr val="C7CFDD"/>
            </a:solidFill>
          </a:ln>
        </p:spPr>
      </p:sp>
      <p:sp>
        <p:nvSpPr>
          <p:cNvPr id="7" name="">
            <a:extLst xmlns:a="http://schemas.openxmlformats.org/drawingml/2006/main">
              <a:ext uri="{FF2B5EF4-FFF2-40B4-BE49-F238E27FC236}">
                <a16:creationId xmlns:a16="http://schemas.microsoft.com/office/drawing/2014/main" id="{254670D6-1B3D-45A9-AE02-2191366F6E6C}"/>
              </a:ext>
            </a:extLst>
          </p:cNvPr>
          <p:cNvSpPr>
            <a:spLocks xmlns:a="http://schemas.openxmlformats.org/drawingml/2006/main" noGrp="1"/>
          </p:cNvSpPr>
          <p:nvPr/>
        </p:nvSpPr>
        <p:spPr>
          <a:xfrm xmlns:a="http://schemas.openxmlformats.org/drawingml/2006/main">
            <a:off x="5133975"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Docker image</a:t>
            </a:r>
          </a:p>
        </p:txBody>
      </p:sp>
      <p:sp>
        <p:nvSpPr>
          <p:cNvPr id="8" name="">
            <a:extLst xmlns:a="http://schemas.openxmlformats.org/drawingml/2006/main">
              <a:ext uri="{FF2B5EF4-FFF2-40B4-BE49-F238E27FC236}">
                <a16:creationId xmlns:a16="http://schemas.microsoft.com/office/drawing/2014/main" id="{C5394395-E254-44A3-B8F2-C4E91B7E1109}"/>
              </a:ext>
            </a:extLst>
          </p:cNvPr>
          <p:cNvSpPr>
            <a:spLocks xmlns:a="http://schemas.openxmlformats.org/drawingml/2006/main" noGrp="1"/>
          </p:cNvSpPr>
          <p:nvPr/>
        </p:nvSpPr>
        <p:spPr>
          <a:xfrm xmlns:a="http://schemas.openxmlformats.org/drawingml/2006/main">
            <a:off x="5133975"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Published application</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Non-root container user</a:t>
            </a:r>
          </a:p>
        </p:txBody>
      </p:sp>
      <p:sp>
        <p:nvSpPr>
          <p:cNvPr id="9" name="">
            <a:extLst xmlns:a="http://schemas.openxmlformats.org/drawingml/2006/main">
              <a:ext uri="{FF2B5EF4-FFF2-40B4-BE49-F238E27FC236}">
                <a16:creationId xmlns:a16="http://schemas.microsoft.com/office/drawing/2014/main" id="{3A80A8E1-5846-410C-BA07-4B65FAE5DB4B}"/>
              </a:ext>
            </a:extLst>
          </p:cNvPr>
          <p:cNvSpPr>
            <a:spLocks xmlns:a="http://schemas.openxmlformats.org/drawingml/2006/main" noGrp="1"/>
          </p:cNvSpPr>
          <p:nvPr/>
        </p:nvSpPr>
        <p:spPr>
          <a:xfrm xmlns:a="http://schemas.openxmlformats.org/drawingml/2006/main">
            <a:off x="9124950" y="1809750"/>
            <a:ext cx="2381250" cy="1257300"/>
          </a:xfrm>
          <a:prstGeom xmlns:a="http://schemas.openxmlformats.org/drawingml/2006/main" prst="roundRect">
            <a:avLst>
              <a:gd name="adj" fmla="val 13636"/>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C2B4CCED-3620-4A7F-99C5-E1486F079750}"/>
              </a:ext>
            </a:extLst>
          </p:cNvPr>
          <p:cNvSpPr>
            <a:spLocks xmlns:a="http://schemas.openxmlformats.org/drawingml/2006/main" noGrp="1"/>
          </p:cNvSpPr>
          <p:nvPr/>
        </p:nvSpPr>
        <p:spPr>
          <a:xfrm xmlns:a="http://schemas.openxmlformats.org/drawingml/2006/main">
            <a:off x="935355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Render service</a:t>
            </a:r>
          </a:p>
        </p:txBody>
      </p:sp>
      <p:sp>
        <p:nvSpPr>
          <p:cNvPr id="11" name="">
            <a:extLst xmlns:a="http://schemas.openxmlformats.org/drawingml/2006/main">
              <a:ext uri="{FF2B5EF4-FFF2-40B4-BE49-F238E27FC236}">
                <a16:creationId xmlns:a16="http://schemas.microsoft.com/office/drawing/2014/main" id="{769E4A65-EB11-40A3-89C3-5F8C015A509D}"/>
              </a:ext>
            </a:extLst>
          </p:cNvPr>
          <p:cNvSpPr>
            <a:spLocks xmlns:a="http://schemas.openxmlformats.org/drawingml/2006/main" noGrp="1"/>
          </p:cNvSpPr>
          <p:nvPr/>
        </p:nvSpPr>
        <p:spPr>
          <a:xfrm xmlns:a="http://schemas.openxmlformats.org/drawingml/2006/main">
            <a:off x="935355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HTTPS proxy</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Persistent data volume</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067050" y="2438400"/>
            <a:ext cx="1838325"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286625" y="2438400"/>
            <a:ext cx="1838325" cy="0"/>
          </a:xfrm>
          <a:prstGeom xmlns:a="http://schemas.openxmlformats.org/drawingml/2006/main" prst="straightConnector1">
            <a:avLst/>
          </a:prstGeom>
          <a:ln xmlns:a="http://schemas.openxmlformats.org/drawingml/2006/main" w="28575">
            <a:solidFill>
              <a:srgbClr val="17965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EAA22FAF-CA77-4D26-AB01-7679ABF90AD5}"/>
              </a:ext>
            </a:extLst>
          </p:cNvPr>
          <p:cNvSpPr>
            <a:spLocks xmlns:a="http://schemas.openxmlformats.org/drawingml/2006/main" noGrp="1"/>
          </p:cNvSpPr>
          <p:nvPr/>
        </p:nvSpPr>
        <p:spPr>
          <a:xfrm xmlns:a="http://schemas.openxmlformats.org/drawingml/2006/main">
            <a:off x="685800" y="38100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Configuration that must stay outside Git</a:t>
            </a:r>
          </a:p>
        </p:txBody>
      </p:sp>
      <p:sp>
        <p:nvSpPr>
          <p:cNvPr id="15" name="">
            <a:extLst xmlns:a="http://schemas.openxmlformats.org/drawingml/2006/main">
              <a:ext uri="{FF2B5EF4-FFF2-40B4-BE49-F238E27FC236}">
                <a16:creationId xmlns:a16="http://schemas.microsoft.com/office/drawing/2014/main" id="{8DFAD6DF-9712-40F8-98C7-6A776EE0A77B}"/>
              </a:ext>
            </a:extLst>
          </p:cNvPr>
          <p:cNvSpPr>
            <a:spLocks xmlns:a="http://schemas.openxmlformats.org/drawingml/2006/main" noGrp="1"/>
          </p:cNvSpPr>
          <p:nvPr/>
        </p:nvSpPr>
        <p:spPr>
          <a:xfrm xmlns:a="http://schemas.openxmlformats.org/drawingml/2006/main">
            <a:off x="685800" y="43243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Spotify client ID and secret</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Administrator password</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SMTP credentials and webhook destinations</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External secrets file and persistent encryption keys</a:t>
            </a:r>
          </a:p>
        </p:txBody>
      </p:sp>
      <p:sp>
        <p:nvSpPr>
          <p:cNvPr id="16" name="">
            <a:extLst xmlns:a="http://schemas.openxmlformats.org/drawingml/2006/main">
              <a:ext uri="{FF2B5EF4-FFF2-40B4-BE49-F238E27FC236}">
                <a16:creationId xmlns:a16="http://schemas.microsoft.com/office/drawing/2014/main" id="{9C8A42DE-3600-4671-92A7-C432129B6B04}"/>
              </a:ext>
            </a:extLst>
          </p:cNvPr>
          <p:cNvSpPr>
            <a:spLocks xmlns:a="http://schemas.openxmlformats.org/drawingml/2006/main" noGrp="1"/>
          </p:cNvSpPr>
          <p:nvPr/>
        </p:nvSpPr>
        <p:spPr>
          <a:xfrm xmlns:a="http://schemas.openxmlformats.org/drawingml/2006/main">
            <a:off x="6572250" y="38100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Deployment checks</a:t>
            </a:r>
          </a:p>
        </p:txBody>
      </p:sp>
      <p:sp>
        <p:nvSpPr>
          <p:cNvPr id="17" name="">
            <a:extLst xmlns:a="http://schemas.openxmlformats.org/drawingml/2006/main">
              <a:ext uri="{FF2B5EF4-FFF2-40B4-BE49-F238E27FC236}">
                <a16:creationId xmlns:a16="http://schemas.microsoft.com/office/drawing/2014/main" id="{1AE3135F-FE8A-401D-B6E8-FBA0FDB3173B}"/>
              </a:ext>
            </a:extLst>
          </p:cNvPr>
          <p:cNvSpPr>
            <a:spLocks xmlns:a="http://schemas.openxmlformats.org/drawingml/2006/main" noGrp="1"/>
          </p:cNvSpPr>
          <p:nvPr/>
        </p:nvSpPr>
        <p:spPr>
          <a:xfrm xmlns:a="http://schemas.openxmlformats.org/drawingml/2006/main">
            <a:off x="6572250" y="4324350"/>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Health endpoint at /healthz</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Correct Spotify callback URL</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Trusted reverse proxy configuration</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Diagnostics exposure reviewed before launch</a:t>
            </a:r>
          </a:p>
        </p:txBody>
      </p:sp>
      <p:sp>
        <p:nvSpPr>
          <p:cNvPr id="18" name="">
            <a:extLst xmlns:a="http://schemas.openxmlformats.org/drawingml/2006/main">
              <a:ext uri="{FF2B5EF4-FFF2-40B4-BE49-F238E27FC236}">
                <a16:creationId xmlns:a16="http://schemas.microsoft.com/office/drawing/2014/main" id="{5BE4297E-7CC1-429C-B67E-FC1C7C38B6B8}"/>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5E00589A-20E9-46B7-A8B0-B11DBE9F91E4}"/>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10</a:t>
            </a:r>
          </a:p>
        </p:txBody>
      </p:sp>
    </p:spTree>
    <p:extLst>
      <p:ext uri="{BB962C8B-B14F-4D97-AF65-F5344CB8AC3E}">
        <p14:creationId xmlns:p14="http://schemas.microsoft.com/office/powerpoint/2010/main" val="1501647999"/>
      </p:ext>
    </p:extLst>
  </p:cSld>
</p:sld>
</file>

<file path=ppt/slides/slide1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0347A95-8CAD-4464-AD65-9273EBBA1399}"/>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QUALITY</a:t>
            </a:r>
          </a:p>
        </p:txBody>
      </p:sp>
      <p:sp>
        <p:nvSpPr>
          <p:cNvPr id="2" name="">
            <a:extLst xmlns:a="http://schemas.openxmlformats.org/drawingml/2006/main">
              <a:ext uri="{FF2B5EF4-FFF2-40B4-BE49-F238E27FC236}">
                <a16:creationId xmlns:a16="http://schemas.microsoft.com/office/drawing/2014/main" id="{0DE45E70-0664-453D-B257-6E85BCDD070F}"/>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Verification and release status</a:t>
            </a:r>
          </a:p>
        </p:txBody>
      </p:sp>
      <p:sp>
        <p:nvSpPr>
          <p:cNvPr id="3" name="">
            <a:extLst xmlns:a="http://schemas.openxmlformats.org/drawingml/2006/main">
              <a:ext uri="{FF2B5EF4-FFF2-40B4-BE49-F238E27FC236}">
                <a16:creationId xmlns:a16="http://schemas.microsoft.com/office/drawing/2014/main" id="{7830646E-E032-4590-9C70-D9F91F35C8C1}"/>
              </a:ext>
            </a:extLst>
          </p:cNvPr>
          <p:cNvSpPr>
            <a:spLocks xmlns:a="http://schemas.openxmlformats.org/drawingml/2006/main" noGrp="1"/>
          </p:cNvSpPr>
          <p:nvPr/>
        </p:nvSpPr>
        <p:spPr>
          <a:xfrm xmlns:a="http://schemas.openxmlformats.org/drawingml/2006/main">
            <a:off x="723900" y="17145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17965A"/>
                </a:solidFill>
                <a:latin typeface="Arial"/>
                <a:ea typeface="Arial"/>
                <a:cs typeface="Arial"/>
              </a:defRPr>
            </a:pPr>
            <a:r>
              <a:rPr sz="5400" b="1">
                <a:solidFill>
                  <a:srgbClr val="17965A"/>
                </a:solidFill>
                <a:latin typeface="Arial"/>
                <a:ea typeface="Arial"/>
                <a:cs typeface="Arial"/>
              </a:rPr>
              <a:t>79 / 79</a:t>
            </a:r>
          </a:p>
        </p:txBody>
      </p:sp>
      <p:sp>
        <p:nvSpPr>
          <p:cNvPr id="4" name="">
            <a:extLst xmlns:a="http://schemas.openxmlformats.org/drawingml/2006/main">
              <a:ext uri="{FF2B5EF4-FFF2-40B4-BE49-F238E27FC236}">
                <a16:creationId xmlns:a16="http://schemas.microsoft.com/office/drawing/2014/main" id="{A90DB420-52E3-444D-9E76-79E77D86B87A}"/>
              </a:ext>
            </a:extLst>
          </p:cNvPr>
          <p:cNvSpPr>
            <a:spLocks xmlns:a="http://schemas.openxmlformats.org/drawingml/2006/main" noGrp="1"/>
          </p:cNvSpPr>
          <p:nvPr/>
        </p:nvSpPr>
        <p:spPr>
          <a:xfrm xmlns:a="http://schemas.openxmlformats.org/drawingml/2006/main">
            <a:off x="762000" y="26289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158"/>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automated regression checks passed</a:t>
            </a:r>
          </a:p>
        </p:txBody>
      </p:sp>
      <p:sp>
        <p:nvSpPr>
          <p:cNvPr id="5" name="">
            <a:extLst xmlns:a="http://schemas.openxmlformats.org/drawingml/2006/main">
              <a:ext uri="{FF2B5EF4-FFF2-40B4-BE49-F238E27FC236}">
                <a16:creationId xmlns:a16="http://schemas.microsoft.com/office/drawing/2014/main" id="{7CF7C1AD-9910-4BE8-9A57-597EEB41335E}"/>
              </a:ext>
            </a:extLst>
          </p:cNvPr>
          <p:cNvSpPr>
            <a:spLocks xmlns:a="http://schemas.openxmlformats.org/drawingml/2006/main" noGrp="1"/>
          </p:cNvSpPr>
          <p:nvPr/>
        </p:nvSpPr>
        <p:spPr>
          <a:xfrm xmlns:a="http://schemas.openxmlformats.org/drawingml/2006/main">
            <a:off x="762000" y="3219450"/>
            <a:ext cx="4476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F6F8C"/>
                </a:solidFill>
                <a:latin typeface="Arial"/>
                <a:ea typeface="Arial"/>
                <a:cs typeface="Arial"/>
              </a:defRPr>
            </a:pPr>
            <a:r>
              <a:rPr sz="1575" b="0">
                <a:solidFill>
                  <a:srgbClr val="5F6F8C"/>
                </a:solidFill>
                <a:latin typeface="Arial"/>
                <a:ea typeface="Arial"/>
                <a:cs typeface="Arial"/>
              </a:rPr>
              <a:t>Coverage includes Spotify parsing and sessions, cryptography, network safety, website audit behavior, telemetry persistence, API boundaries, and DNS email-policy analysis.</a:t>
            </a:r>
          </a:p>
        </p:txBody>
      </p:sp>
      <p:sp>
        <p:nvSpPr>
          <p:cNvPr id="6" name="">
            <a:extLst xmlns:a="http://schemas.openxmlformats.org/drawingml/2006/main">
              <a:ext uri="{FF2B5EF4-FFF2-40B4-BE49-F238E27FC236}">
                <a16:creationId xmlns:a16="http://schemas.microsoft.com/office/drawing/2014/main" id="{F604ED16-BCF1-408C-97F3-285E72E9634F}"/>
              </a:ext>
            </a:extLst>
          </p:cNvPr>
          <p:cNvSpPr>
            <a:spLocks xmlns:a="http://schemas.openxmlformats.org/drawingml/2006/main" noGrp="1"/>
          </p:cNvSpPr>
          <p:nvPr/>
        </p:nvSpPr>
        <p:spPr>
          <a:xfrm xmlns:a="http://schemas.openxmlformats.org/drawingml/2006/main">
            <a:off x="6000750" y="15811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7" name="">
            <a:extLst xmlns:a="http://schemas.openxmlformats.org/drawingml/2006/main">
              <a:ext uri="{FF2B5EF4-FFF2-40B4-BE49-F238E27FC236}">
                <a16:creationId xmlns:a16="http://schemas.microsoft.com/office/drawing/2014/main" id="{8ED10B16-6C29-4D14-AC07-FF9E5C1E52CB}"/>
              </a:ext>
            </a:extLst>
          </p:cNvPr>
          <p:cNvSpPr>
            <a:spLocks xmlns:a="http://schemas.openxmlformats.org/drawingml/2006/main" noGrp="1"/>
          </p:cNvSpPr>
          <p:nvPr/>
        </p:nvSpPr>
        <p:spPr>
          <a:xfrm xmlns:a="http://schemas.openxmlformats.org/drawingml/2006/main">
            <a:off x="6267450" y="176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Release build</a:t>
            </a:r>
          </a:p>
        </p:txBody>
      </p:sp>
      <p:sp>
        <p:nvSpPr>
          <p:cNvPr id="8" name="">
            <a:extLst xmlns:a="http://schemas.openxmlformats.org/drawingml/2006/main">
              <a:ext uri="{FF2B5EF4-FFF2-40B4-BE49-F238E27FC236}">
                <a16:creationId xmlns:a16="http://schemas.microsoft.com/office/drawing/2014/main" id="{21B4A64E-6198-477C-AC4D-268750A2B9DD}"/>
              </a:ext>
            </a:extLst>
          </p:cNvPr>
          <p:cNvSpPr>
            <a:spLocks xmlns:a="http://schemas.openxmlformats.org/drawingml/2006/main" noGrp="1"/>
          </p:cNvSpPr>
          <p:nvPr/>
        </p:nvSpPr>
        <p:spPr>
          <a:xfrm xmlns:a="http://schemas.openxmlformats.org/drawingml/2006/main">
            <a:off x="8667750" y="17621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0 warnings, 0 errors</a:t>
            </a:r>
          </a:p>
        </p:txBody>
      </p:sp>
      <p:sp>
        <p:nvSpPr>
          <p:cNvPr id="9" name="">
            <a:extLst xmlns:a="http://schemas.openxmlformats.org/drawingml/2006/main">
              <a:ext uri="{FF2B5EF4-FFF2-40B4-BE49-F238E27FC236}">
                <a16:creationId xmlns:a16="http://schemas.microsoft.com/office/drawing/2014/main" id="{DDF51CF7-C4DD-4B17-BD94-A1490FC76D72}"/>
              </a:ext>
            </a:extLst>
          </p:cNvPr>
          <p:cNvSpPr>
            <a:spLocks xmlns:a="http://schemas.openxmlformats.org/drawingml/2006/main" noGrp="1"/>
          </p:cNvSpPr>
          <p:nvPr/>
        </p:nvSpPr>
        <p:spPr>
          <a:xfrm xmlns:a="http://schemas.openxmlformats.org/drawingml/2006/main">
            <a:off x="6000750" y="247650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0" name="">
            <a:extLst xmlns:a="http://schemas.openxmlformats.org/drawingml/2006/main">
              <a:ext uri="{FF2B5EF4-FFF2-40B4-BE49-F238E27FC236}">
                <a16:creationId xmlns:a16="http://schemas.microsoft.com/office/drawing/2014/main" id="{80E531D4-F7C7-4A81-A7C8-6924C54CE3A4}"/>
              </a:ext>
            </a:extLst>
          </p:cNvPr>
          <p:cNvSpPr>
            <a:spLocks xmlns:a="http://schemas.openxmlformats.org/drawingml/2006/main" noGrp="1"/>
          </p:cNvSpPr>
          <p:nvPr/>
        </p:nvSpPr>
        <p:spPr>
          <a:xfrm xmlns:a="http://schemas.openxmlformats.org/drawingml/2006/main">
            <a:off x="6267450" y="26574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Code formatting</a:t>
            </a:r>
          </a:p>
        </p:txBody>
      </p:sp>
      <p:sp>
        <p:nvSpPr>
          <p:cNvPr id="11" name="">
            <a:extLst xmlns:a="http://schemas.openxmlformats.org/drawingml/2006/main">
              <a:ext uri="{FF2B5EF4-FFF2-40B4-BE49-F238E27FC236}">
                <a16:creationId xmlns:a16="http://schemas.microsoft.com/office/drawing/2014/main" id="{E0DC18E6-28F3-4C3B-ABDA-1FE1541D2501}"/>
              </a:ext>
            </a:extLst>
          </p:cNvPr>
          <p:cNvSpPr>
            <a:spLocks xmlns:a="http://schemas.openxmlformats.org/drawingml/2006/main" noGrp="1"/>
          </p:cNvSpPr>
          <p:nvPr/>
        </p:nvSpPr>
        <p:spPr>
          <a:xfrm xmlns:a="http://schemas.openxmlformats.org/drawingml/2006/main">
            <a:off x="8667750" y="2657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Verified</a:t>
            </a:r>
          </a:p>
        </p:txBody>
      </p:sp>
      <p:sp>
        <p:nvSpPr>
          <p:cNvPr id="12" name="">
            <a:extLst xmlns:a="http://schemas.openxmlformats.org/drawingml/2006/main">
              <a:ext uri="{FF2B5EF4-FFF2-40B4-BE49-F238E27FC236}">
                <a16:creationId xmlns:a16="http://schemas.microsoft.com/office/drawing/2014/main" id="{4C07A8AC-0F0D-4B80-9D49-07EE76B3B3D5}"/>
              </a:ext>
            </a:extLst>
          </p:cNvPr>
          <p:cNvSpPr>
            <a:spLocks xmlns:a="http://schemas.openxmlformats.org/drawingml/2006/main" noGrp="1"/>
          </p:cNvSpPr>
          <p:nvPr/>
        </p:nvSpPr>
        <p:spPr>
          <a:xfrm xmlns:a="http://schemas.openxmlformats.org/drawingml/2006/main">
            <a:off x="6000750" y="33718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3" name="">
            <a:extLst xmlns:a="http://schemas.openxmlformats.org/drawingml/2006/main">
              <a:ext uri="{FF2B5EF4-FFF2-40B4-BE49-F238E27FC236}">
                <a16:creationId xmlns:a16="http://schemas.microsoft.com/office/drawing/2014/main" id="{AF0B513A-DB7C-491A-ADFC-536125171FA6}"/>
              </a:ext>
            </a:extLst>
          </p:cNvPr>
          <p:cNvSpPr>
            <a:spLocks xmlns:a="http://schemas.openxmlformats.org/drawingml/2006/main" noGrp="1"/>
          </p:cNvSpPr>
          <p:nvPr/>
        </p:nvSpPr>
        <p:spPr>
          <a:xfrm xmlns:a="http://schemas.openxmlformats.org/drawingml/2006/main">
            <a:off x="6267450" y="3552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498"/>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Published HTTP smoke suite</a:t>
            </a:r>
          </a:p>
        </p:txBody>
      </p:sp>
      <p:sp>
        <p:nvSpPr>
          <p:cNvPr id="14" name="">
            <a:extLst xmlns:a="http://schemas.openxmlformats.org/drawingml/2006/main">
              <a:ext uri="{FF2B5EF4-FFF2-40B4-BE49-F238E27FC236}">
                <a16:creationId xmlns:a16="http://schemas.microsoft.com/office/drawing/2014/main" id="{36AED250-1EF6-4F4E-99E5-65878229F8C1}"/>
              </a:ext>
            </a:extLst>
          </p:cNvPr>
          <p:cNvSpPr>
            <a:spLocks xmlns:a="http://schemas.openxmlformats.org/drawingml/2006/main" noGrp="1"/>
          </p:cNvSpPr>
          <p:nvPr/>
        </p:nvSpPr>
        <p:spPr>
          <a:xfrm xmlns:a="http://schemas.openxmlformats.org/drawingml/2006/main">
            <a:off x="9505950" y="35528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Passed</a:t>
            </a:r>
          </a:p>
        </p:txBody>
      </p:sp>
      <p:sp>
        <p:nvSpPr>
          <p:cNvPr id="15" name="">
            <a:extLst xmlns:a="http://schemas.openxmlformats.org/drawingml/2006/main">
              <a:ext uri="{FF2B5EF4-FFF2-40B4-BE49-F238E27FC236}">
                <a16:creationId xmlns:a16="http://schemas.microsoft.com/office/drawing/2014/main" id="{A4BDE8EB-B6B4-47FC-8D68-727EFE549088}"/>
              </a:ext>
            </a:extLst>
          </p:cNvPr>
          <p:cNvSpPr>
            <a:spLocks xmlns:a="http://schemas.openxmlformats.org/drawingml/2006/main" noGrp="1"/>
          </p:cNvSpPr>
          <p:nvPr/>
        </p:nvSpPr>
        <p:spPr>
          <a:xfrm xmlns:a="http://schemas.openxmlformats.org/drawingml/2006/main">
            <a:off x="6000750" y="4476750"/>
            <a:ext cx="4953000" cy="1066800"/>
          </a:xfrm>
          <a:prstGeom xmlns:a="http://schemas.openxmlformats.org/drawingml/2006/main" prst="roundRect">
            <a:avLst>
              <a:gd name="adj" fmla="val 12500"/>
            </a:avLst>
          </a:prstGeom>
          <a:solidFill xmlns:a="http://schemas.openxmlformats.org/drawingml/2006/main">
            <a:srgbClr val="FFF5E6"/>
          </a:solidFill>
          <a:ln xmlns:a="http://schemas.openxmlformats.org/drawingml/2006/main" w="9525">
            <a:solidFill>
              <a:srgbClr val="E8C991"/>
            </a:solidFill>
          </a:ln>
        </p:spPr>
      </p:sp>
      <p:sp>
        <p:nvSpPr>
          <p:cNvPr id="16" name="">
            <a:extLst xmlns:a="http://schemas.openxmlformats.org/drawingml/2006/main">
              <a:ext uri="{FF2B5EF4-FFF2-40B4-BE49-F238E27FC236}">
                <a16:creationId xmlns:a16="http://schemas.microsoft.com/office/drawing/2014/main" id="{4D8A66C7-F12D-4106-B864-4964A0472308}"/>
              </a:ext>
            </a:extLst>
          </p:cNvPr>
          <p:cNvSpPr>
            <a:spLocks xmlns:a="http://schemas.openxmlformats.org/drawingml/2006/main" noGrp="1"/>
          </p:cNvSpPr>
          <p:nvPr/>
        </p:nvSpPr>
        <p:spPr>
          <a:xfrm xmlns:a="http://schemas.openxmlformats.org/drawingml/2006/main">
            <a:off x="6267450" y="46672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D4861A"/>
                </a:solidFill>
                <a:latin typeface="Arial"/>
                <a:ea typeface="Arial"/>
                <a:cs typeface="Arial"/>
              </a:defRPr>
            </a:pPr>
            <a:r>
              <a:rPr sz="1650" b="1">
                <a:solidFill>
                  <a:srgbClr val="D4861A"/>
                </a:solidFill>
                <a:latin typeface="Arial"/>
                <a:ea typeface="Arial"/>
                <a:cs typeface="Arial"/>
              </a:rPr>
              <a:t>Public launch checkpoint</a:t>
            </a:r>
          </a:p>
        </p:txBody>
      </p:sp>
      <p:sp>
        <p:nvSpPr>
          <p:cNvPr id="17" name="">
            <a:extLst xmlns:a="http://schemas.openxmlformats.org/drawingml/2006/main">
              <a:ext uri="{FF2B5EF4-FFF2-40B4-BE49-F238E27FC236}">
                <a16:creationId xmlns:a16="http://schemas.microsoft.com/office/drawing/2014/main" id="{B00FEA32-D75A-45E3-A254-E4E539D34055}"/>
              </a:ext>
            </a:extLst>
          </p:cNvPr>
          <p:cNvSpPr>
            <a:spLocks xmlns:a="http://schemas.openxmlformats.org/drawingml/2006/main" noGrp="1"/>
          </p:cNvSpPr>
          <p:nvPr/>
        </p:nvSpPr>
        <p:spPr>
          <a:xfrm xmlns:a="http://schemas.openxmlformats.org/drawingml/2006/main">
            <a:off x="6267450" y="50292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7A551B"/>
                </a:solidFill>
                <a:latin typeface="Arial"/>
                <a:ea typeface="Arial"/>
                <a:cs typeface="Arial"/>
              </a:defRPr>
            </a:pPr>
            <a:r>
              <a:rPr sz="1350" b="0">
                <a:solidFill>
                  <a:srgbClr val="7A551B"/>
                </a:solidFill>
                <a:latin typeface="Arial"/>
                <a:ea typeface="Arial"/>
                <a:cs typeface="Arial"/>
              </a:rPr>
              <a:t>Complete Google Search Console review and protect public diagnostic pages before broad promotion.</a:t>
            </a:r>
          </a:p>
        </p:txBody>
      </p:sp>
      <p:sp>
        <p:nvSpPr>
          <p:cNvPr id="18" name="">
            <a:extLst xmlns:a="http://schemas.openxmlformats.org/drawingml/2006/main">
              <a:ext uri="{FF2B5EF4-FFF2-40B4-BE49-F238E27FC236}">
                <a16:creationId xmlns:a16="http://schemas.microsoft.com/office/drawing/2014/main" id="{77CA3503-5A28-4F7F-BCB1-D84DBC682633}"/>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D57F50E4-69BC-448B-A98B-D41BDFDAC5D6}"/>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11</a:t>
            </a:r>
          </a:p>
        </p:txBody>
      </p:sp>
    </p:spTree>
    <p:extLst>
      <p:ext uri="{BB962C8B-B14F-4D97-AF65-F5344CB8AC3E}">
        <p14:creationId xmlns:p14="http://schemas.microsoft.com/office/powerpoint/2010/main" val="9376851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46CEF23-4EED-478E-94B7-E98049B17876}"/>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884741DA-03D0-4D6B-A562-2D5275DBA049}"/>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Presentation route and Version 2</a:t>
            </a:r>
          </a:p>
        </p:txBody>
      </p:sp>
      <p:sp>
        <p:nvSpPr>
          <p:cNvPr id="3" name="">
            <a:extLst xmlns:a="http://schemas.openxmlformats.org/drawingml/2006/main">
              <a:ext uri="{FF2B5EF4-FFF2-40B4-BE49-F238E27FC236}">
                <a16:creationId xmlns:a16="http://schemas.microsoft.com/office/drawing/2014/main" id="{43D9D2D3-1F68-4E80-9F8B-0AD21CF504FC}"/>
              </a:ext>
            </a:extLst>
          </p:cNvPr>
          <p:cNvSpPr>
            <a:spLocks xmlns:a="http://schemas.openxmlformats.org/drawingml/2006/main" noGrp="1"/>
          </p:cNvSpPr>
          <p:nvPr/>
        </p:nvSpPr>
        <p:spPr>
          <a:xfrm xmlns:a="http://schemas.openxmlformats.org/drawingml/2006/main">
            <a:off x="685800" y="15811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72033"/>
                </a:solidFill>
                <a:latin typeface="Arial"/>
                <a:ea typeface="Arial"/>
                <a:cs typeface="Arial"/>
              </a:defRPr>
            </a:pPr>
            <a:r>
              <a:rPr sz="2175" b="1">
                <a:solidFill>
                  <a:srgbClr val="172033"/>
                </a:solidFill>
                <a:latin typeface="Arial"/>
                <a:ea typeface="Arial"/>
                <a:cs typeface="Arial"/>
              </a:rPr>
              <a:t>Suggested live demonstration</a:t>
            </a:r>
          </a:p>
        </p:txBody>
      </p:sp>
      <p:sp>
        <p:nvSpPr>
          <p:cNvPr id="4" name="">
            <a:extLst xmlns:a="http://schemas.openxmlformats.org/drawingml/2006/main">
              <a:ext uri="{FF2B5EF4-FFF2-40B4-BE49-F238E27FC236}">
                <a16:creationId xmlns:a16="http://schemas.microsoft.com/office/drawing/2014/main" id="{182992BA-DE68-4212-87FD-BC860E703B8B}"/>
              </a:ext>
            </a:extLst>
          </p:cNvPr>
          <p:cNvSpPr>
            <a:spLocks xmlns:a="http://schemas.openxmlformats.org/drawingml/2006/main" noGrp="1"/>
          </p:cNvSpPr>
          <p:nvPr/>
        </p:nvSpPr>
        <p:spPr>
          <a:xfrm xmlns:a="http://schemas.openxmlformats.org/drawingml/2006/main">
            <a:off x="742950" y="21526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2871B1A-0E53-4362-8FD1-839DA1CB457C}"/>
              </a:ext>
            </a:extLst>
          </p:cNvPr>
          <p:cNvSpPr>
            <a:spLocks xmlns:a="http://schemas.openxmlformats.org/drawingml/2006/main" noGrp="1"/>
          </p:cNvSpPr>
          <p:nvPr/>
        </p:nvSpPr>
        <p:spPr>
          <a:xfrm xmlns:a="http://schemas.openxmlformats.org/drawingml/2006/main">
            <a:off x="1371600" y="21336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Overview</a:t>
            </a:r>
          </a:p>
        </p:txBody>
      </p:sp>
      <p:sp>
        <p:nvSpPr>
          <p:cNvPr id="6" name="">
            <a:extLst xmlns:a="http://schemas.openxmlformats.org/drawingml/2006/main">
              <a:ext uri="{FF2B5EF4-FFF2-40B4-BE49-F238E27FC236}">
                <a16:creationId xmlns:a16="http://schemas.microsoft.com/office/drawing/2014/main" id="{EA5E6FEF-A36F-4989-B309-BF57729538BF}"/>
              </a:ext>
            </a:extLst>
          </p:cNvPr>
          <p:cNvSpPr>
            <a:spLocks xmlns:a="http://schemas.openxmlformats.org/drawingml/2006/main" noGrp="1"/>
          </p:cNvSpPr>
          <p:nvPr/>
        </p:nvSpPr>
        <p:spPr>
          <a:xfrm xmlns:a="http://schemas.openxmlformats.org/drawingml/2006/main">
            <a:off x="742950" y="27622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DD1E181-E807-49B0-93AD-E01BF2163B5A}"/>
              </a:ext>
            </a:extLst>
          </p:cNvPr>
          <p:cNvSpPr>
            <a:spLocks xmlns:a="http://schemas.openxmlformats.org/drawingml/2006/main" noGrp="1"/>
          </p:cNvSpPr>
          <p:nvPr/>
        </p:nvSpPr>
        <p:spPr>
          <a:xfrm xmlns:a="http://schemas.openxmlformats.org/drawingml/2006/main">
            <a:off x="1371600" y="2743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Network Calculator</a:t>
            </a:r>
          </a:p>
        </p:txBody>
      </p:sp>
      <p:sp>
        <p:nvSpPr>
          <p:cNvPr id="8" name="">
            <a:extLst xmlns:a="http://schemas.openxmlformats.org/drawingml/2006/main">
              <a:ext uri="{FF2B5EF4-FFF2-40B4-BE49-F238E27FC236}">
                <a16:creationId xmlns:a16="http://schemas.microsoft.com/office/drawing/2014/main" id="{736F0A83-854F-45B4-B168-42CCE2DE9B01}"/>
              </a:ext>
            </a:extLst>
          </p:cNvPr>
          <p:cNvSpPr>
            <a:spLocks xmlns:a="http://schemas.openxmlformats.org/drawingml/2006/main" noGrp="1"/>
          </p:cNvSpPr>
          <p:nvPr/>
        </p:nvSpPr>
        <p:spPr>
          <a:xfrm xmlns:a="http://schemas.openxmlformats.org/drawingml/2006/main">
            <a:off x="742950" y="3371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9ADF7105-59EB-4224-A325-7D2A56B9B8D8}"/>
              </a:ext>
            </a:extLst>
          </p:cNvPr>
          <p:cNvSpPr>
            <a:spLocks xmlns:a="http://schemas.openxmlformats.org/drawingml/2006/main" noGrp="1"/>
          </p:cNvSpPr>
          <p:nvPr/>
        </p:nvSpPr>
        <p:spPr>
          <a:xfrm xmlns:a="http://schemas.openxmlformats.org/drawingml/2006/main">
            <a:off x="1371600" y="3352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Website Audit</a:t>
            </a:r>
          </a:p>
        </p:txBody>
      </p:sp>
      <p:sp>
        <p:nvSpPr>
          <p:cNvPr id="10" name="">
            <a:extLst xmlns:a="http://schemas.openxmlformats.org/drawingml/2006/main">
              <a:ext uri="{FF2B5EF4-FFF2-40B4-BE49-F238E27FC236}">
                <a16:creationId xmlns:a16="http://schemas.microsoft.com/office/drawing/2014/main" id="{9A897F0C-F6E4-427C-8950-33ED7B735C87}"/>
              </a:ext>
            </a:extLst>
          </p:cNvPr>
          <p:cNvSpPr>
            <a:spLocks xmlns:a="http://schemas.openxmlformats.org/drawingml/2006/main" noGrp="1"/>
          </p:cNvSpPr>
          <p:nvPr/>
        </p:nvSpPr>
        <p:spPr>
          <a:xfrm xmlns:a="http://schemas.openxmlformats.org/drawingml/2006/main">
            <a:off x="742950" y="39814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5A5707DC-9C92-4618-A36B-B172413AEBCC}"/>
              </a:ext>
            </a:extLst>
          </p:cNvPr>
          <p:cNvSpPr>
            <a:spLocks xmlns:a="http://schemas.openxmlformats.org/drawingml/2006/main" noGrp="1"/>
          </p:cNvSpPr>
          <p:nvPr/>
        </p:nvSpPr>
        <p:spPr>
          <a:xfrm xmlns:a="http://schemas.openxmlformats.org/drawingml/2006/main">
            <a:off x="1371600" y="39624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API Runner</a:t>
            </a:r>
          </a:p>
        </p:txBody>
      </p:sp>
      <p:sp>
        <p:nvSpPr>
          <p:cNvPr id="12" name="">
            <a:extLst xmlns:a="http://schemas.openxmlformats.org/drawingml/2006/main">
              <a:ext uri="{FF2B5EF4-FFF2-40B4-BE49-F238E27FC236}">
                <a16:creationId xmlns:a16="http://schemas.microsoft.com/office/drawing/2014/main" id="{3EBBBD75-4B54-4798-96C4-9EC2D031BD54}"/>
              </a:ext>
            </a:extLst>
          </p:cNvPr>
          <p:cNvSpPr>
            <a:spLocks xmlns:a="http://schemas.openxmlformats.org/drawingml/2006/main" noGrp="1"/>
          </p:cNvSpPr>
          <p:nvPr/>
        </p:nvSpPr>
        <p:spPr>
          <a:xfrm xmlns:a="http://schemas.openxmlformats.org/drawingml/2006/main">
            <a:off x="742950" y="45910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CE609088-67EF-477D-92C8-D26560164E09}"/>
              </a:ext>
            </a:extLst>
          </p:cNvPr>
          <p:cNvSpPr>
            <a:spLocks xmlns:a="http://schemas.openxmlformats.org/drawingml/2006/main" noGrp="1"/>
          </p:cNvSpPr>
          <p:nvPr/>
        </p:nvSpPr>
        <p:spPr>
          <a:xfrm xmlns:a="http://schemas.openxmlformats.org/drawingml/2006/main">
            <a:off x="1371600" y="45720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Focus Lounge</a:t>
            </a:r>
          </a:p>
        </p:txBody>
      </p:sp>
      <p:sp>
        <p:nvSpPr>
          <p:cNvPr id="14" name="">
            <a:extLst xmlns:a="http://schemas.openxmlformats.org/drawingml/2006/main">
              <a:ext uri="{FF2B5EF4-FFF2-40B4-BE49-F238E27FC236}">
                <a16:creationId xmlns:a16="http://schemas.microsoft.com/office/drawing/2014/main" id="{9EFAE521-43D6-41C4-B0F1-E12009243559}"/>
              </a:ext>
            </a:extLst>
          </p:cNvPr>
          <p:cNvSpPr>
            <a:spLocks xmlns:a="http://schemas.openxmlformats.org/drawingml/2006/main" noGrp="1"/>
          </p:cNvSpPr>
          <p:nvPr/>
        </p:nvSpPr>
        <p:spPr>
          <a:xfrm xmlns:a="http://schemas.openxmlformats.org/drawingml/2006/main">
            <a:off x="5657850" y="1428750"/>
            <a:ext cx="5848350" cy="4191000"/>
          </a:xfrm>
          <a:prstGeom xmlns:a="http://schemas.openxmlformats.org/drawingml/2006/main" prst="roundRect">
            <a:avLst>
              <a:gd name="adj" fmla="val 5455"/>
            </a:avLst>
          </a:prstGeom>
          <a:solidFill xmlns:a="http://schemas.openxmlformats.org/drawingml/2006/main">
            <a:srgbClr val="111C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6793160-6776-45E1-BA25-8884D145536D}"/>
              </a:ext>
            </a:extLst>
          </p:cNvPr>
          <p:cNvSpPr>
            <a:spLocks xmlns:a="http://schemas.openxmlformats.org/drawingml/2006/main" noGrp="1"/>
          </p:cNvSpPr>
          <p:nvPr/>
        </p:nvSpPr>
        <p:spPr>
          <a:xfrm xmlns:a="http://schemas.openxmlformats.org/drawingml/2006/main">
            <a:off x="6019800" y="17716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Version 2 candidates</a:t>
            </a:r>
          </a:p>
        </p:txBody>
      </p:sp>
      <p:sp>
        <p:nvSpPr>
          <p:cNvPr id="16" name="">
            <a:extLst xmlns:a="http://schemas.openxmlformats.org/drawingml/2006/main">
              <a:ext uri="{FF2B5EF4-FFF2-40B4-BE49-F238E27FC236}">
                <a16:creationId xmlns:a16="http://schemas.microsoft.com/office/drawing/2014/main" id="{7F87F216-7164-4AC4-96C4-989207629FD6}"/>
              </a:ext>
            </a:extLst>
          </p:cNvPr>
          <p:cNvSpPr>
            <a:spLocks xmlns:a="http://schemas.openxmlformats.org/drawingml/2006/main" noGrp="1"/>
          </p:cNvSpPr>
          <p:nvPr/>
        </p:nvSpPr>
        <p:spPr>
          <a:xfrm xmlns:a="http://schemas.openxmlformats.org/drawingml/2006/main">
            <a:off x="6019800" y="2457450"/>
            <a:ext cx="4857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SQL Server health and performance monitor</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IT asset inventory with IP address management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Authenticated remote monitoring agent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Incident response and backup verification</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Role-based access for every diagnostic tool</a:t>
            </a:r>
          </a:p>
        </p:txBody>
      </p:sp>
      <p:sp>
        <p:nvSpPr>
          <p:cNvPr id="17" name="">
            <a:extLst xmlns:a="http://schemas.openxmlformats.org/drawingml/2006/main">
              <a:ext uri="{FF2B5EF4-FFF2-40B4-BE49-F238E27FC236}">
                <a16:creationId xmlns:a16="http://schemas.microsoft.com/office/drawing/2014/main" id="{C9F27119-E14D-4751-AFD2-914F11429483}"/>
              </a:ext>
            </a:extLst>
          </p:cNvPr>
          <p:cNvSpPr>
            <a:spLocks xmlns:a="http://schemas.openxmlformats.org/drawingml/2006/main" noGrp="1"/>
          </p:cNvSpPr>
          <p:nvPr/>
        </p:nvSpPr>
        <p:spPr>
          <a:xfrm xmlns:a="http://schemas.openxmlformats.org/drawingml/2006/main">
            <a:off x="6019800" y="50673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defRPr sz="1425" b="0">
                <a:solidFill>
                  <a:srgbClr val="6D9BFF"/>
                </a:solidFill>
                <a:latin typeface="Arial"/>
                <a:ea typeface="Arial"/>
                <a:cs typeface="Arial"/>
              </a:defRPr>
            </a:pPr>
            <a:r>
              <a:rPr sz="1425" b="0">
                <a:solidFill>
                  <a:srgbClr val="6D9BFF"/>
                </a:solidFill>
                <a:latin typeface="Arial"/>
                <a:ea typeface="Arial"/>
                <a:cs typeface="Arial"/>
              </a:rPr>
              <a:t>Version 1 establishes the platform and the safety model needed for these additions.</a:t>
            </a:r>
          </a:p>
        </p:txBody>
      </p:sp>
      <p:sp>
        <p:nvSpPr>
          <p:cNvPr id="18" name="">
            <a:extLst xmlns:a="http://schemas.openxmlformats.org/drawingml/2006/main">
              <a:ext uri="{FF2B5EF4-FFF2-40B4-BE49-F238E27FC236}">
                <a16:creationId xmlns:a16="http://schemas.microsoft.com/office/drawing/2014/main" id="{7144D4DF-D6EB-4FF9-8DD4-D90E59D75C43}"/>
              </a:ext>
            </a:extLst>
          </p:cNvPr>
          <p:cNvSpPr>
            <a:spLocks xmlns:a="http://schemas.openxmlformats.org/drawingml/2006/main" noGrp="1"/>
          </p:cNvSpPr>
          <p:nvPr/>
        </p:nvSpPr>
        <p:spPr>
          <a:xfrm xmlns:a="http://schemas.openxmlformats.org/drawingml/2006/main">
            <a:off x="685800" y="592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3976ED"/>
                </a:solidFill>
                <a:latin typeface="Arial"/>
                <a:ea typeface="Arial"/>
                <a:cs typeface="Arial"/>
              </a:defRPr>
            </a:pPr>
            <a:r>
              <a:rPr sz="2325" b="1">
                <a:solidFill>
                  <a:srgbClr val="3976ED"/>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F83BA500-E726-4239-9ED5-928B14859C4B}"/>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600B5DAE-4FC9-4AFD-B8A0-C5FEA1895FF9}"/>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12</a:t>
            </a:r>
          </a:p>
        </p:txBody>
      </p:sp>
    </p:spTree>
    <p:extLst>
      <p:ext uri="{BB962C8B-B14F-4D97-AF65-F5344CB8AC3E}">
        <p14:creationId xmlns:p14="http://schemas.microsoft.com/office/powerpoint/2010/main" val="17856115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2026-09-21T02:30:33.2590000Z</dcterms:created>
  <dcterms:modified xsi:type="dcterms:W3CDTF">2026-09-21T02:30:33.2590000Z</dcterms:modified>
</coreProperties>
</file>