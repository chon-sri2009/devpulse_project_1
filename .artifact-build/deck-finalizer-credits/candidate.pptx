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1bbff4c7ec4e27" /><Relationship Type="http://schemas.openxmlformats.org/officeDocument/2006/relationships/extended-properties" Target="/docProps/app.xml" Id="R73c143f9244340d0" /><Relationship Type="http://schemas.openxmlformats.org/officeDocument/2006/relationships/officeDocument" Target="/ppt/presentation.xml" Id="Rae32812fdf7d4fcd" /></Relationships>
</file>

<file path=ppt/presentation.xml><?xml version="1.0" encoding="utf-8"?>
<p:presentation xmlns:p="http://schemas.openxmlformats.org/presentationml/2006/main">
  <p:sldMasterIdLst>
    <p:sldMasterId xmlns:r="http://schemas.openxmlformats.org/officeDocument/2006/relationships" id="2147483648" r:id="R6ef2cfd731e648d6"/>
  </p:sldMasterIdLst>
  <p:notesMasterIdLst>
    <p:notesMasterId xmlns:r="http://schemas.openxmlformats.org/officeDocument/2006/relationships" r:id="R7a3c2d06189b42cf"/>
  </p:notesMasterIdLst>
  <p:sldIdLst>
    <p:sldId xmlns:r="http://schemas.openxmlformats.org/officeDocument/2006/relationships" id="256" r:id="R6ea82a4e304c4759"/>
    <p:sldId xmlns:r="http://schemas.openxmlformats.org/officeDocument/2006/relationships" id="257" r:id="R1b0d40c75a4242da"/>
    <p:sldId xmlns:r="http://schemas.openxmlformats.org/officeDocument/2006/relationships" id="258" r:id="R3c3a3ae19f1d41aa"/>
    <p:sldId xmlns:r="http://schemas.openxmlformats.org/officeDocument/2006/relationships" id="259" r:id="Re95f5273015b4992"/>
    <p:sldId xmlns:r="http://schemas.openxmlformats.org/officeDocument/2006/relationships" id="260" r:id="Ra8417f19ef4d46f7"/>
    <p:sldId xmlns:r="http://schemas.openxmlformats.org/officeDocument/2006/relationships" id="261" r:id="R6de77204076d4fcc"/>
    <p:sldId xmlns:r="http://schemas.openxmlformats.org/officeDocument/2006/relationships" id="262" r:id="R8121cf88f5ad466f"/>
    <p:sldId xmlns:r="http://schemas.openxmlformats.org/officeDocument/2006/relationships" id="263" r:id="R17829303f9d044b9"/>
    <p:sldId xmlns:r="http://schemas.openxmlformats.org/officeDocument/2006/relationships" id="264" r:id="R96cd7ee4464248d6"/>
    <p:sldId xmlns:r="http://schemas.openxmlformats.org/officeDocument/2006/relationships" id="265" r:id="Rf196da818d154e99"/>
    <p:sldId xmlns:r="http://schemas.openxmlformats.org/officeDocument/2006/relationships" id="266" r:id="R5caf2ddb0906469e"/>
    <p:sldId xmlns:r="http://schemas.openxmlformats.org/officeDocument/2006/relationships" id="267" r:id="Rdd95991ad84c47ed"/>
    <p:sldId xmlns:r="http://schemas.openxmlformats.org/officeDocument/2006/relationships" id="268" r:id="R3732f3c591154c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0bd0be93fb460f" /><Relationship Type="http://schemas.openxmlformats.org/officeDocument/2006/relationships/slideMaster" Target="/ppt/slideMasters/slideMaster1.xml" Id="R6ef2cfd731e648d6" /><Relationship Type="http://schemas.openxmlformats.org/officeDocument/2006/relationships/notesMaster" Target="/ppt/notesMasters/notesMaster1.xml" Id="R7a3c2d06189b42cf" /><Relationship Type="http://schemas.openxmlformats.org/officeDocument/2006/relationships/presProps" Target="/ppt/presProps.xml" Id="R168cea7d1d964398" /><Relationship Type="http://schemas.openxmlformats.org/officeDocument/2006/relationships/tableStyles" Target="/ppt/tableStyles.xml" Id="R5aabbe291d8649f8" /><Relationship Type="http://schemas.openxmlformats.org/officeDocument/2006/relationships/slide" Target="/ppt/slides/slide1.xml" Id="R6ea82a4e304c4759" /><Relationship Type="http://schemas.openxmlformats.org/officeDocument/2006/relationships/slide" Target="/ppt/slides/slide2.xml" Id="R1b0d40c75a4242da" /><Relationship Type="http://schemas.openxmlformats.org/officeDocument/2006/relationships/slide" Target="/ppt/slides/slide3.xml" Id="R3c3a3ae19f1d41aa" /><Relationship Type="http://schemas.openxmlformats.org/officeDocument/2006/relationships/slide" Target="/ppt/slides/slide4.xml" Id="Re95f5273015b4992" /><Relationship Type="http://schemas.openxmlformats.org/officeDocument/2006/relationships/slide" Target="/ppt/slides/slide5.xml" Id="Ra8417f19ef4d46f7" /><Relationship Type="http://schemas.openxmlformats.org/officeDocument/2006/relationships/slide" Target="/ppt/slides/slide6.xml" Id="R6de77204076d4fcc" /><Relationship Type="http://schemas.openxmlformats.org/officeDocument/2006/relationships/slide" Target="/ppt/slides/slide7.xml" Id="R8121cf88f5ad466f" /><Relationship Type="http://schemas.openxmlformats.org/officeDocument/2006/relationships/slide" Target="/ppt/slides/slide8.xml" Id="R17829303f9d044b9" /><Relationship Type="http://schemas.openxmlformats.org/officeDocument/2006/relationships/slide" Target="/ppt/slides/slide9.xml" Id="R96cd7ee4464248d6" /><Relationship Type="http://schemas.openxmlformats.org/officeDocument/2006/relationships/slide" Target="/ppt/slides/slide10.xml" Id="Rf196da818d154e99" /><Relationship Type="http://schemas.openxmlformats.org/officeDocument/2006/relationships/slide" Target="/ppt/slides/slide11.xml" Id="R5caf2ddb0906469e" /><Relationship Type="http://schemas.openxmlformats.org/officeDocument/2006/relationships/slide" Target="/ppt/slides/slide12.xml" Id="Rdd95991ad84c47ed" /><Relationship Type="http://schemas.openxmlformats.org/officeDocument/2006/relationships/slide" Target="/ppt/slides/slide13.xml" Id="R3732f3c591154c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0490497bce4a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5360f78a624a5b" /><Relationship Type="http://schemas.openxmlformats.org/officeDocument/2006/relationships/notesMaster" Target="/ppt/notesMasters/notesMaster1.xml" Id="R320ebdf307bf49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682612e94d41e6" /><Relationship Type="http://schemas.openxmlformats.org/officeDocument/2006/relationships/notesMaster" Target="/ppt/notesMasters/notesMaster1.xml" Id="R702fb1c28fc74d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cb38061c294f21" /><Relationship Type="http://schemas.openxmlformats.org/officeDocument/2006/relationships/notesMaster" Target="/ppt/notesMasters/notesMaster1.xml" Id="R627d5a9a8c2542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24e1df54c743e4" /><Relationship Type="http://schemas.openxmlformats.org/officeDocument/2006/relationships/notesMaster" Target="/ppt/notesMasters/notesMaster1.xml" Id="R0d8da5330ab74b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4e35973956408b" /><Relationship Type="http://schemas.openxmlformats.org/officeDocument/2006/relationships/notesMaster" Target="/ppt/notesMasters/notesMaster1.xml" Id="R2380df6ef9aa45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e57cda8d494246" /><Relationship Type="http://schemas.openxmlformats.org/officeDocument/2006/relationships/notesMaster" Target="/ppt/notesMasters/notesMaster1.xml" Id="R0ee3bcb394cd4d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19eb7b23914a53" /><Relationship Type="http://schemas.openxmlformats.org/officeDocument/2006/relationships/notesMaster" Target="/ppt/notesMasters/notesMaster1.xml" Id="R16af47df182146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104bbd956f4f42" /><Relationship Type="http://schemas.openxmlformats.org/officeDocument/2006/relationships/notesMaster" Target="/ppt/notesMasters/notesMaster1.xml" Id="R6b5bec8b83b946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626b0335df489a" /><Relationship Type="http://schemas.openxmlformats.org/officeDocument/2006/relationships/notesMaster" Target="/ppt/notesMasters/notesMaster1.xml" Id="R108b4fda91b145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6bf3306ad64c5d" /><Relationship Type="http://schemas.openxmlformats.org/officeDocument/2006/relationships/notesMaster" Target="/ppt/notesMasters/notesMaster1.xml" Id="R1f8c0349667642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f8b411c85b406c" /><Relationship Type="http://schemas.openxmlformats.org/officeDocument/2006/relationships/notesMaster" Target="/ppt/notesMasters/notesMaster1.xml" Id="R2dc72b6d6ab24d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1e94c619334d63" /><Relationship Type="http://schemas.openxmlformats.org/officeDocument/2006/relationships/notesMaster" Target="/ppt/notesMasters/notesMaster1.xml" Id="R0c86f4029c5c4b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0b955683c04f06" /><Relationship Type="http://schemas.openxmlformats.org/officeDocument/2006/relationships/notesMaster" Target="/ppt/notesMasters/notesMaster1.xml" Id="Rc2df3dd998894f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introducing DevPulse as a personal IT operations workspace. Version 1 combines system diagnostics, network tools, website testing, API checks, and a developer wellness area. Source: project README and running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three student blanks and the advisor blank before presenting. In PowerPoint, open slide 2, click a blank line, and type the name over the underscores.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tool switching and fragmented evidence. DevPulse does not replace enterprise monitoring. It gives students, developers, and small teams one place to run bounded checks and understand what the server sees.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feature map. Avoid reading every item. Pick one example from each row, then transition into the architecture and live screens.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Blazor Server executes diagnostics on the machine hosting DevPulse. A Render deployment therefore reports Render's container, not the visitor's computer. External requests pass through validation and bounded HTTP clients. Sources: Program.cs, PublicHttpTarget.cs, TelemetryService.cs.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that Operations answers whether a service can be reached now, while Telemetry preserves evidence about application behavior over time. Clarify that private addresses need explicit owner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calculator performs local arithmetic and contacts no target. Uploaded inspector files stay in memory and are not stored. SHA-256 proves integrity but cannot be decoded, while AES encryption can be reversed only with the password.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Audit combines a bounded crawler with an optional browser worker. The API Runner supports read-only public requests and restricts write methods to exact approved URLs. The DNS inspector checks MX, SPF, DMARC, DKIM, CAA, and addressing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module gives the presentation a human side. Explain that Spotify playback can remain on the user's phone or computer through Spotify Connect. Browser playback requires Premium and an explicit user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 1 has strong request-level boundaries, but the current public Render deployment exposes diagnostic pages anonymously. Before a public launch, require administrator authentication or a private access gateway. This also supports the ongoing Google Safe Browsing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credentials use .NET User Secrets. Render credentials use environment variables or a mounted secret file. Persistent storage keeps data-protection keys and encrypted sessions across container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count reflects the custom regression executable run for this release. The build, formatter, publish, and production HTTP smoke checks also passed. The Chrome Safe Browsing warning remains a launch blocker until Google identifies or clears the reported issue.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short live demonstration. The roadmap extends DevPulse from a single-host diagnostics workspace into a small IT operations platform. Do not promise a delivery date for Version 2 until scope and access controls are agreed.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036876027e48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d1f01185c042f0" /><Relationship Type="http://schemas.openxmlformats.org/officeDocument/2006/relationships/slideLayout" Target="/ppt/slideLayouts/slideLayout1.xml" Id="Rbccb2aed256a42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cb2aed256a42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a28b784f054e90" /><Relationship Type="http://schemas.openxmlformats.org/officeDocument/2006/relationships/notesSlide" Target="/ppt/notesSlides/notesSlide1.xml" Id="R0a6a0f4964cb44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713e2a8c2f4d2e" /><Relationship Type="http://schemas.openxmlformats.org/officeDocument/2006/relationships/notesSlide" Target="/ppt/notesSlides/notesSlide2.xml" Id="Rac31d5b0f2654d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fb2e25a51c44e5" /><Relationship Type="http://schemas.openxmlformats.org/officeDocument/2006/relationships/image" Target="/ppt/media/image.png" Id="R3bcff62273f34cf3" /><Relationship Type="http://schemas.openxmlformats.org/officeDocument/2006/relationships/notesSlide" Target="/ppt/notesSlides/notesSlide3.xml" Id="R4ce54a3a642f40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fbb0dd2793469f" /><Relationship Type="http://schemas.openxmlformats.org/officeDocument/2006/relationships/notesSlide" Target="/ppt/notesSlides/notesSlide4.xml" Id="Rb328c466b48841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2370332cb94496" /><Relationship Type="http://schemas.openxmlformats.org/officeDocument/2006/relationships/notesSlide" Target="/ppt/notesSlides/notesSlide5.xml" Id="Rce1394f3335b4d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5793f20b0841dc" /><Relationship Type="http://schemas.openxmlformats.org/officeDocument/2006/relationships/image" Target="/ppt/media/image2.png" Id="R1f62673288ea49cf" /><Relationship Type="http://schemas.openxmlformats.org/officeDocument/2006/relationships/image" Target="/ppt/media/image3.png" Id="R92aa93523be641e6" /><Relationship Type="http://schemas.openxmlformats.org/officeDocument/2006/relationships/notesSlide" Target="/ppt/notesSlides/notesSlide6.xml" Id="Re341127e1c6d4f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6febc64a1f4bee" /><Relationship Type="http://schemas.openxmlformats.org/officeDocument/2006/relationships/image" Target="/ppt/media/image4.png" Id="R1df138fc35914da9" /><Relationship Type="http://schemas.openxmlformats.org/officeDocument/2006/relationships/notesSlide" Target="/ppt/notesSlides/notesSlide7.xml" Id="R14e0a3b8836540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6ff5a437281478f" /><Relationship Type="http://schemas.openxmlformats.org/officeDocument/2006/relationships/image" Target="/ppt/media/image5.png" Id="Rd04966674ca64fdd" /><Relationship Type="http://schemas.openxmlformats.org/officeDocument/2006/relationships/image" Target="/ppt/media/image6.png" Id="R5ad5df1feffb4bee" /><Relationship Type="http://schemas.openxmlformats.org/officeDocument/2006/relationships/notesSlide" Target="/ppt/notesSlides/notesSlide8.xml" Id="R87ccf9068d7949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821ecf858543ab" /><Relationship Type="http://schemas.openxmlformats.org/officeDocument/2006/relationships/image" Target="/ppt/media/image7.png" Id="R7922a615da6549c3" /><Relationship Type="http://schemas.openxmlformats.org/officeDocument/2006/relationships/notesSlide" Target="/ppt/notesSlides/notesSlide9.xml" Id="R998b2d35c7724d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dfca424ec74168" /><Relationship Type="http://schemas.openxmlformats.org/officeDocument/2006/relationships/notesSlide" Target="/ppt/notesSlides/notesSlide10.xml" Id="R51393e20afa14c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0c60567abf84a38" /><Relationship Type="http://schemas.openxmlformats.org/officeDocument/2006/relationships/notesSlide" Target="/ppt/notesSlides/notesSlide11.xml" Id="Rd44a37fdc0c74b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b301ea4dc254a98" /><Relationship Type="http://schemas.openxmlformats.org/officeDocument/2006/relationships/notesSlide" Target="/ppt/notesSlides/notesSlide12.xml" Id="Rae81a829f81245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0da408559ac44ba" /><Relationship Type="http://schemas.openxmlformats.org/officeDocument/2006/relationships/notesSlide" Target="/ppt/notesSlides/notesSlide13.xml" Id="Rbfedd79589094973" /></Relationships>
</file>

<file path=ppt/slides/slide1.xml><?xml version="1.0" encoding="utf-8"?>
<p:sld xmlns:p="http://schemas.openxmlformats.org/presentationml/2006/main">
  <p:cSld>
    <p:bg>
      <p:bgPr>
        <a:solidFill xmlns:a="http://schemas.openxmlformats.org/drawingml/2006/main">
          <a:srgbClr val="111C3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3A15C7-6E5E-4CAE-84BF-49DDA99B8A38}"/>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976E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09196F-FE7A-40F6-A26C-58FFEF86F5A3}"/>
              </a:ext>
            </a:extLst>
          </p:cNvPr>
          <p:cNvSpPr>
            <a:spLocks xmlns:a="http://schemas.openxmlformats.org/drawingml/2006/main" noGrp="1"/>
          </p:cNvSpPr>
          <p:nvPr/>
        </p:nvSpPr>
        <p:spPr>
          <a:xfrm xmlns:a="http://schemas.openxmlformats.org/drawingml/2006/main">
            <a:off x="781050" y="7048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DP</a:t>
            </a:r>
          </a:p>
        </p:txBody>
      </p:sp>
      <p:sp>
        <p:nvSpPr>
          <p:cNvPr id="3" name="">
            <a:extLst xmlns:a="http://schemas.openxmlformats.org/drawingml/2006/main">
              <a:ext uri="{FF2B5EF4-FFF2-40B4-BE49-F238E27FC236}">
                <a16:creationId xmlns:a16="http://schemas.microsoft.com/office/drawing/2014/main" id="{270B4DE4-44D8-40C4-B80A-AD2B3C3B9893}"/>
              </a:ext>
            </a:extLst>
          </p:cNvPr>
          <p:cNvSpPr>
            <a:spLocks xmlns:a="http://schemas.openxmlformats.org/drawingml/2006/main" noGrp="1"/>
          </p:cNvSpPr>
          <p:nvPr/>
        </p:nvSpPr>
        <p:spPr>
          <a:xfrm xmlns:a="http://schemas.openxmlformats.org/drawingml/2006/main">
            <a:off x="781050" y="1866900"/>
            <a:ext cx="9906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DevPulse</a:t>
            </a:r>
          </a:p>
        </p:txBody>
      </p:sp>
      <p:sp>
        <p:nvSpPr>
          <p:cNvPr id="4" name="">
            <a:extLst xmlns:a="http://schemas.openxmlformats.org/drawingml/2006/main">
              <a:ext uri="{FF2B5EF4-FFF2-40B4-BE49-F238E27FC236}">
                <a16:creationId xmlns:a16="http://schemas.microsoft.com/office/drawing/2014/main" id="{D2EEED9A-A04B-4C60-BB36-2332E1C7D6DD}"/>
              </a:ext>
            </a:extLst>
          </p:cNvPr>
          <p:cNvSpPr>
            <a:spLocks xmlns:a="http://schemas.openxmlformats.org/drawingml/2006/main" noGrp="1"/>
          </p:cNvSpPr>
          <p:nvPr/>
        </p:nvSpPr>
        <p:spPr>
          <a:xfrm xmlns:a="http://schemas.openxmlformats.org/drawingml/2006/main">
            <a:off x="800100" y="28575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6D9BFF"/>
                </a:solidFill>
                <a:latin typeface="Arial"/>
                <a:ea typeface="Arial"/>
                <a:cs typeface="Arial"/>
              </a:defRPr>
            </a:pPr>
            <a:r>
              <a:rPr sz="2175" b="1">
                <a:solidFill>
                  <a:srgbClr val="6D9BFF"/>
                </a:solidFill>
                <a:latin typeface="Arial"/>
                <a:ea typeface="Arial"/>
                <a:cs typeface="Arial"/>
              </a:rPr>
              <a:t>Version 1 project presentation</a:t>
            </a:r>
          </a:p>
        </p:txBody>
      </p:sp>
      <p:sp>
        <p:nvSpPr>
          <p:cNvPr id="5" name="">
            <a:extLst xmlns:a="http://schemas.openxmlformats.org/drawingml/2006/main">
              <a:ext uri="{FF2B5EF4-FFF2-40B4-BE49-F238E27FC236}">
                <a16:creationId xmlns:a16="http://schemas.microsoft.com/office/drawing/2014/main" id="{67C2307E-4D3F-441F-9554-3B6DC83B3412}"/>
              </a:ext>
            </a:extLst>
          </p:cNvPr>
          <p:cNvSpPr>
            <a:spLocks xmlns:a="http://schemas.openxmlformats.org/drawingml/2006/main" noGrp="1"/>
          </p:cNvSpPr>
          <p:nvPr/>
        </p:nvSpPr>
        <p:spPr>
          <a:xfrm xmlns:a="http://schemas.openxmlformats.org/drawingml/2006/main">
            <a:off x="800100" y="3543300"/>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0">
                <a:solidFill>
                  <a:srgbClr val="DCE6F8"/>
                </a:solidFill>
                <a:latin typeface="Arial"/>
                <a:ea typeface="Arial"/>
                <a:cs typeface="Arial"/>
              </a:defRPr>
            </a:pPr>
            <a:r>
              <a:rPr sz="2175" b="0">
                <a:solidFill>
                  <a:srgbClr val="DCE6F8"/>
                </a:solidFill>
                <a:latin typeface="Arial"/>
                <a:ea typeface="Arial"/>
                <a:cs typeface="Arial"/>
              </a:rPr>
              <a:t>IT diagnostics, testing, and developer focus in one web workspace</a:t>
            </a:r>
          </a:p>
        </p:txBody>
      </p:sp>
      <p:sp>
        <p:nvSpPr>
          <p:cNvPr id="6" name="">
            <a:extLst xmlns:a="http://schemas.openxmlformats.org/drawingml/2006/main">
              <a:ext uri="{FF2B5EF4-FFF2-40B4-BE49-F238E27FC236}">
                <a16:creationId xmlns:a16="http://schemas.microsoft.com/office/drawing/2014/main" id="{BC2139EC-5838-4376-BBA0-6FCA548C449A}"/>
              </a:ext>
            </a:extLst>
          </p:cNvPr>
          <p:cNvSpPr>
            <a:spLocks xmlns:a="http://schemas.openxmlformats.org/drawingml/2006/main" noGrp="1"/>
          </p:cNvSpPr>
          <p:nvPr/>
        </p:nvSpPr>
        <p:spPr>
          <a:xfrm xmlns:a="http://schemas.openxmlformats.org/drawingml/2006/main">
            <a:off x="800100" y="5829300"/>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9FB1CF"/>
                </a:solidFill>
                <a:latin typeface="Arial"/>
                <a:ea typeface="Arial"/>
                <a:cs typeface="Arial"/>
              </a:defRPr>
            </a:pPr>
            <a:r>
              <a:rPr sz="1350" b="0">
                <a:solidFill>
                  <a:srgbClr val="9FB1CF"/>
                </a:solidFill>
                <a:latin typeface="Arial"/>
                <a:ea typeface="Arial"/>
                <a:cs typeface="Arial"/>
              </a:rPr>
              <a:t>Built with .NET 9 and Blazor Server</a:t>
            </a:r>
          </a:p>
        </p:txBody>
      </p:sp>
      <p:sp>
        <p:nvSpPr>
          <p:cNvPr id="7" name="">
            <a:extLst xmlns:a="http://schemas.openxmlformats.org/drawingml/2006/main">
              <a:ext uri="{FF2B5EF4-FFF2-40B4-BE49-F238E27FC236}">
                <a16:creationId xmlns:a16="http://schemas.microsoft.com/office/drawing/2014/main" id="{27609717-D641-4435-9F3F-3CB8A4B640BA}"/>
              </a:ext>
            </a:extLst>
          </p:cNvPr>
          <p:cNvSpPr>
            <a:spLocks xmlns:a="http://schemas.openxmlformats.org/drawingml/2006/main" noGrp="1"/>
          </p:cNvSpPr>
          <p:nvPr/>
        </p:nvSpPr>
        <p:spPr>
          <a:xfrm xmlns:a="http://schemas.openxmlformats.org/drawingml/2006/main">
            <a:off x="9658350" y="4933950"/>
            <a:ext cx="1409700" cy="1409700"/>
          </a:xfrm>
          <a:prstGeom xmlns:a="http://schemas.openxmlformats.org/drawingml/2006/main" prst="roundRect">
            <a:avLst>
              <a:gd name="adj" fmla="val 20270"/>
            </a:avLst>
          </a:prstGeom>
          <a:solidFill xmlns:a="http://schemas.openxmlformats.org/drawingml/2006/main">
            <a:srgbClr val="3976E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19ECE49-8FD5-41D0-BC02-E3BD4E91D6A8}"/>
              </a:ext>
            </a:extLst>
          </p:cNvPr>
          <p:cNvSpPr>
            <a:spLocks xmlns:a="http://schemas.openxmlformats.org/drawingml/2006/main" noGrp="1"/>
          </p:cNvSpPr>
          <p:nvPr/>
        </p:nvSpPr>
        <p:spPr>
          <a:xfrm xmlns:a="http://schemas.openxmlformats.org/drawingml/2006/main">
            <a:off x="9658350" y="5238750"/>
            <a:ext cx="140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600" b="1">
                <a:solidFill>
                  <a:srgbClr val="FFFFFF"/>
                </a:solidFill>
                <a:latin typeface="Arial"/>
                <a:ea typeface="Arial"/>
                <a:cs typeface="Arial"/>
              </a:defRPr>
            </a:pPr>
            <a:r>
              <a:rPr sz="3600" b="1">
                <a:solidFill>
                  <a:srgbClr val="FFFFFF"/>
                </a:solidFill>
                <a:latin typeface="Arial"/>
                <a:ea typeface="Arial"/>
                <a:cs typeface="Arial"/>
              </a:rPr>
              <a:t>V1</a:t>
            </a:r>
          </a:p>
        </p:txBody>
      </p:sp>
    </p:spTree>
    <p:extLst>
      <p:ext uri="{BB962C8B-B14F-4D97-AF65-F5344CB8AC3E}">
        <p14:creationId xmlns:p14="http://schemas.microsoft.com/office/powerpoint/2010/main" val="4029526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980E343-0035-4124-9709-D290F4F9C299}"/>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CREDITS</a:t>
            </a:r>
          </a:p>
        </p:txBody>
      </p:sp>
      <p:sp>
        <p:nvSpPr>
          <p:cNvPr id="2" name="">
            <a:extLst xmlns:a="http://schemas.openxmlformats.org/drawingml/2006/main">
              <a:ext uri="{FF2B5EF4-FFF2-40B4-BE49-F238E27FC236}">
                <a16:creationId xmlns:a16="http://schemas.microsoft.com/office/drawing/2014/main" id="{0C4D2D04-F587-404C-ADE7-18D6B65F9009}"/>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Project creators</a:t>
            </a:r>
          </a:p>
        </p:txBody>
      </p:sp>
      <p:sp>
        <p:nvSpPr>
          <p:cNvPr id="3" name="">
            <a:extLst xmlns:a="http://schemas.openxmlformats.org/drawingml/2006/main">
              <a:ext uri="{FF2B5EF4-FFF2-40B4-BE49-F238E27FC236}">
                <a16:creationId xmlns:a16="http://schemas.microsoft.com/office/drawing/2014/main" id="{DAB1FE1D-20B6-43AD-88AF-F0D1CCFAF5F2}"/>
              </a:ext>
            </a:extLst>
          </p:cNvPr>
          <p:cNvSpPr>
            <a:spLocks xmlns:a="http://schemas.openxmlformats.org/drawingml/2006/main" noGrp="1"/>
          </p:cNvSpPr>
          <p:nvPr/>
        </p:nvSpPr>
        <p:spPr>
          <a:xfrm xmlns:a="http://schemas.openxmlformats.org/drawingml/2006/main">
            <a:off x="685800" y="14097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F6F8C"/>
                </a:solidFill>
                <a:latin typeface="Arial"/>
                <a:ea typeface="Arial"/>
                <a:cs typeface="Arial"/>
              </a:defRPr>
            </a:pPr>
            <a:r>
              <a:rPr sz="1875" b="0">
                <a:solidFill>
                  <a:srgbClr val="5F6F8C"/>
                </a:solidFill>
                <a:latin typeface="Arial"/>
                <a:ea typeface="Arial"/>
                <a:cs typeface="Arial"/>
              </a:rPr>
              <a:t>DevPulse Version 1</a:t>
            </a:r>
          </a:p>
        </p:txBody>
      </p:sp>
      <p:sp>
        <p:nvSpPr>
          <p:cNvPr id="4" name="">
            <a:extLst xmlns:a="http://schemas.openxmlformats.org/drawingml/2006/main">
              <a:ext uri="{FF2B5EF4-FFF2-40B4-BE49-F238E27FC236}">
                <a16:creationId xmlns:a16="http://schemas.microsoft.com/office/drawing/2014/main" id="{BC9C3FF9-5A07-4B53-8635-98F75B8113C1}"/>
              </a:ext>
            </a:extLst>
          </p:cNvPr>
          <p:cNvSpPr>
            <a:spLocks xmlns:a="http://schemas.openxmlformats.org/drawingml/2006/main" noGrp="1"/>
          </p:cNvSpPr>
          <p:nvPr/>
        </p:nvSpPr>
        <p:spPr>
          <a:xfrm xmlns:a="http://schemas.openxmlformats.org/drawingml/2006/main">
            <a:off x="685800" y="20955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72033"/>
                </a:solidFill>
                <a:latin typeface="Arial"/>
                <a:ea typeface="Arial"/>
                <a:cs typeface="Arial"/>
              </a:defRPr>
            </a:pPr>
            <a:r>
              <a:rPr sz="2250" b="1">
                <a:solidFill>
                  <a:srgbClr val="172033"/>
                </a:solidFill>
                <a:latin typeface="Arial"/>
                <a:ea typeface="Arial"/>
                <a:cs typeface="Arial"/>
              </a:rPr>
              <a:t>Student team</a:t>
            </a:r>
          </a:p>
        </p:txBody>
      </p:sp>
      <p:sp>
        <p:nvSpPr>
          <p:cNvPr id="5" name="">
            <a:extLst xmlns:a="http://schemas.openxmlformats.org/drawingml/2006/main">
              <a:ext uri="{FF2B5EF4-FFF2-40B4-BE49-F238E27FC236}">
                <a16:creationId xmlns:a16="http://schemas.microsoft.com/office/drawing/2014/main" id="{048278BD-846F-4754-8291-C41BC809B02B}"/>
              </a:ext>
            </a:extLst>
          </p:cNvPr>
          <p:cNvSpPr>
            <a:spLocks xmlns:a="http://schemas.openxmlformats.org/drawingml/2006/main" noGrp="1"/>
          </p:cNvSpPr>
          <p:nvPr/>
        </p:nvSpPr>
        <p:spPr>
          <a:xfrm xmlns:a="http://schemas.openxmlformats.org/drawingml/2006/main">
            <a:off x="685800" y="28003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Student 1</a:t>
            </a:r>
          </a:p>
        </p:txBody>
      </p:sp>
      <p:sp>
        <p:nvSpPr>
          <p:cNvPr id="6" name="">
            <a:extLst xmlns:a="http://schemas.openxmlformats.org/drawingml/2006/main">
              <a:ext uri="{FF2B5EF4-FFF2-40B4-BE49-F238E27FC236}">
                <a16:creationId xmlns:a16="http://schemas.microsoft.com/office/drawing/2014/main" id="{92C8011F-BC18-4620-A987-BB4E27B82F0A}"/>
              </a:ext>
            </a:extLst>
          </p:cNvPr>
          <p:cNvSpPr>
            <a:spLocks xmlns:a="http://schemas.openxmlformats.org/drawingml/2006/main" noGrp="1"/>
          </p:cNvSpPr>
          <p:nvPr/>
        </p:nvSpPr>
        <p:spPr>
          <a:xfrm xmlns:a="http://schemas.openxmlformats.org/drawingml/2006/main">
            <a:off x="2362200" y="27241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502"/>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________________________________</a:t>
            </a:r>
          </a:p>
        </p:txBody>
      </p:sp>
      <p:sp>
        <p:nvSpPr>
          <p:cNvPr id="7" name="">
            <a:extLst xmlns:a="http://schemas.openxmlformats.org/drawingml/2006/main">
              <a:ext uri="{FF2B5EF4-FFF2-40B4-BE49-F238E27FC236}">
                <a16:creationId xmlns:a16="http://schemas.microsoft.com/office/drawing/2014/main" id="{3504FCD8-C637-4250-92FF-897F14791175}"/>
              </a:ext>
            </a:extLst>
          </p:cNvPr>
          <p:cNvSpPr>
            <a:spLocks xmlns:a="http://schemas.openxmlformats.org/drawingml/2006/main" noGrp="1"/>
          </p:cNvSpPr>
          <p:nvPr/>
        </p:nvSpPr>
        <p:spPr>
          <a:xfrm xmlns:a="http://schemas.openxmlformats.org/drawingml/2006/main">
            <a:off x="685800" y="35433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Student 2</a:t>
            </a:r>
          </a:p>
        </p:txBody>
      </p:sp>
      <p:sp>
        <p:nvSpPr>
          <p:cNvPr id="8" name="">
            <a:extLst xmlns:a="http://schemas.openxmlformats.org/drawingml/2006/main">
              <a:ext uri="{FF2B5EF4-FFF2-40B4-BE49-F238E27FC236}">
                <a16:creationId xmlns:a16="http://schemas.microsoft.com/office/drawing/2014/main" id="{C76B9427-0EDB-47CD-B3CC-7E9A8FF3A660}"/>
              </a:ext>
            </a:extLst>
          </p:cNvPr>
          <p:cNvSpPr>
            <a:spLocks xmlns:a="http://schemas.openxmlformats.org/drawingml/2006/main" noGrp="1"/>
          </p:cNvSpPr>
          <p:nvPr/>
        </p:nvSpPr>
        <p:spPr>
          <a:xfrm xmlns:a="http://schemas.openxmlformats.org/drawingml/2006/main">
            <a:off x="2362200" y="34671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502"/>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________________________________</a:t>
            </a:r>
          </a:p>
        </p:txBody>
      </p:sp>
      <p:sp>
        <p:nvSpPr>
          <p:cNvPr id="9" name="">
            <a:extLst xmlns:a="http://schemas.openxmlformats.org/drawingml/2006/main">
              <a:ext uri="{FF2B5EF4-FFF2-40B4-BE49-F238E27FC236}">
                <a16:creationId xmlns:a16="http://schemas.microsoft.com/office/drawing/2014/main" id="{1F187B0B-F121-48BC-8F64-EC9D062FEDE4}"/>
              </a:ext>
            </a:extLst>
          </p:cNvPr>
          <p:cNvSpPr>
            <a:spLocks xmlns:a="http://schemas.openxmlformats.org/drawingml/2006/main" noGrp="1"/>
          </p:cNvSpPr>
          <p:nvPr/>
        </p:nvSpPr>
        <p:spPr>
          <a:xfrm xmlns:a="http://schemas.openxmlformats.org/drawingml/2006/main">
            <a:off x="685800" y="428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Student 3</a:t>
            </a:r>
          </a:p>
        </p:txBody>
      </p:sp>
      <p:sp>
        <p:nvSpPr>
          <p:cNvPr id="10" name="">
            <a:extLst xmlns:a="http://schemas.openxmlformats.org/drawingml/2006/main">
              <a:ext uri="{FF2B5EF4-FFF2-40B4-BE49-F238E27FC236}">
                <a16:creationId xmlns:a16="http://schemas.microsoft.com/office/drawing/2014/main" id="{6E08F253-88E5-4A24-A2CC-8F9171D86938}"/>
              </a:ext>
            </a:extLst>
          </p:cNvPr>
          <p:cNvSpPr>
            <a:spLocks xmlns:a="http://schemas.openxmlformats.org/drawingml/2006/main" noGrp="1"/>
          </p:cNvSpPr>
          <p:nvPr/>
        </p:nvSpPr>
        <p:spPr>
          <a:xfrm xmlns:a="http://schemas.openxmlformats.org/drawingml/2006/main">
            <a:off x="2362200" y="42100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502"/>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________________________________</a:t>
            </a:r>
          </a:p>
        </p:txBody>
      </p:sp>
      <p:sp>
        <p:nvSpPr>
          <p:cNvPr id="11" name="">
            <a:extLst xmlns:a="http://schemas.openxmlformats.org/drawingml/2006/main">
              <a:ext uri="{FF2B5EF4-FFF2-40B4-BE49-F238E27FC236}">
                <a16:creationId xmlns:a16="http://schemas.microsoft.com/office/drawing/2014/main" id="{CDCFCA45-76D1-4BD4-A3F5-6056755023CF}"/>
              </a:ext>
            </a:extLst>
          </p:cNvPr>
          <p:cNvSpPr>
            <a:spLocks xmlns:a="http://schemas.openxmlformats.org/drawingml/2006/main" noGrp="1"/>
          </p:cNvSpPr>
          <p:nvPr/>
        </p:nvSpPr>
        <p:spPr>
          <a:xfrm xmlns:a="http://schemas.openxmlformats.org/drawingml/2006/main">
            <a:off x="7410450" y="20955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72033"/>
                </a:solidFill>
                <a:latin typeface="Arial"/>
                <a:ea typeface="Arial"/>
                <a:cs typeface="Arial"/>
              </a:defRPr>
            </a:pPr>
            <a:r>
              <a:rPr sz="2250" b="1">
                <a:solidFill>
                  <a:srgbClr val="172033"/>
                </a:solidFill>
                <a:latin typeface="Arial"/>
                <a:ea typeface="Arial"/>
                <a:cs typeface="Arial"/>
              </a:rPr>
              <a:t>Project advisor</a:t>
            </a:r>
          </a:p>
        </p:txBody>
      </p:sp>
      <p:sp>
        <p:nvSpPr>
          <p:cNvPr id="12" name="">
            <a:extLst xmlns:a="http://schemas.openxmlformats.org/drawingml/2006/main">
              <a:ext uri="{FF2B5EF4-FFF2-40B4-BE49-F238E27FC236}">
                <a16:creationId xmlns:a16="http://schemas.microsoft.com/office/drawing/2014/main" id="{82B1C720-2D17-455F-8160-7514A6EFC46E}"/>
              </a:ext>
            </a:extLst>
          </p:cNvPr>
          <p:cNvSpPr>
            <a:spLocks xmlns:a="http://schemas.openxmlformats.org/drawingml/2006/main" noGrp="1"/>
          </p:cNvSpPr>
          <p:nvPr/>
        </p:nvSpPr>
        <p:spPr>
          <a:xfrm xmlns:a="http://schemas.openxmlformats.org/drawingml/2006/main">
            <a:off x="7410450" y="280035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7965A"/>
                </a:solidFill>
                <a:latin typeface="Arial"/>
                <a:ea typeface="Arial"/>
                <a:cs typeface="Arial"/>
              </a:defRPr>
            </a:pPr>
            <a:r>
              <a:rPr sz="1350" b="1">
                <a:solidFill>
                  <a:srgbClr val="17965A"/>
                </a:solidFill>
                <a:latin typeface="Arial"/>
                <a:ea typeface="Arial"/>
                <a:cs typeface="Arial"/>
              </a:rPr>
              <a:t>Advisor</a:t>
            </a:r>
          </a:p>
        </p:txBody>
      </p:sp>
      <p:sp>
        <p:nvSpPr>
          <p:cNvPr id="13" name="">
            <a:extLst xmlns:a="http://schemas.openxmlformats.org/drawingml/2006/main">
              <a:ext uri="{FF2B5EF4-FFF2-40B4-BE49-F238E27FC236}">
                <a16:creationId xmlns:a16="http://schemas.microsoft.com/office/drawing/2014/main" id="{BB8390BE-F988-46AD-AC90-3E402301D10A}"/>
              </a:ext>
            </a:extLst>
          </p:cNvPr>
          <p:cNvSpPr>
            <a:spLocks xmlns:a="http://schemas.openxmlformats.org/drawingml/2006/main" noGrp="1"/>
          </p:cNvSpPr>
          <p:nvPr/>
        </p:nvSpPr>
        <p:spPr>
          <a:xfrm xmlns:a="http://schemas.openxmlformats.org/drawingml/2006/main">
            <a:off x="7410450" y="32194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________________________</a:t>
            </a:r>
          </a:p>
        </p:txBody>
      </p:sp>
      <p:sp>
        <p:nvSpPr>
          <p:cNvPr id="14" name="">
            <a:extLst xmlns:a="http://schemas.openxmlformats.org/drawingml/2006/main">
              <a:ext uri="{FF2B5EF4-FFF2-40B4-BE49-F238E27FC236}">
                <a16:creationId xmlns:a16="http://schemas.microsoft.com/office/drawing/2014/main" id="{E56B9AA8-0487-47FD-B37C-F413B88B9370}"/>
              </a:ext>
            </a:extLst>
          </p:cNvPr>
          <p:cNvSpPr>
            <a:spLocks xmlns:a="http://schemas.openxmlformats.org/drawingml/2006/main" noGrp="1"/>
          </p:cNvSpPr>
          <p:nvPr/>
        </p:nvSpPr>
        <p:spPr>
          <a:xfrm xmlns:a="http://schemas.openxmlformats.org/drawingml/2006/main">
            <a:off x="7410450" y="400050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Replace each blank line with the correct name before presenting.</a:t>
            </a:r>
          </a:p>
        </p:txBody>
      </p:sp>
      <p:sp>
        <p:nvSpPr>
          <p:cNvPr id="15" name="">
            <a:extLst xmlns:a="http://schemas.openxmlformats.org/drawingml/2006/main">
              <a:ext uri="{FF2B5EF4-FFF2-40B4-BE49-F238E27FC236}">
                <a16:creationId xmlns:a16="http://schemas.microsoft.com/office/drawing/2014/main" id="{41CA646B-1070-4D04-A0E5-E450A7485FAF}"/>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6" name="">
            <a:extLst xmlns:a="http://schemas.openxmlformats.org/drawingml/2006/main">
              <a:ext uri="{FF2B5EF4-FFF2-40B4-BE49-F238E27FC236}">
                <a16:creationId xmlns:a16="http://schemas.microsoft.com/office/drawing/2014/main" id="{3E9A1776-5022-4FF2-A59B-2D7BE67DD4D9}"/>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02</a:t>
            </a:r>
          </a:p>
        </p:txBody>
      </p:sp>
    </p:spTree>
    <p:extLst>
      <p:ext uri="{BB962C8B-B14F-4D97-AF65-F5344CB8AC3E}">
        <p14:creationId xmlns:p14="http://schemas.microsoft.com/office/powerpoint/2010/main" val="4809020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D66071-23CE-4A62-95F7-901CE3E59428}"/>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PURPOSE</a:t>
            </a:r>
          </a:p>
        </p:txBody>
      </p:sp>
      <p:sp>
        <p:nvSpPr>
          <p:cNvPr id="2" name="">
            <a:extLst xmlns:a="http://schemas.openxmlformats.org/drawingml/2006/main">
              <a:ext uri="{FF2B5EF4-FFF2-40B4-BE49-F238E27FC236}">
                <a16:creationId xmlns:a16="http://schemas.microsoft.com/office/drawing/2014/main" id="{31AAE157-218D-4C53-8C4B-ECD36C8379C5}"/>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The project goal</a:t>
            </a:r>
          </a:p>
        </p:txBody>
      </p:sp>
      <p:sp>
        <p:nvSpPr>
          <p:cNvPr id="3" name="">
            <a:extLst xmlns:a="http://schemas.openxmlformats.org/drawingml/2006/main">
              <a:ext uri="{FF2B5EF4-FFF2-40B4-BE49-F238E27FC236}">
                <a16:creationId xmlns:a16="http://schemas.microsoft.com/office/drawing/2014/main" id="{23B835C8-8B23-41A9-935A-3AF1FD841E4C}"/>
              </a:ext>
            </a:extLst>
          </p:cNvPr>
          <p:cNvSpPr>
            <a:spLocks xmlns:a="http://schemas.openxmlformats.org/drawingml/2006/main" noGrp="1"/>
          </p:cNvSpPr>
          <p:nvPr/>
        </p:nvSpPr>
        <p:spPr>
          <a:xfrm xmlns:a="http://schemas.openxmlformats.org/drawingml/2006/main">
            <a:off x="685800" y="160020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72033"/>
                </a:solidFill>
                <a:latin typeface="Arial"/>
                <a:ea typeface="Arial"/>
                <a:cs typeface="Arial"/>
              </a:defRPr>
            </a:pPr>
            <a:r>
              <a:rPr sz="2100" b="1">
                <a:solidFill>
                  <a:srgbClr val="172033"/>
                </a:solidFill>
                <a:latin typeface="Arial"/>
                <a:ea typeface="Arial"/>
                <a:cs typeface="Arial"/>
              </a:rPr>
              <a:t>Developers often switch between operating system tools, network calculators, API clients, website auditors, and music applications.</a:t>
            </a:r>
          </a:p>
        </p:txBody>
      </p:sp>
      <p:sp>
        <p:nvSpPr>
          <p:cNvPr id="4" name="">
            <a:extLst xmlns:a="http://schemas.openxmlformats.org/drawingml/2006/main">
              <a:ext uri="{FF2B5EF4-FFF2-40B4-BE49-F238E27FC236}">
                <a16:creationId xmlns:a16="http://schemas.microsoft.com/office/drawing/2014/main" id="{596D2F47-D049-4417-BC3B-B5EC66A95160}"/>
              </a:ext>
            </a:extLst>
          </p:cNvPr>
          <p:cNvSpPr>
            <a:spLocks xmlns:a="http://schemas.openxmlformats.org/drawingml/2006/main" noGrp="1"/>
          </p:cNvSpPr>
          <p:nvPr/>
        </p:nvSpPr>
        <p:spPr>
          <a:xfrm xmlns:a="http://schemas.openxmlformats.org/drawingml/2006/main">
            <a:off x="685800" y="3286125"/>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5F6F8C"/>
                </a:solidFill>
                <a:latin typeface="Arial"/>
                <a:ea typeface="Arial"/>
                <a:cs typeface="Arial"/>
              </a:defRPr>
            </a:pPr>
            <a:r>
              <a:rPr sz="1725" b="0">
                <a:solidFill>
                  <a:srgbClr val="5F6F8C"/>
                </a:solidFill>
                <a:latin typeface="Arial"/>
                <a:ea typeface="Arial"/>
                <a:cs typeface="Arial"/>
              </a:rPr>
              <a:t>DevPulse brings these tasks into one controlled browser workspace. The application emphasizes bounded tests, clear ownership checks, and results that are easy to demonstrate.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bcff62273f34cf3"/>
          <a:srcRect xmlns:a="http://schemas.openxmlformats.org/drawingml/2006/main" l="7737" t="0" r="7737" b="0"/>
          <a:stretch xmlns:a="http://schemas.openxmlformats.org/drawingml/2006/main">
            <a:fillRect l="0" t="0" r="0" b="0"/>
          </a:stretch>
        </p:blipFill>
        <p:spPr>
          <a:xfrm xmlns:a="http://schemas.openxmlformats.org/drawingml/2006/main">
            <a:off x="5657850" y="1466850"/>
            <a:ext cx="5848350" cy="4324350"/>
          </a:xfrm>
          <a:prstGeom xmlns:a="http://schemas.openxmlformats.org/drawingml/2006/main" prst="roundRect">
            <a:avLst>
              <a:gd name="adj" fmla="val 3524"/>
            </a:avLst>
          </a:prstGeom>
        </p:spPr>
      </p:pic>
      <p:sp>
        <p:nvSpPr>
          <p:cNvPr id="6" name="">
            <a:extLst xmlns:a="http://schemas.openxmlformats.org/drawingml/2006/main">
              <a:ext uri="{FF2B5EF4-FFF2-40B4-BE49-F238E27FC236}">
                <a16:creationId xmlns:a16="http://schemas.microsoft.com/office/drawing/2014/main" id="{1966E4A6-F7B9-453C-997F-73878A633DA1}"/>
              </a:ext>
            </a:extLst>
          </p:cNvPr>
          <p:cNvSpPr>
            <a:spLocks xmlns:a="http://schemas.openxmlformats.org/drawingml/2006/main" noGrp="1"/>
          </p:cNvSpPr>
          <p:nvPr/>
        </p:nvSpPr>
        <p:spPr>
          <a:xfrm xmlns:a="http://schemas.openxmlformats.org/drawingml/2006/main">
            <a:off x="5657850" y="5962650"/>
            <a:ext cx="584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One workspace for day-to-day IT checks</a:t>
            </a:r>
          </a:p>
        </p:txBody>
      </p:sp>
      <p:sp>
        <p:nvSpPr>
          <p:cNvPr id="7" name="">
            <a:extLst xmlns:a="http://schemas.openxmlformats.org/drawingml/2006/main">
              <a:ext uri="{FF2B5EF4-FFF2-40B4-BE49-F238E27FC236}">
                <a16:creationId xmlns:a16="http://schemas.microsoft.com/office/drawing/2014/main" id="{69127A5D-95CB-4894-B8EF-543E68191D8A}"/>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8" name="">
            <a:extLst xmlns:a="http://schemas.openxmlformats.org/drawingml/2006/main">
              <a:ext uri="{FF2B5EF4-FFF2-40B4-BE49-F238E27FC236}">
                <a16:creationId xmlns:a16="http://schemas.microsoft.com/office/drawing/2014/main" id="{5985E37E-378A-4B89-820C-5026C1DBEC78}"/>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03</a:t>
            </a:r>
          </a:p>
        </p:txBody>
      </p:sp>
    </p:spTree>
    <p:extLst>
      <p:ext uri="{BB962C8B-B14F-4D97-AF65-F5344CB8AC3E}">
        <p14:creationId xmlns:p14="http://schemas.microsoft.com/office/powerpoint/2010/main" val="45863692"/>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4FC5BE5-9ECA-41A8-8010-BCD0548E5E03}"/>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PRODUCT</a:t>
            </a:r>
          </a:p>
        </p:txBody>
      </p:sp>
      <p:sp>
        <p:nvSpPr>
          <p:cNvPr id="2" name="">
            <a:extLst xmlns:a="http://schemas.openxmlformats.org/drawingml/2006/main">
              <a:ext uri="{FF2B5EF4-FFF2-40B4-BE49-F238E27FC236}">
                <a16:creationId xmlns:a16="http://schemas.microsoft.com/office/drawing/2014/main" id="{4B35807D-CD5D-4079-B2F6-B01954D0CAD3}"/>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Version 1 scope</a:t>
            </a:r>
          </a:p>
        </p:txBody>
      </p:sp>
      <p:sp>
        <p:nvSpPr>
          <p:cNvPr id="3" name="">
            <a:extLst xmlns:a="http://schemas.openxmlformats.org/drawingml/2006/main">
              <a:ext uri="{FF2B5EF4-FFF2-40B4-BE49-F238E27FC236}">
                <a16:creationId xmlns:a16="http://schemas.microsoft.com/office/drawing/2014/main" id="{F42EFC02-4F4E-4DFC-B855-0DBDBF3E6D39}"/>
              </a:ext>
            </a:extLst>
          </p:cNvPr>
          <p:cNvSpPr>
            <a:spLocks xmlns:a="http://schemas.openxmlformats.org/drawingml/2006/main" noGrp="1"/>
          </p:cNvSpPr>
          <p:nvPr/>
        </p:nvSpPr>
        <p:spPr>
          <a:xfrm xmlns:a="http://schemas.openxmlformats.org/drawingml/2006/main">
            <a:off x="685800" y="1466850"/>
            <a:ext cx="95250" cy="742950"/>
          </a:xfrm>
          <a:prstGeom xmlns:a="http://schemas.openxmlformats.org/drawingml/2006/main" prst="roundRect">
            <a:avLst>
              <a:gd name="adj" fmla="val 50000"/>
            </a:avLst>
          </a:prstGeom>
          <a:solidFill xmlns:a="http://schemas.openxmlformats.org/drawingml/2006/main">
            <a:srgbClr val="3976E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DC73A6-DDF8-47EA-B0D1-C041B7F9C11F}"/>
              </a:ext>
            </a:extLst>
          </p:cNvPr>
          <p:cNvSpPr>
            <a:spLocks xmlns:a="http://schemas.openxmlformats.org/drawingml/2006/main" noGrp="1"/>
          </p:cNvSpPr>
          <p:nvPr/>
        </p:nvSpPr>
        <p:spPr>
          <a:xfrm xmlns:a="http://schemas.openxmlformats.org/drawingml/2006/main">
            <a:off x="1028700" y="15430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OBSERVE</a:t>
            </a:r>
          </a:p>
        </p:txBody>
      </p:sp>
      <p:sp>
        <p:nvSpPr>
          <p:cNvPr id="5" name="">
            <a:extLst xmlns:a="http://schemas.openxmlformats.org/drawingml/2006/main">
              <a:ext uri="{FF2B5EF4-FFF2-40B4-BE49-F238E27FC236}">
                <a16:creationId xmlns:a16="http://schemas.microsoft.com/office/drawing/2014/main" id="{D72B0AC7-54BD-4405-942C-02F5B626B483}"/>
              </a:ext>
            </a:extLst>
          </p:cNvPr>
          <p:cNvSpPr>
            <a:spLocks xmlns:a="http://schemas.openxmlformats.org/drawingml/2006/main" noGrp="1"/>
          </p:cNvSpPr>
          <p:nvPr/>
        </p:nvSpPr>
        <p:spPr>
          <a:xfrm xmlns:a="http://schemas.openxmlformats.org/drawingml/2006/main">
            <a:off x="2647950" y="15144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Host metrics, storage, processes, telemetry, incidents</a:t>
            </a:r>
          </a:p>
        </p:txBody>
      </p:sp>
      <p:sp>
        <p:nvSpPr>
          <p:cNvPr id="6" name="">
            <a:extLst xmlns:a="http://schemas.openxmlformats.org/drawingml/2006/main">
              <a:ext uri="{FF2B5EF4-FFF2-40B4-BE49-F238E27FC236}">
                <a16:creationId xmlns:a16="http://schemas.microsoft.com/office/drawing/2014/main" id="{3417AC43-AC8E-49F2-9E78-61FDBA1D4A4F}"/>
              </a:ext>
            </a:extLst>
          </p:cNvPr>
          <p:cNvSpPr>
            <a:spLocks xmlns:a="http://schemas.openxmlformats.org/drawingml/2006/main" noGrp="1"/>
          </p:cNvSpPr>
          <p:nvPr/>
        </p:nvSpPr>
        <p:spPr>
          <a:xfrm xmlns:a="http://schemas.openxmlformats.org/drawingml/2006/main">
            <a:off x="685800" y="2362200"/>
            <a:ext cx="95250" cy="742950"/>
          </a:xfrm>
          <a:prstGeom xmlns:a="http://schemas.openxmlformats.org/drawingml/2006/main" prst="roundRect">
            <a:avLst>
              <a:gd name="adj" fmla="val 50000"/>
            </a:avLst>
          </a:prstGeom>
          <a:solidFill xmlns:a="http://schemas.openxmlformats.org/drawingml/2006/main">
            <a:srgbClr val="17965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9AE13E-B21A-490F-ACB4-37082E5ED977}"/>
              </a:ext>
            </a:extLst>
          </p:cNvPr>
          <p:cNvSpPr>
            <a:spLocks xmlns:a="http://schemas.openxmlformats.org/drawingml/2006/main" noGrp="1"/>
          </p:cNvSpPr>
          <p:nvPr/>
        </p:nvSpPr>
        <p:spPr>
          <a:xfrm xmlns:a="http://schemas.openxmlformats.org/drawingml/2006/main">
            <a:off x="1028700" y="2438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7965A"/>
                </a:solidFill>
                <a:latin typeface="Arial"/>
                <a:ea typeface="Arial"/>
                <a:cs typeface="Arial"/>
              </a:defRPr>
            </a:pPr>
            <a:r>
              <a:rPr sz="1350" b="1">
                <a:solidFill>
                  <a:srgbClr val="17965A"/>
                </a:solidFill>
                <a:latin typeface="Arial"/>
                <a:ea typeface="Arial"/>
                <a:cs typeface="Arial"/>
              </a:rPr>
              <a:t>TEST</a:t>
            </a:r>
          </a:p>
        </p:txBody>
      </p:sp>
      <p:sp>
        <p:nvSpPr>
          <p:cNvPr id="8" name="">
            <a:extLst xmlns:a="http://schemas.openxmlformats.org/drawingml/2006/main">
              <a:ext uri="{FF2B5EF4-FFF2-40B4-BE49-F238E27FC236}">
                <a16:creationId xmlns:a16="http://schemas.microsoft.com/office/drawing/2014/main" id="{5DDB57AE-3CB6-4C12-98CB-5C608BC3C6C9}"/>
              </a:ext>
            </a:extLst>
          </p:cNvPr>
          <p:cNvSpPr>
            <a:spLocks xmlns:a="http://schemas.openxmlformats.org/drawingml/2006/main" noGrp="1"/>
          </p:cNvSpPr>
          <p:nvPr/>
        </p:nvSpPr>
        <p:spPr>
          <a:xfrm xmlns:a="http://schemas.openxmlformats.org/drawingml/2006/main">
            <a:off x="2647950" y="240982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Ping, DNS, TLS, ports, databases, websites, APIs</a:t>
            </a:r>
          </a:p>
        </p:txBody>
      </p:sp>
      <p:sp>
        <p:nvSpPr>
          <p:cNvPr id="9" name="">
            <a:extLst xmlns:a="http://schemas.openxmlformats.org/drawingml/2006/main">
              <a:ext uri="{FF2B5EF4-FFF2-40B4-BE49-F238E27FC236}">
                <a16:creationId xmlns:a16="http://schemas.microsoft.com/office/drawing/2014/main" id="{C3C8A633-1851-44F2-8F5B-8501A4712FAC}"/>
              </a:ext>
            </a:extLst>
          </p:cNvPr>
          <p:cNvSpPr>
            <a:spLocks xmlns:a="http://schemas.openxmlformats.org/drawingml/2006/main" noGrp="1"/>
          </p:cNvSpPr>
          <p:nvPr/>
        </p:nvSpPr>
        <p:spPr>
          <a:xfrm xmlns:a="http://schemas.openxmlformats.org/drawingml/2006/main">
            <a:off x="685800" y="3257550"/>
            <a:ext cx="95250" cy="742950"/>
          </a:xfrm>
          <a:prstGeom xmlns:a="http://schemas.openxmlformats.org/drawingml/2006/main" prst="roundRect">
            <a:avLst>
              <a:gd name="adj" fmla="val 50000"/>
            </a:avLst>
          </a:prstGeom>
          <a:solidFill xmlns:a="http://schemas.openxmlformats.org/drawingml/2006/main">
            <a:srgbClr val="7C4D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8C63B94-CD57-4156-A7B7-F066982F2D0D}"/>
              </a:ext>
            </a:extLst>
          </p:cNvPr>
          <p:cNvSpPr>
            <a:spLocks xmlns:a="http://schemas.openxmlformats.org/drawingml/2006/main" noGrp="1"/>
          </p:cNvSpPr>
          <p:nvPr/>
        </p:nvSpPr>
        <p:spPr>
          <a:xfrm xmlns:a="http://schemas.openxmlformats.org/drawingml/2006/main">
            <a:off x="1028700" y="33337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C4DCC"/>
                </a:solidFill>
                <a:latin typeface="Arial"/>
                <a:ea typeface="Arial"/>
                <a:cs typeface="Arial"/>
              </a:defRPr>
            </a:pPr>
            <a:r>
              <a:rPr sz="1350" b="1">
                <a:solidFill>
                  <a:srgbClr val="7C4DCC"/>
                </a:solidFill>
                <a:latin typeface="Arial"/>
                <a:ea typeface="Arial"/>
                <a:cs typeface="Arial"/>
              </a:rPr>
              <a:t>INSPECT</a:t>
            </a:r>
          </a:p>
        </p:txBody>
      </p:sp>
      <p:sp>
        <p:nvSpPr>
          <p:cNvPr id="11" name="">
            <a:extLst xmlns:a="http://schemas.openxmlformats.org/drawingml/2006/main">
              <a:ext uri="{FF2B5EF4-FFF2-40B4-BE49-F238E27FC236}">
                <a16:creationId xmlns:a16="http://schemas.microsoft.com/office/drawing/2014/main" id="{B1B5AFF1-54DC-448B-BB8C-0770FD1C22DF}"/>
              </a:ext>
            </a:extLst>
          </p:cNvPr>
          <p:cNvSpPr>
            <a:spLocks xmlns:a="http://schemas.openxmlformats.org/drawingml/2006/main" noGrp="1"/>
          </p:cNvSpPr>
          <p:nvPr/>
        </p:nvSpPr>
        <p:spPr>
          <a:xfrm xmlns:a="http://schemas.openxmlformats.org/drawingml/2006/main">
            <a:off x="2647950" y="33051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JSON, JWT, SHA-256, encrypted files, DNS email policy</a:t>
            </a:r>
          </a:p>
        </p:txBody>
      </p:sp>
      <p:sp>
        <p:nvSpPr>
          <p:cNvPr id="12" name="">
            <a:extLst xmlns:a="http://schemas.openxmlformats.org/drawingml/2006/main">
              <a:ext uri="{FF2B5EF4-FFF2-40B4-BE49-F238E27FC236}">
                <a16:creationId xmlns:a16="http://schemas.microsoft.com/office/drawing/2014/main" id="{B1659CE4-AC3D-4E6F-80CF-E6575676362F}"/>
              </a:ext>
            </a:extLst>
          </p:cNvPr>
          <p:cNvSpPr>
            <a:spLocks xmlns:a="http://schemas.openxmlformats.org/drawingml/2006/main" noGrp="1"/>
          </p:cNvSpPr>
          <p:nvPr/>
        </p:nvSpPr>
        <p:spPr>
          <a:xfrm xmlns:a="http://schemas.openxmlformats.org/drawingml/2006/main">
            <a:off x="685800" y="4152900"/>
            <a:ext cx="95250" cy="742950"/>
          </a:xfrm>
          <a:prstGeom xmlns:a="http://schemas.openxmlformats.org/drawingml/2006/main" prst="roundRect">
            <a:avLst>
              <a:gd name="adj" fmla="val 50000"/>
            </a:avLst>
          </a:prstGeom>
          <a:solidFill xmlns:a="http://schemas.openxmlformats.org/drawingml/2006/main">
            <a:srgbClr val="D4861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17AA6B8-1DF0-44AC-8CDC-CAD21DC472BC}"/>
              </a:ext>
            </a:extLst>
          </p:cNvPr>
          <p:cNvSpPr>
            <a:spLocks xmlns:a="http://schemas.openxmlformats.org/drawingml/2006/main" noGrp="1"/>
          </p:cNvSpPr>
          <p:nvPr/>
        </p:nvSpPr>
        <p:spPr>
          <a:xfrm xmlns:a="http://schemas.openxmlformats.org/drawingml/2006/main">
            <a:off x="1028700" y="42291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D4861A"/>
                </a:solidFill>
                <a:latin typeface="Arial"/>
                <a:ea typeface="Arial"/>
                <a:cs typeface="Arial"/>
              </a:defRPr>
            </a:pPr>
            <a:r>
              <a:rPr sz="1350" b="1">
                <a:solidFill>
                  <a:srgbClr val="D4861A"/>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0DA23997-6A91-41A7-AF8E-CE2D1C7E4919}"/>
              </a:ext>
            </a:extLst>
          </p:cNvPr>
          <p:cNvSpPr>
            <a:spLocks xmlns:a="http://schemas.openxmlformats.org/drawingml/2006/main" noGrp="1"/>
          </p:cNvSpPr>
          <p:nvPr/>
        </p:nvSpPr>
        <p:spPr>
          <a:xfrm xmlns:a="http://schemas.openxmlformats.org/drawingml/2006/main">
            <a:off x="2647950" y="420052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IPv4, IPv6, VLSM, routes, bandwidth, MTU and MSS</a:t>
            </a:r>
          </a:p>
        </p:txBody>
      </p:sp>
      <p:sp>
        <p:nvSpPr>
          <p:cNvPr id="15" name="">
            <a:extLst xmlns:a="http://schemas.openxmlformats.org/drawingml/2006/main">
              <a:ext uri="{FF2B5EF4-FFF2-40B4-BE49-F238E27FC236}">
                <a16:creationId xmlns:a16="http://schemas.microsoft.com/office/drawing/2014/main" id="{5E9908EC-2F86-449E-9607-306C37079B86}"/>
              </a:ext>
            </a:extLst>
          </p:cNvPr>
          <p:cNvSpPr>
            <a:spLocks xmlns:a="http://schemas.openxmlformats.org/drawingml/2006/main" noGrp="1"/>
          </p:cNvSpPr>
          <p:nvPr/>
        </p:nvSpPr>
        <p:spPr>
          <a:xfrm xmlns:a="http://schemas.openxmlformats.org/drawingml/2006/main">
            <a:off x="685800" y="5048250"/>
            <a:ext cx="95250" cy="742950"/>
          </a:xfrm>
          <a:prstGeom xmlns:a="http://schemas.openxmlformats.org/drawingml/2006/main" prst="roundRect">
            <a:avLst>
              <a:gd name="adj" fmla="val 50000"/>
            </a:avLst>
          </a:prstGeom>
          <a:solidFill xmlns:a="http://schemas.openxmlformats.org/drawingml/2006/main">
            <a:srgbClr val="13795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58B3519-BBD3-4475-93E7-CF132798E4FF}"/>
              </a:ext>
            </a:extLst>
          </p:cNvPr>
          <p:cNvSpPr>
            <a:spLocks xmlns:a="http://schemas.openxmlformats.org/drawingml/2006/main" noGrp="1"/>
          </p:cNvSpPr>
          <p:nvPr/>
        </p:nvSpPr>
        <p:spPr>
          <a:xfrm xmlns:a="http://schemas.openxmlformats.org/drawingml/2006/main">
            <a:off x="1028700" y="51244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3795B"/>
                </a:solidFill>
                <a:latin typeface="Arial"/>
                <a:ea typeface="Arial"/>
                <a:cs typeface="Arial"/>
              </a:defRPr>
            </a:pPr>
            <a:r>
              <a:rPr sz="1350" b="1">
                <a:solidFill>
                  <a:srgbClr val="13795B"/>
                </a:solidFill>
                <a:latin typeface="Arial"/>
                <a:ea typeface="Arial"/>
                <a:cs typeface="Arial"/>
              </a:rPr>
              <a:t>FOCUS</a:t>
            </a:r>
          </a:p>
        </p:txBody>
      </p:sp>
      <p:sp>
        <p:nvSpPr>
          <p:cNvPr id="17" name="">
            <a:extLst xmlns:a="http://schemas.openxmlformats.org/drawingml/2006/main">
              <a:ext uri="{FF2B5EF4-FFF2-40B4-BE49-F238E27FC236}">
                <a16:creationId xmlns:a16="http://schemas.microsoft.com/office/drawing/2014/main" id="{3D3D10C9-C5A1-4B18-A0BF-56DB6068C071}"/>
              </a:ext>
            </a:extLst>
          </p:cNvPr>
          <p:cNvSpPr>
            <a:spLocks xmlns:a="http://schemas.openxmlformats.org/drawingml/2006/main" noGrp="1"/>
          </p:cNvSpPr>
          <p:nvPr/>
        </p:nvSpPr>
        <p:spPr>
          <a:xfrm xmlns:a="http://schemas.openxmlformats.org/drawingml/2006/main">
            <a:off x="2647950" y="50958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Timer, breathing, ambient sound, reflection, Spotify</a:t>
            </a:r>
          </a:p>
        </p:txBody>
      </p:sp>
      <p:sp>
        <p:nvSpPr>
          <p:cNvPr id="18" name="">
            <a:extLst xmlns:a="http://schemas.openxmlformats.org/drawingml/2006/main">
              <a:ext uri="{FF2B5EF4-FFF2-40B4-BE49-F238E27FC236}">
                <a16:creationId xmlns:a16="http://schemas.microsoft.com/office/drawing/2014/main" id="{E3873784-2001-4245-A8E9-35951C9345F1}"/>
              </a:ext>
            </a:extLst>
          </p:cNvPr>
          <p:cNvSpPr>
            <a:spLocks xmlns:a="http://schemas.openxmlformats.org/drawingml/2006/main" noGrp="1"/>
          </p:cNvSpPr>
          <p:nvPr/>
        </p:nvSpPr>
        <p:spPr>
          <a:xfrm xmlns:a="http://schemas.openxmlformats.org/drawingml/2006/main">
            <a:off x="685800" y="60579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The same navigation supports technical demonstrations and daily use.</a:t>
            </a:r>
          </a:p>
        </p:txBody>
      </p:sp>
      <p:sp>
        <p:nvSpPr>
          <p:cNvPr id="19" name="">
            <a:extLst xmlns:a="http://schemas.openxmlformats.org/drawingml/2006/main">
              <a:ext uri="{FF2B5EF4-FFF2-40B4-BE49-F238E27FC236}">
                <a16:creationId xmlns:a16="http://schemas.microsoft.com/office/drawing/2014/main" id="{E874F74D-B427-4AC0-B874-326AE769625C}"/>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ADBA3FDB-113C-473C-A8DE-E02BBC041D7B}"/>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04</a:t>
            </a:r>
          </a:p>
        </p:txBody>
      </p:sp>
    </p:spTree>
    <p:extLst>
      <p:ext uri="{BB962C8B-B14F-4D97-AF65-F5344CB8AC3E}">
        <p14:creationId xmlns:p14="http://schemas.microsoft.com/office/powerpoint/2010/main" val="16613401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A4A2E7A-3C83-44EE-9AB6-E62D862F8E37}"/>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4E8923AB-D3B6-49F5-B467-8FA031B13864}"/>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Application architecture</a:t>
            </a:r>
          </a:p>
        </p:txBody>
      </p:sp>
      <p:sp>
        <p:nvSpPr>
          <p:cNvPr id="3" name="">
            <a:extLst xmlns:a="http://schemas.openxmlformats.org/drawingml/2006/main">
              <a:ext uri="{FF2B5EF4-FFF2-40B4-BE49-F238E27FC236}">
                <a16:creationId xmlns:a16="http://schemas.microsoft.com/office/drawing/2014/main" id="{0B04F0A1-FB27-4BC8-A723-1E84B1081C3A}"/>
              </a:ext>
            </a:extLst>
          </p:cNvPr>
          <p:cNvSpPr>
            <a:spLocks xmlns:a="http://schemas.openxmlformats.org/drawingml/2006/main" noGrp="1"/>
          </p:cNvSpPr>
          <p:nvPr/>
        </p:nvSpPr>
        <p:spPr>
          <a:xfrm xmlns:a="http://schemas.openxmlformats.org/drawingml/2006/main">
            <a:off x="704850" y="1962150"/>
            <a:ext cx="2286000" cy="1466850"/>
          </a:xfrm>
          <a:prstGeom xmlns:a="http://schemas.openxmlformats.org/drawingml/2006/main" prst="roundRect">
            <a:avLst>
              <a:gd name="adj" fmla="val 11688"/>
            </a:avLst>
          </a:prstGeom>
          <a:solidFill xmlns:a="http://schemas.openxmlformats.org/drawingml/2006/main">
            <a:srgbClr val="EAF1FF"/>
          </a:solidFill>
          <a:ln xmlns:a="http://schemas.openxmlformats.org/drawingml/2006/main" w="9525">
            <a:solidFill>
              <a:srgbClr val="AFC6F5"/>
            </a:solidFill>
          </a:ln>
        </p:spPr>
      </p:sp>
      <p:sp>
        <p:nvSpPr>
          <p:cNvPr id="4" name="">
            <a:extLst xmlns:a="http://schemas.openxmlformats.org/drawingml/2006/main">
              <a:ext uri="{FF2B5EF4-FFF2-40B4-BE49-F238E27FC236}">
                <a16:creationId xmlns:a16="http://schemas.microsoft.com/office/drawing/2014/main" id="{094BADB0-68EB-404A-8B0E-1B46497E6CD5}"/>
              </a:ext>
            </a:extLst>
          </p:cNvPr>
          <p:cNvSpPr>
            <a:spLocks xmlns:a="http://schemas.openxmlformats.org/drawingml/2006/main" noGrp="1"/>
          </p:cNvSpPr>
          <p:nvPr/>
        </p:nvSpPr>
        <p:spPr>
          <a:xfrm xmlns:a="http://schemas.openxmlformats.org/drawingml/2006/main">
            <a:off x="933450" y="21907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72033"/>
                </a:solidFill>
                <a:latin typeface="Arial"/>
                <a:ea typeface="Arial"/>
                <a:cs typeface="Arial"/>
              </a:defRPr>
            </a:pPr>
            <a:r>
              <a:rPr sz="2100" b="1">
                <a:solidFill>
                  <a:srgbClr val="172033"/>
                </a:solidFill>
                <a:latin typeface="Arial"/>
                <a:ea typeface="Arial"/>
                <a:cs typeface="Arial"/>
              </a:rPr>
              <a:t>Browser</a:t>
            </a:r>
          </a:p>
        </p:txBody>
      </p:sp>
      <p:sp>
        <p:nvSpPr>
          <p:cNvPr id="5" name="">
            <a:extLst xmlns:a="http://schemas.openxmlformats.org/drawingml/2006/main">
              <a:ext uri="{FF2B5EF4-FFF2-40B4-BE49-F238E27FC236}">
                <a16:creationId xmlns:a16="http://schemas.microsoft.com/office/drawing/2014/main" id="{A3DC0814-2D7E-4BC9-B78A-804E43009919}"/>
              </a:ext>
            </a:extLst>
          </p:cNvPr>
          <p:cNvSpPr>
            <a:spLocks xmlns:a="http://schemas.openxmlformats.org/drawingml/2006/main" noGrp="1"/>
          </p:cNvSpPr>
          <p:nvPr/>
        </p:nvSpPr>
        <p:spPr>
          <a:xfrm xmlns:a="http://schemas.openxmlformats.org/drawingml/2006/main">
            <a:off x="933450" y="26670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9506"/>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Interactive Blazor circuit</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User actions and live updates</a:t>
            </a:r>
          </a:p>
        </p:txBody>
      </p:sp>
      <p:sp>
        <p:nvSpPr>
          <p:cNvPr id="6" name="">
            <a:extLst xmlns:a="http://schemas.openxmlformats.org/drawingml/2006/main">
              <a:ext uri="{FF2B5EF4-FFF2-40B4-BE49-F238E27FC236}">
                <a16:creationId xmlns:a16="http://schemas.microsoft.com/office/drawing/2014/main" id="{22512EE0-2915-4B79-B771-39FC1446ADA3}"/>
              </a:ext>
            </a:extLst>
          </p:cNvPr>
          <p:cNvSpPr>
            <a:spLocks xmlns:a="http://schemas.openxmlformats.org/drawingml/2006/main" noGrp="1"/>
          </p:cNvSpPr>
          <p:nvPr/>
        </p:nvSpPr>
        <p:spPr>
          <a:xfrm xmlns:a="http://schemas.openxmlformats.org/drawingml/2006/main">
            <a:off x="4324350" y="1600200"/>
            <a:ext cx="3333750" cy="2190750"/>
          </a:xfrm>
          <a:prstGeom xmlns:a="http://schemas.openxmlformats.org/drawingml/2006/main" prst="roundRect">
            <a:avLst>
              <a:gd name="adj" fmla="val 9565"/>
            </a:avLst>
          </a:prstGeom>
          <a:solidFill xmlns:a="http://schemas.openxmlformats.org/drawingml/2006/main">
            <a:srgbClr val="111C3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34F849C-1BDA-4646-BC3C-7F4B8B331E62}"/>
              </a:ext>
            </a:extLst>
          </p:cNvPr>
          <p:cNvSpPr>
            <a:spLocks xmlns:a="http://schemas.openxmlformats.org/drawingml/2006/main" noGrp="1"/>
          </p:cNvSpPr>
          <p:nvPr/>
        </p:nvSpPr>
        <p:spPr>
          <a:xfrm xmlns:a="http://schemas.openxmlformats.org/drawingml/2006/main">
            <a:off x="4610100" y="1924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362"/>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.NET 9 Blazor Server</a:t>
            </a:r>
          </a:p>
        </p:txBody>
      </p:sp>
      <p:sp>
        <p:nvSpPr>
          <p:cNvPr id="8" name="">
            <a:extLst xmlns:a="http://schemas.openxmlformats.org/drawingml/2006/main">
              <a:ext uri="{FF2B5EF4-FFF2-40B4-BE49-F238E27FC236}">
                <a16:creationId xmlns:a16="http://schemas.microsoft.com/office/drawing/2014/main" id="{7E4571D5-889C-4ED7-A5F4-4644B0C09386}"/>
              </a:ext>
            </a:extLst>
          </p:cNvPr>
          <p:cNvSpPr>
            <a:spLocks xmlns:a="http://schemas.openxmlformats.org/drawingml/2006/main" noGrp="1"/>
          </p:cNvSpPr>
          <p:nvPr/>
        </p:nvSpPr>
        <p:spPr>
          <a:xfrm xmlns:a="http://schemas.openxmlformats.org/drawingml/2006/main">
            <a:off x="4667250" y="259080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Razor components</a:t>
            </a:r>
          </a:p>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Application services</a:t>
            </a:r>
          </a:p>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Safety validation</a:t>
            </a:r>
          </a:p>
        </p:txBody>
      </p:sp>
      <p:sp>
        <p:nvSpPr>
          <p:cNvPr id="9" name="">
            <a:extLst xmlns:a="http://schemas.openxmlformats.org/drawingml/2006/main">
              <a:ext uri="{FF2B5EF4-FFF2-40B4-BE49-F238E27FC236}">
                <a16:creationId xmlns:a16="http://schemas.microsoft.com/office/drawing/2014/main" id="{2F3E744C-3565-4928-8A5D-76892877D90F}"/>
              </a:ext>
            </a:extLst>
          </p:cNvPr>
          <p:cNvSpPr>
            <a:spLocks xmlns:a="http://schemas.openxmlformats.org/drawingml/2006/main" noGrp="1"/>
          </p:cNvSpPr>
          <p:nvPr/>
        </p:nvSpPr>
        <p:spPr>
          <a:xfrm xmlns:a="http://schemas.openxmlformats.org/drawingml/2006/main">
            <a:off x="8991600" y="1085850"/>
            <a:ext cx="2495550" cy="1714500"/>
          </a:xfrm>
          <a:prstGeom xmlns:a="http://schemas.openxmlformats.org/drawingml/2006/main" prst="roundRect">
            <a:avLst>
              <a:gd name="adj" fmla="val 10000"/>
            </a:avLst>
          </a:prstGeom>
          <a:solidFill xmlns:a="http://schemas.openxmlformats.org/drawingml/2006/main">
            <a:srgbClr val="E8F6EE"/>
          </a:solidFill>
          <a:ln xmlns:a="http://schemas.openxmlformats.org/drawingml/2006/main" w="9525">
            <a:solidFill>
              <a:srgbClr val="B7DDC8"/>
            </a:solidFill>
          </a:ln>
        </p:spPr>
      </p:sp>
      <p:sp>
        <p:nvSpPr>
          <p:cNvPr id="10" name="">
            <a:extLst xmlns:a="http://schemas.openxmlformats.org/drawingml/2006/main">
              <a:ext uri="{FF2B5EF4-FFF2-40B4-BE49-F238E27FC236}">
                <a16:creationId xmlns:a16="http://schemas.microsoft.com/office/drawing/2014/main" id="{1FC4A3D5-0B26-4239-841C-4BFD6398F332}"/>
              </a:ext>
            </a:extLst>
          </p:cNvPr>
          <p:cNvSpPr>
            <a:spLocks xmlns:a="http://schemas.openxmlformats.org/drawingml/2006/main" noGrp="1"/>
          </p:cNvSpPr>
          <p:nvPr/>
        </p:nvSpPr>
        <p:spPr>
          <a:xfrm xmlns:a="http://schemas.openxmlformats.org/drawingml/2006/main">
            <a:off x="9239250" y="13716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086"/>
          </a:bodyPr>
          <a:lstStyle xmlns:a="http://schemas.openxmlformats.org/drawingml/2006/main"/>
          <a:p xmlns:a="http://schemas.openxmlformats.org/drawingml/2006/main">
            <a:pPr algn="ctr">
              <a:defRPr sz="1875" b="1">
                <a:solidFill>
                  <a:srgbClr val="172033"/>
                </a:solidFill>
                <a:latin typeface="Arial"/>
                <a:ea typeface="Arial"/>
                <a:cs typeface="Arial"/>
              </a:defRPr>
            </a:pPr>
            <a:r>
              <a:rPr sz="1875" b="1">
                <a:solidFill>
                  <a:srgbClr val="172033"/>
                </a:solidFill>
                <a:latin typeface="Arial"/>
                <a:ea typeface="Arial"/>
                <a:cs typeface="Arial"/>
              </a:rPr>
              <a:t>System and storage</a:t>
            </a:r>
          </a:p>
        </p:txBody>
      </p:sp>
      <p:sp>
        <p:nvSpPr>
          <p:cNvPr id="11" name="">
            <a:extLst xmlns:a="http://schemas.openxmlformats.org/drawingml/2006/main">
              <a:ext uri="{FF2B5EF4-FFF2-40B4-BE49-F238E27FC236}">
                <a16:creationId xmlns:a16="http://schemas.microsoft.com/office/drawing/2014/main" id="{A3E16FE9-6342-40CF-BF70-F77946C6C97F}"/>
              </a:ext>
            </a:extLst>
          </p:cNvPr>
          <p:cNvSpPr>
            <a:spLocks xmlns:a="http://schemas.openxmlformats.org/drawingml/2006/main" noGrp="1"/>
          </p:cNvSpPr>
          <p:nvPr/>
        </p:nvSpPr>
        <p:spPr>
          <a:xfrm xmlns:a="http://schemas.openxmlformats.org/drawingml/2006/main">
            <a:off x="9239250" y="190500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Runtime metrics</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Processes and files</a:t>
            </a:r>
          </a:p>
        </p:txBody>
      </p:sp>
      <p:sp>
        <p:nvSpPr>
          <p:cNvPr id="12" name="">
            <a:extLst xmlns:a="http://schemas.openxmlformats.org/drawingml/2006/main">
              <a:ext uri="{FF2B5EF4-FFF2-40B4-BE49-F238E27FC236}">
                <a16:creationId xmlns:a16="http://schemas.microsoft.com/office/drawing/2014/main" id="{B10A8FF6-BE76-4081-B822-B92528314B0A}"/>
              </a:ext>
            </a:extLst>
          </p:cNvPr>
          <p:cNvSpPr>
            <a:spLocks xmlns:a="http://schemas.openxmlformats.org/drawingml/2006/main" noGrp="1"/>
          </p:cNvSpPr>
          <p:nvPr/>
        </p:nvSpPr>
        <p:spPr>
          <a:xfrm xmlns:a="http://schemas.openxmlformats.org/drawingml/2006/main">
            <a:off x="8991600" y="3409950"/>
            <a:ext cx="2495550" cy="1714500"/>
          </a:xfrm>
          <a:prstGeom xmlns:a="http://schemas.openxmlformats.org/drawingml/2006/main" prst="roundRect">
            <a:avLst>
              <a:gd name="adj" fmla="val 10000"/>
            </a:avLst>
          </a:prstGeom>
          <a:solidFill xmlns:a="http://schemas.openxmlformats.org/drawingml/2006/main">
            <a:srgbClr val="FFF5E6"/>
          </a:solidFill>
          <a:ln xmlns:a="http://schemas.openxmlformats.org/drawingml/2006/main" w="9525">
            <a:solidFill>
              <a:srgbClr val="E8C991"/>
            </a:solidFill>
          </a:ln>
        </p:spPr>
      </p:sp>
      <p:sp>
        <p:nvSpPr>
          <p:cNvPr id="13" name="">
            <a:extLst xmlns:a="http://schemas.openxmlformats.org/drawingml/2006/main">
              <a:ext uri="{FF2B5EF4-FFF2-40B4-BE49-F238E27FC236}">
                <a16:creationId xmlns:a16="http://schemas.microsoft.com/office/drawing/2014/main" id="{9F0F6732-6430-44B0-8B10-05B1E1EC893D}"/>
              </a:ext>
            </a:extLst>
          </p:cNvPr>
          <p:cNvSpPr>
            <a:spLocks xmlns:a="http://schemas.openxmlformats.org/drawingml/2006/main" noGrp="1"/>
          </p:cNvSpPr>
          <p:nvPr/>
        </p:nvSpPr>
        <p:spPr>
          <a:xfrm xmlns:a="http://schemas.openxmlformats.org/drawingml/2006/main">
            <a:off x="9239250" y="3695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094"/>
          </a:bodyPr>
          <a:lstStyle xmlns:a="http://schemas.openxmlformats.org/drawingml/2006/main"/>
          <a:p xmlns:a="http://schemas.openxmlformats.org/drawingml/2006/main">
            <a:pPr algn="ctr">
              <a:defRPr sz="1875" b="1">
                <a:solidFill>
                  <a:srgbClr val="172033"/>
                </a:solidFill>
                <a:latin typeface="Arial"/>
                <a:ea typeface="Arial"/>
                <a:cs typeface="Arial"/>
              </a:defRPr>
            </a:pPr>
            <a:r>
              <a:rPr sz="1875" b="1">
                <a:solidFill>
                  <a:srgbClr val="172033"/>
                </a:solidFill>
                <a:latin typeface="Arial"/>
                <a:ea typeface="Arial"/>
                <a:cs typeface="Arial"/>
              </a:rPr>
              <a:t>Approved services</a:t>
            </a:r>
          </a:p>
        </p:txBody>
      </p:sp>
      <p:sp>
        <p:nvSpPr>
          <p:cNvPr id="14" name="">
            <a:extLst xmlns:a="http://schemas.openxmlformats.org/drawingml/2006/main">
              <a:ext uri="{FF2B5EF4-FFF2-40B4-BE49-F238E27FC236}">
                <a16:creationId xmlns:a16="http://schemas.microsoft.com/office/drawing/2014/main" id="{B0F406A8-769E-4620-A42B-D3D672F3FDBC}"/>
              </a:ext>
            </a:extLst>
          </p:cNvPr>
          <p:cNvSpPr>
            <a:spLocks xmlns:a="http://schemas.openxmlformats.org/drawingml/2006/main" noGrp="1"/>
          </p:cNvSpPr>
          <p:nvPr/>
        </p:nvSpPr>
        <p:spPr>
          <a:xfrm xmlns:a="http://schemas.openxmlformats.org/drawingml/2006/main">
            <a:off x="9239250" y="422910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Websites, APIs, DNS</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Spotify and OTLP</a:t>
            </a:r>
          </a:p>
        </p:txBody>
      </p:sp>
      <p:cxnSp>
        <p:nvCxnSpPr>
          <p:cNvPr id="35" name=""/>
          <p:cNvCxnSpPr>
            <a:stCxn xmlns:a="http://schemas.openxmlformats.org/drawingml/2006/main" id="3" idx="3"/>
            <a:endCxn xmlns:a="http://schemas.openxmlformats.org/drawingml/2006/main" id="6" idx="1"/>
          </p:cNvCxnSpPr>
          <p:nvPr/>
        </p:nvCxnSpPr>
        <p:spPr>
          <a:xfrm xmlns:a="http://schemas.openxmlformats.org/drawingml/2006/main">
            <a:off x="2990850" y="2695575"/>
            <a:ext cx="1333500" cy="0"/>
          </a:xfrm>
          <a:prstGeom xmlns:a="http://schemas.openxmlformats.org/drawingml/2006/main" prst="straightConnector1">
            <a:avLst/>
          </a:prstGeom>
          <a:ln xmlns:a="http://schemas.openxmlformats.org/drawingml/2006/main" w="28575">
            <a:solidFill>
              <a:srgbClr val="3976ED"/>
            </a:solidFill>
            <a:prstDash val="solid"/>
            <a:tailEnd type="triangle" w="sm" len="sm"/>
          </a:ln>
        </p:spPr>
      </p:cxnSp>
      <p:cxnSp>
        <p:nvCxnSpPr>
          <p:cNvPr id="36" name=""/>
          <p:cNvCxnSpPr>
            <a:stCxn xmlns:a="http://schemas.openxmlformats.org/drawingml/2006/main" id="6" idx="3"/>
            <a:endCxn xmlns:a="http://schemas.openxmlformats.org/drawingml/2006/main" id="9" idx="1"/>
          </p:cNvCxnSpPr>
          <p:nvPr/>
        </p:nvCxnSpPr>
        <p:spPr>
          <a:xfrm xmlns:a="http://schemas.openxmlformats.org/drawingml/2006/main" flipV="1">
            <a:off x="7658100" y="1943100"/>
            <a:ext cx="1333500" cy="752475"/>
          </a:xfrm>
          <a:prstGeom xmlns:a="http://schemas.openxmlformats.org/drawingml/2006/main" prst="bentConnector3">
            <a:avLst>
              <a:gd name="adj1" fmla="val 50000"/>
            </a:avLst>
          </a:prstGeom>
          <a:ln xmlns:a="http://schemas.openxmlformats.org/drawingml/2006/main" w="28575">
            <a:solidFill>
              <a:srgbClr val="17965A"/>
            </a:solidFill>
            <a:prstDash val="solid"/>
            <a:tailEnd type="triangle" w="sm" len="sm"/>
          </a:ln>
        </p:spPr>
      </p:cxnSp>
      <p:cxnSp>
        <p:nvCxnSpPr>
          <p:cNvPr id="37" name=""/>
          <p:cNvCxnSpPr>
            <a:stCxn xmlns:a="http://schemas.openxmlformats.org/drawingml/2006/main" id="6" idx="3"/>
            <a:endCxn xmlns:a="http://schemas.openxmlformats.org/drawingml/2006/main" id="12" idx="1"/>
          </p:cNvCxnSpPr>
          <p:nvPr/>
        </p:nvCxnSpPr>
        <p:spPr>
          <a:xfrm xmlns:a="http://schemas.openxmlformats.org/drawingml/2006/main">
            <a:off x="7658100" y="2695575"/>
            <a:ext cx="1333500" cy="1571625"/>
          </a:xfrm>
          <a:prstGeom xmlns:a="http://schemas.openxmlformats.org/drawingml/2006/main" prst="bentConnector3">
            <a:avLst>
              <a:gd name="adj1" fmla="val 50000"/>
            </a:avLst>
          </a:prstGeom>
          <a:ln xmlns:a="http://schemas.openxmlformats.org/drawingml/2006/main" w="28575">
            <a:solidFill>
              <a:srgbClr val="D4861A"/>
            </a:solidFill>
            <a:prstDash val="solid"/>
            <a:tailEnd type="triangle" w="sm" len="sm"/>
          </a:ln>
        </p:spPr>
      </p:cxnSp>
      <p:sp>
        <p:nvSpPr>
          <p:cNvPr id="18" name="">
            <a:extLst xmlns:a="http://schemas.openxmlformats.org/drawingml/2006/main">
              <a:ext uri="{FF2B5EF4-FFF2-40B4-BE49-F238E27FC236}">
                <a16:creationId xmlns:a16="http://schemas.microsoft.com/office/drawing/2014/main" id="{B3815407-496E-4165-9039-029807E56166}"/>
              </a:ext>
            </a:extLst>
          </p:cNvPr>
          <p:cNvSpPr>
            <a:spLocks xmlns:a="http://schemas.openxmlformats.org/drawingml/2006/main" noGrp="1"/>
          </p:cNvSpPr>
          <p:nvPr/>
        </p:nvSpPr>
        <p:spPr>
          <a:xfrm xmlns:a="http://schemas.openxmlformats.org/drawingml/2006/main">
            <a:off x="3752850" y="489585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5F6F8C"/>
                </a:solidFill>
                <a:latin typeface="Arial"/>
                <a:ea typeface="Arial"/>
                <a:cs typeface="Arial"/>
              </a:defRPr>
            </a:pPr>
            <a:r>
              <a:rPr sz="1500" b="0">
                <a:solidFill>
                  <a:srgbClr val="5F6F8C"/>
                </a:solidFill>
                <a:latin typeface="Arial"/>
                <a:ea typeface="Arial"/>
                <a:cs typeface="Arial"/>
              </a:rPr>
              <a:t>Encrypted session state and bounded telemetry journals use the configured data directory.</a:t>
            </a:r>
          </a:p>
        </p:txBody>
      </p:sp>
      <p:sp>
        <p:nvSpPr>
          <p:cNvPr id="19" name="">
            <a:extLst xmlns:a="http://schemas.openxmlformats.org/drawingml/2006/main">
              <a:ext uri="{FF2B5EF4-FFF2-40B4-BE49-F238E27FC236}">
                <a16:creationId xmlns:a16="http://schemas.microsoft.com/office/drawing/2014/main" id="{EE6E48BB-D3C3-4361-9C2A-630CCEA767CE}"/>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89A29A6F-DEA6-415B-8951-A849475485A3}"/>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05</a:t>
            </a:r>
          </a:p>
        </p:txBody>
      </p:sp>
    </p:spTree>
    <p:extLst>
      <p:ext uri="{BB962C8B-B14F-4D97-AF65-F5344CB8AC3E}">
        <p14:creationId xmlns:p14="http://schemas.microsoft.com/office/powerpoint/2010/main" val="18154255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5B64B7-1699-4E49-AB29-2D5BF9B01A61}"/>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OBSERVE</a:t>
            </a:r>
          </a:p>
        </p:txBody>
      </p:sp>
      <p:sp>
        <p:nvSpPr>
          <p:cNvPr id="2" name="">
            <a:extLst xmlns:a="http://schemas.openxmlformats.org/drawingml/2006/main">
              <a:ext uri="{FF2B5EF4-FFF2-40B4-BE49-F238E27FC236}">
                <a16:creationId xmlns:a16="http://schemas.microsoft.com/office/drawing/2014/main" id="{B0FE0653-AD81-454A-A49E-3F4E85D5D3BF}"/>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Operations and telemetry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f62673288ea49cf"/>
          <a:srcRect xmlns:a="http://schemas.openxmlformats.org/drawingml/2006/main" l="5863" t="0" r="5863" b="0"/>
          <a:stretch xmlns:a="http://schemas.openxmlformats.org/drawingml/2006/main">
            <a:fillRect l="0" t="0" r="0" b="0"/>
          </a:stretch>
        </p:blipFill>
        <p:spPr>
          <a:xfrm xmlns:a="http://schemas.openxmlformats.org/drawingml/2006/main">
            <a:off x="685800" y="1447800"/>
            <a:ext cx="5219700" cy="3695700"/>
          </a:xfrm>
          <a:prstGeom xmlns:a="http://schemas.openxmlformats.org/drawingml/2006/main" prst="roundRect">
            <a:avLst>
              <a:gd name="adj" fmla="val 4124"/>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2aa93523be641e6"/>
          <a:srcRect xmlns:a="http://schemas.openxmlformats.org/drawingml/2006/main" l="5863" t="0" r="5863" b="0"/>
          <a:stretch xmlns:a="http://schemas.openxmlformats.org/drawingml/2006/main">
            <a:fillRect l="0" t="0" r="0" b="0"/>
          </a:stretch>
        </p:blipFill>
        <p:spPr>
          <a:xfrm xmlns:a="http://schemas.openxmlformats.org/drawingml/2006/main">
            <a:off x="6286500" y="1447800"/>
            <a:ext cx="5219700" cy="3695700"/>
          </a:xfrm>
          <a:prstGeom xmlns:a="http://schemas.openxmlformats.org/drawingml/2006/main" prst="roundRect">
            <a:avLst>
              <a:gd name="adj" fmla="val 4124"/>
            </a:avLst>
          </a:prstGeom>
        </p:spPr>
      </p:pic>
      <p:sp>
        <p:nvSpPr>
          <p:cNvPr id="5" name="">
            <a:extLst xmlns:a="http://schemas.openxmlformats.org/drawingml/2006/main">
              <a:ext uri="{FF2B5EF4-FFF2-40B4-BE49-F238E27FC236}">
                <a16:creationId xmlns:a16="http://schemas.microsoft.com/office/drawing/2014/main" id="{DB9DF7EB-D028-4ACB-8472-9512C2C742CD}"/>
              </a:ext>
            </a:extLst>
          </p:cNvPr>
          <p:cNvSpPr>
            <a:spLocks xmlns:a="http://schemas.openxmlformats.org/drawingml/2006/main" noGrp="1"/>
          </p:cNvSpPr>
          <p:nvPr/>
        </p:nvSpPr>
        <p:spPr>
          <a:xfrm xmlns:a="http://schemas.openxmlformats.org/drawingml/2006/main">
            <a:off x="685800" y="5372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976ED"/>
                </a:solidFill>
                <a:latin typeface="Arial"/>
                <a:ea typeface="Arial"/>
                <a:cs typeface="Arial"/>
              </a:defRPr>
            </a:pPr>
            <a:r>
              <a:rPr sz="1650" b="1">
                <a:solidFill>
                  <a:srgbClr val="3976ED"/>
                </a:solidFill>
                <a:latin typeface="Arial"/>
                <a:ea typeface="Arial"/>
                <a:cs typeface="Arial"/>
              </a:rPr>
              <a:t>Bounded checks</a:t>
            </a:r>
          </a:p>
        </p:txBody>
      </p:sp>
      <p:sp>
        <p:nvSpPr>
          <p:cNvPr id="6" name="">
            <a:extLst xmlns:a="http://schemas.openxmlformats.org/drawingml/2006/main">
              <a:ext uri="{FF2B5EF4-FFF2-40B4-BE49-F238E27FC236}">
                <a16:creationId xmlns:a16="http://schemas.microsoft.com/office/drawing/2014/main" id="{F2EA15BA-5451-4E14-8D4F-7715CB9D5BA0}"/>
              </a:ext>
            </a:extLst>
          </p:cNvPr>
          <p:cNvSpPr>
            <a:spLocks xmlns:a="http://schemas.openxmlformats.org/drawingml/2006/main" noGrp="1"/>
          </p:cNvSpPr>
          <p:nvPr/>
        </p:nvSpPr>
        <p:spPr>
          <a:xfrm xmlns:a="http://schemas.openxmlformats.org/drawingml/2006/main">
            <a:off x="685800" y="56959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F8C"/>
                </a:solidFill>
                <a:latin typeface="Arial"/>
                <a:ea typeface="Arial"/>
                <a:cs typeface="Arial"/>
              </a:defRPr>
            </a:pPr>
            <a:r>
              <a:rPr sz="1350" b="0">
                <a:solidFill>
                  <a:srgbClr val="5F6F8C"/>
                </a:solidFill>
                <a:latin typeface="Arial"/>
                <a:ea typeface="Arial"/>
                <a:cs typeface="Arial"/>
              </a:rPr>
              <a:t>HTTP, TCP, ping, DNS, TLS, database connectivity, and approved log files</a:t>
            </a:r>
          </a:p>
        </p:txBody>
      </p:sp>
      <p:sp>
        <p:nvSpPr>
          <p:cNvPr id="7" name="">
            <a:extLst xmlns:a="http://schemas.openxmlformats.org/drawingml/2006/main">
              <a:ext uri="{FF2B5EF4-FFF2-40B4-BE49-F238E27FC236}">
                <a16:creationId xmlns:a16="http://schemas.microsoft.com/office/drawing/2014/main" id="{19B6B263-1F6A-4D59-8C44-CC65713B9236}"/>
              </a:ext>
            </a:extLst>
          </p:cNvPr>
          <p:cNvSpPr>
            <a:spLocks xmlns:a="http://schemas.openxmlformats.org/drawingml/2006/main" noGrp="1"/>
          </p:cNvSpPr>
          <p:nvPr/>
        </p:nvSpPr>
        <p:spPr>
          <a:xfrm xmlns:a="http://schemas.openxmlformats.org/drawingml/2006/main">
            <a:off x="6286500" y="5372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965A"/>
                </a:solidFill>
                <a:latin typeface="Arial"/>
                <a:ea typeface="Arial"/>
                <a:cs typeface="Arial"/>
              </a:defRPr>
            </a:pPr>
            <a:r>
              <a:rPr sz="1650" b="1">
                <a:solidFill>
                  <a:srgbClr val="17965A"/>
                </a:solidFill>
                <a:latin typeface="Arial"/>
                <a:ea typeface="Arial"/>
                <a:cs typeface="Arial"/>
              </a:rPr>
              <a:t>Evidence over time</a:t>
            </a:r>
          </a:p>
        </p:txBody>
      </p:sp>
      <p:sp>
        <p:nvSpPr>
          <p:cNvPr id="8" name="">
            <a:extLst xmlns:a="http://schemas.openxmlformats.org/drawingml/2006/main">
              <a:ext uri="{FF2B5EF4-FFF2-40B4-BE49-F238E27FC236}">
                <a16:creationId xmlns:a16="http://schemas.microsoft.com/office/drawing/2014/main" id="{E11E9B64-8569-4344-ABF3-D1F7A0824BAE}"/>
              </a:ext>
            </a:extLst>
          </p:cNvPr>
          <p:cNvSpPr>
            <a:spLocks xmlns:a="http://schemas.openxmlformats.org/drawingml/2006/main" noGrp="1"/>
          </p:cNvSpPr>
          <p:nvPr/>
        </p:nvSpPr>
        <p:spPr>
          <a:xfrm xmlns:a="http://schemas.openxmlformats.org/drawingml/2006/main">
            <a:off x="6286500" y="569595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F8C"/>
                </a:solidFill>
                <a:latin typeface="Arial"/>
                <a:ea typeface="Arial"/>
                <a:cs typeface="Arial"/>
              </a:defRPr>
            </a:pPr>
            <a:r>
              <a:rPr sz="1350" b="0">
                <a:solidFill>
                  <a:srgbClr val="5F6F8C"/>
                </a:solidFill>
                <a:latin typeface="Arial"/>
                <a:ea typeface="Arial"/>
                <a:cs typeface="Arial"/>
              </a:rPr>
              <a:t>Runtime metrics, request traces, deployment identity, threshold incidents, and optional OTLP export</a:t>
            </a:r>
          </a:p>
        </p:txBody>
      </p:sp>
      <p:sp>
        <p:nvSpPr>
          <p:cNvPr id="9" name="">
            <a:extLst xmlns:a="http://schemas.openxmlformats.org/drawingml/2006/main">
              <a:ext uri="{FF2B5EF4-FFF2-40B4-BE49-F238E27FC236}">
                <a16:creationId xmlns:a16="http://schemas.microsoft.com/office/drawing/2014/main" id="{BD9632A4-3EC7-49ED-BE40-D8FE55ECA82E}"/>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0" name="">
            <a:extLst xmlns:a="http://schemas.openxmlformats.org/drawingml/2006/main">
              <a:ext uri="{FF2B5EF4-FFF2-40B4-BE49-F238E27FC236}">
                <a16:creationId xmlns:a16="http://schemas.microsoft.com/office/drawing/2014/main" id="{6E3E6BF4-4D0F-4D24-94E5-DB593673ACD3}"/>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06</a:t>
            </a:r>
          </a:p>
        </p:txBody>
      </p:sp>
    </p:spTree>
    <p:extLst>
      <p:ext uri="{BB962C8B-B14F-4D97-AF65-F5344CB8AC3E}">
        <p14:creationId xmlns:p14="http://schemas.microsoft.com/office/powerpoint/2010/main" val="1270879369"/>
      </p:ext>
    </p:extLst>
  </p:cSld>
</p:sld>
</file>

<file path=ppt/slides/slide7.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A30ACB-A344-4B2B-863F-30633D8C7A39}"/>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PLAN AND INSPECT</a:t>
            </a:r>
          </a:p>
        </p:txBody>
      </p:sp>
      <p:sp>
        <p:nvSpPr>
          <p:cNvPr id="2" name="">
            <a:extLst xmlns:a="http://schemas.openxmlformats.org/drawingml/2006/main">
              <a:ext uri="{FF2B5EF4-FFF2-40B4-BE49-F238E27FC236}">
                <a16:creationId xmlns:a16="http://schemas.microsoft.com/office/drawing/2014/main" id="{DB2FCDE5-1AE6-45AC-AD0D-9BB9C37829DD}"/>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Network planning and local inspectors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df138fc35914da9"/>
          <a:srcRect xmlns:a="http://schemas.openxmlformats.org/drawingml/2006/main" l="6117" t="0" r="6117" b="0"/>
          <a:stretch xmlns:a="http://schemas.openxmlformats.org/drawingml/2006/main">
            <a:fillRect l="0" t="0" r="0" b="0"/>
          </a:stretch>
        </p:blipFill>
        <p:spPr>
          <a:xfrm xmlns:a="http://schemas.openxmlformats.org/drawingml/2006/main">
            <a:off x="685800" y="1447800"/>
            <a:ext cx="6286500" cy="4476750"/>
          </a:xfrm>
          <a:prstGeom xmlns:a="http://schemas.openxmlformats.org/drawingml/2006/main" prst="roundRect">
            <a:avLst>
              <a:gd name="adj" fmla="val 3404"/>
            </a:avLst>
          </a:prstGeom>
        </p:spPr>
      </p:pic>
      <p:sp>
        <p:nvSpPr>
          <p:cNvPr id="4" name="">
            <a:extLst xmlns:a="http://schemas.openxmlformats.org/drawingml/2006/main">
              <a:ext uri="{FF2B5EF4-FFF2-40B4-BE49-F238E27FC236}">
                <a16:creationId xmlns:a16="http://schemas.microsoft.com/office/drawing/2014/main" id="{43D9BF77-F67F-47DE-A4A0-2E8022232542}"/>
              </a:ext>
            </a:extLst>
          </p:cNvPr>
          <p:cNvSpPr>
            <a:spLocks xmlns:a="http://schemas.openxmlformats.org/drawingml/2006/main" noGrp="1"/>
          </p:cNvSpPr>
          <p:nvPr/>
        </p:nvSpPr>
        <p:spPr>
          <a:xfrm xmlns:a="http://schemas.openxmlformats.org/drawingml/2006/main">
            <a:off x="7448550" y="15621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Network calculations</a:t>
            </a:r>
          </a:p>
        </p:txBody>
      </p:sp>
      <p:sp>
        <p:nvSpPr>
          <p:cNvPr id="5" name="">
            <a:extLst xmlns:a="http://schemas.openxmlformats.org/drawingml/2006/main">
              <a:ext uri="{FF2B5EF4-FFF2-40B4-BE49-F238E27FC236}">
                <a16:creationId xmlns:a16="http://schemas.microsoft.com/office/drawing/2014/main" id="{941AFD6F-6FF5-4596-B289-1A9E6C130E13}"/>
              </a:ext>
            </a:extLst>
          </p:cNvPr>
          <p:cNvSpPr>
            <a:spLocks xmlns:a="http://schemas.openxmlformats.org/drawingml/2006/main" noGrp="1"/>
          </p:cNvSpPr>
          <p:nvPr/>
        </p:nvSpPr>
        <p:spPr>
          <a:xfrm xmlns:a="http://schemas.openxmlformats.org/drawingml/2006/main">
            <a:off x="7448550" y="20383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IPv4 and IPv6 subnet details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VLSM allocation and route summaries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Bandwidth, transfer time, MTU, and MSS</a:t>
            </a:r>
          </a:p>
        </p:txBody>
      </p:sp>
      <p:sp>
        <p:nvSpPr>
          <p:cNvPr id="6" name="">
            <a:extLst xmlns:a="http://schemas.openxmlformats.org/drawingml/2006/main">
              <a:ext uri="{FF2B5EF4-FFF2-40B4-BE49-F238E27FC236}">
                <a16:creationId xmlns:a16="http://schemas.microsoft.com/office/drawing/2014/main" id="{D735131B-D94C-460B-A875-09C3E5765024}"/>
              </a:ext>
            </a:extLst>
          </p:cNvPr>
          <p:cNvSpPr>
            <a:spLocks xmlns:a="http://schemas.openxmlformats.org/drawingml/2006/main" noGrp="1"/>
          </p:cNvSpPr>
          <p:nvPr/>
        </p:nvSpPr>
        <p:spPr>
          <a:xfrm xmlns:a="http://schemas.openxmlformats.org/drawingml/2006/main">
            <a:off x="7448550" y="39243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Local data inspection</a:t>
            </a:r>
          </a:p>
        </p:txBody>
      </p:sp>
      <p:sp>
        <p:nvSpPr>
          <p:cNvPr id="7" name="">
            <a:extLst xmlns:a="http://schemas.openxmlformats.org/drawingml/2006/main">
              <a:ext uri="{FF2B5EF4-FFF2-40B4-BE49-F238E27FC236}">
                <a16:creationId xmlns:a16="http://schemas.microsoft.com/office/drawing/2014/main" id="{D9D79B23-214B-4EC8-BA03-5F38A8D20090}"/>
              </a:ext>
            </a:extLst>
          </p:cNvPr>
          <p:cNvSpPr>
            <a:spLocks xmlns:a="http://schemas.openxmlformats.org/drawingml/2006/main" noGrp="1"/>
          </p:cNvSpPr>
          <p:nvPr/>
        </p:nvSpPr>
        <p:spPr>
          <a:xfrm xmlns:a="http://schemas.openxmlformats.org/drawingml/2006/main">
            <a:off x="7448550" y="44005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JSON tree and JWT payload decoding</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SHA-256 integrity checks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AES-256-GCM file encryption and decryption</a:t>
            </a:r>
          </a:p>
        </p:txBody>
      </p:sp>
      <p:sp>
        <p:nvSpPr>
          <p:cNvPr id="8" name="">
            <a:extLst xmlns:a="http://schemas.openxmlformats.org/drawingml/2006/main">
              <a:ext uri="{FF2B5EF4-FFF2-40B4-BE49-F238E27FC236}">
                <a16:creationId xmlns:a16="http://schemas.microsoft.com/office/drawing/2014/main" id="{1921395E-BE78-4F2F-BBAE-F7C2DD551ED4}"/>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9" name="">
            <a:extLst xmlns:a="http://schemas.openxmlformats.org/drawingml/2006/main">
              <a:ext uri="{FF2B5EF4-FFF2-40B4-BE49-F238E27FC236}">
                <a16:creationId xmlns:a16="http://schemas.microsoft.com/office/drawing/2014/main" id="{049F20A0-DB5B-49E7-951D-1E3F30740661}"/>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07</a:t>
            </a:r>
          </a:p>
        </p:txBody>
      </p:sp>
    </p:spTree>
    <p:extLst>
      <p:ext uri="{BB962C8B-B14F-4D97-AF65-F5344CB8AC3E}">
        <p14:creationId xmlns:p14="http://schemas.microsoft.com/office/powerpoint/2010/main" val="16311074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2EDCE8-FCE6-44B3-B3D5-E9A27DC5F874}"/>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TEST</a:t>
            </a:r>
          </a:p>
        </p:txBody>
      </p:sp>
      <p:sp>
        <p:nvSpPr>
          <p:cNvPr id="2" name="">
            <a:extLst xmlns:a="http://schemas.openxmlformats.org/drawingml/2006/main">
              <a:ext uri="{FF2B5EF4-FFF2-40B4-BE49-F238E27FC236}">
                <a16:creationId xmlns:a16="http://schemas.microsoft.com/office/drawing/2014/main" id="{692FED6F-99E5-4408-9E7B-1E7F9B3EC959}"/>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Website and API assurance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04966674ca64fdd"/>
          <a:srcRect xmlns:a="http://schemas.openxmlformats.org/drawingml/2006/main" l="0" t="8750" r="0" b="8750"/>
          <a:stretch xmlns:a="http://schemas.openxmlformats.org/drawingml/2006/main">
            <a:fillRect l="0" t="0" r="0" b="0"/>
          </a:stretch>
        </p:blipFill>
        <p:spPr>
          <a:xfrm xmlns:a="http://schemas.openxmlformats.org/drawingml/2006/main">
            <a:off x="685800" y="1428750"/>
            <a:ext cx="6096000" cy="3143250"/>
          </a:xfrm>
          <a:prstGeom xmlns:a="http://schemas.openxmlformats.org/drawingml/2006/main" prst="roundRect">
            <a:avLst>
              <a:gd name="adj" fmla="val 4848"/>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ad5df1feffb4bee"/>
          <a:srcRect xmlns:a="http://schemas.openxmlformats.org/drawingml/2006/main" l="6818" t="0" r="6818" b="0"/>
          <a:stretch xmlns:a="http://schemas.openxmlformats.org/drawingml/2006/main">
            <a:fillRect l="0" t="0" r="0" b="0"/>
          </a:stretch>
        </p:blipFill>
        <p:spPr>
          <a:xfrm xmlns:a="http://schemas.openxmlformats.org/drawingml/2006/main">
            <a:off x="7162800" y="1428750"/>
            <a:ext cx="4343400" cy="3143250"/>
          </a:xfrm>
          <a:prstGeom xmlns:a="http://schemas.openxmlformats.org/drawingml/2006/main" prst="roundRect">
            <a:avLst>
              <a:gd name="adj" fmla="val 4848"/>
            </a:avLst>
          </a:prstGeom>
        </p:spPr>
      </p:pic>
      <p:sp>
        <p:nvSpPr>
          <p:cNvPr id="5" name="">
            <a:extLst xmlns:a="http://schemas.openxmlformats.org/drawingml/2006/main">
              <a:ext uri="{FF2B5EF4-FFF2-40B4-BE49-F238E27FC236}">
                <a16:creationId xmlns:a16="http://schemas.microsoft.com/office/drawing/2014/main" id="{98300AE1-CB5E-46A4-B5EE-E29A4E5BD0FD}"/>
              </a:ext>
            </a:extLst>
          </p:cNvPr>
          <p:cNvSpPr>
            <a:spLocks xmlns:a="http://schemas.openxmlformats.org/drawingml/2006/main" noGrp="1"/>
          </p:cNvSpPr>
          <p:nvPr/>
        </p:nvSpPr>
        <p:spPr>
          <a:xfrm xmlns:a="http://schemas.openxmlformats.org/drawingml/2006/main">
            <a:off x="685800" y="4876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3976ED"/>
                </a:solidFill>
                <a:latin typeface="Arial"/>
                <a:ea typeface="Arial"/>
                <a:cs typeface="Arial"/>
              </a:defRPr>
            </a:pPr>
            <a:r>
              <a:rPr sz="1725" b="1">
                <a:solidFill>
                  <a:srgbClr val="3976ED"/>
                </a:solidFill>
                <a:latin typeface="Arial"/>
                <a:ea typeface="Arial"/>
                <a:cs typeface="Arial"/>
              </a:rPr>
              <a:t>Website Audit</a:t>
            </a:r>
          </a:p>
        </p:txBody>
      </p:sp>
      <p:sp>
        <p:nvSpPr>
          <p:cNvPr id="6" name="">
            <a:extLst xmlns:a="http://schemas.openxmlformats.org/drawingml/2006/main">
              <a:ext uri="{FF2B5EF4-FFF2-40B4-BE49-F238E27FC236}">
                <a16:creationId xmlns:a16="http://schemas.microsoft.com/office/drawing/2014/main" id="{2D672850-0E4D-4310-8FB5-1F417DCAED40}"/>
              </a:ext>
            </a:extLst>
          </p:cNvPr>
          <p:cNvSpPr>
            <a:spLocks xmlns:a="http://schemas.openxmlformats.org/drawingml/2006/main" noGrp="1"/>
          </p:cNvSpPr>
          <p:nvPr/>
        </p:nvSpPr>
        <p:spPr>
          <a:xfrm xmlns:a="http://schemas.openxmlformats.org/drawingml/2006/main">
            <a:off x="685800" y="5238750"/>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Crawl checks, headers, JSON validation, Lighthouse, accessibility, screenshots, visual baselines, and scheduled uptime</a:t>
            </a:r>
          </a:p>
        </p:txBody>
      </p:sp>
      <p:sp>
        <p:nvSpPr>
          <p:cNvPr id="7" name="">
            <a:extLst xmlns:a="http://schemas.openxmlformats.org/drawingml/2006/main">
              <a:ext uri="{FF2B5EF4-FFF2-40B4-BE49-F238E27FC236}">
                <a16:creationId xmlns:a16="http://schemas.microsoft.com/office/drawing/2014/main" id="{03164C8E-9065-454E-9D4E-710FFD879713}"/>
              </a:ext>
            </a:extLst>
          </p:cNvPr>
          <p:cNvSpPr>
            <a:spLocks xmlns:a="http://schemas.openxmlformats.org/drawingml/2006/main" noGrp="1"/>
          </p:cNvSpPr>
          <p:nvPr/>
        </p:nvSpPr>
        <p:spPr>
          <a:xfrm xmlns:a="http://schemas.openxmlformats.org/drawingml/2006/main">
            <a:off x="7162800" y="4876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7965A"/>
                </a:solidFill>
                <a:latin typeface="Arial"/>
                <a:ea typeface="Arial"/>
                <a:cs typeface="Arial"/>
              </a:defRPr>
            </a:pPr>
            <a:r>
              <a:rPr sz="1725" b="1">
                <a:solidFill>
                  <a:srgbClr val="17965A"/>
                </a:solidFill>
                <a:latin typeface="Arial"/>
                <a:ea typeface="Arial"/>
                <a:cs typeface="Arial"/>
              </a:rPr>
              <a:t>API and DNS</a:t>
            </a:r>
          </a:p>
        </p:txBody>
      </p:sp>
      <p:sp>
        <p:nvSpPr>
          <p:cNvPr id="8" name="">
            <a:extLst xmlns:a="http://schemas.openxmlformats.org/drawingml/2006/main">
              <a:ext uri="{FF2B5EF4-FFF2-40B4-BE49-F238E27FC236}">
                <a16:creationId xmlns:a16="http://schemas.microsoft.com/office/drawing/2014/main" id="{4E94B7DE-7045-45B5-AF96-CBF0213BDB40}"/>
              </a:ext>
            </a:extLst>
          </p:cNvPr>
          <p:cNvSpPr>
            <a:spLocks xmlns:a="http://schemas.openxmlformats.org/drawingml/2006/main" noGrp="1"/>
          </p:cNvSpPr>
          <p:nvPr/>
        </p:nvSpPr>
        <p:spPr>
          <a:xfrm xmlns:a="http://schemas.openxmlformats.org/drawingml/2006/main">
            <a:off x="7162800" y="5238750"/>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Temporary request collections, assertions, response previews, and public DNS email-policy inspection</a:t>
            </a:r>
          </a:p>
        </p:txBody>
      </p:sp>
      <p:sp>
        <p:nvSpPr>
          <p:cNvPr id="9" name="">
            <a:extLst xmlns:a="http://schemas.openxmlformats.org/drawingml/2006/main">
              <a:ext uri="{FF2B5EF4-FFF2-40B4-BE49-F238E27FC236}">
                <a16:creationId xmlns:a16="http://schemas.microsoft.com/office/drawing/2014/main" id="{3D721A32-9656-4FE0-8BF2-593CECE9A74A}"/>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0" name="">
            <a:extLst xmlns:a="http://schemas.openxmlformats.org/drawingml/2006/main">
              <a:ext uri="{FF2B5EF4-FFF2-40B4-BE49-F238E27FC236}">
                <a16:creationId xmlns:a16="http://schemas.microsoft.com/office/drawing/2014/main" id="{6B42C0DA-B51C-45DE-BF3D-A9919CAF04C6}"/>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08</a:t>
            </a:r>
          </a:p>
        </p:txBody>
      </p:sp>
    </p:spTree>
    <p:extLst>
      <p:ext uri="{BB962C8B-B14F-4D97-AF65-F5344CB8AC3E}">
        <p14:creationId xmlns:p14="http://schemas.microsoft.com/office/powerpoint/2010/main" val="22623063"/>
      </p:ext>
    </p:extLst>
  </p:cSld>
</p:sld>
</file>

<file path=ppt/slides/slide9.xml><?xml version="1.0" encoding="utf-8"?>
<p:sld xmlns:p="http://schemas.openxmlformats.org/presentationml/2006/main">
  <p:cSld>
    <p:bg>
      <p:bgPr>
        <a:solidFill xmlns:a="http://schemas.openxmlformats.org/drawingml/2006/main">
          <a:srgbClr val="F4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033990-4C4F-4AF1-B67D-0CC4D5C0F423}"/>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DEVELOPER WELLNESS</a:t>
            </a:r>
          </a:p>
        </p:txBody>
      </p:sp>
      <p:sp>
        <p:nvSpPr>
          <p:cNvPr id="2" name="">
            <a:extLst xmlns:a="http://schemas.openxmlformats.org/drawingml/2006/main">
              <a:ext uri="{FF2B5EF4-FFF2-40B4-BE49-F238E27FC236}">
                <a16:creationId xmlns:a16="http://schemas.microsoft.com/office/drawing/2014/main" id="{E56CB0B8-DDE9-4AEB-BDDA-C6778FEEA957}"/>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Focus Lounge and Spotify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922a615da6549c3"/>
          <a:srcRect xmlns:a="http://schemas.openxmlformats.org/drawingml/2006/main" l="4375" t="0" r="4375" b="0"/>
          <a:stretch xmlns:a="http://schemas.openxmlformats.org/drawingml/2006/main">
            <a:fillRect l="0" t="0" r="0" b="0"/>
          </a:stretch>
        </p:blipFill>
        <p:spPr>
          <a:xfrm xmlns:a="http://schemas.openxmlformats.org/drawingml/2006/main">
            <a:off x="685800" y="1409700"/>
            <a:ext cx="6953250" cy="4762500"/>
          </a:xfrm>
          <a:prstGeom xmlns:a="http://schemas.openxmlformats.org/drawingml/2006/main" prst="roundRect">
            <a:avLst>
              <a:gd name="adj" fmla="val 3200"/>
            </a:avLst>
          </a:prstGeom>
        </p:spPr>
      </p:pic>
      <p:sp>
        <p:nvSpPr>
          <p:cNvPr id="4" name="">
            <a:extLst xmlns:a="http://schemas.openxmlformats.org/drawingml/2006/main">
              <a:ext uri="{FF2B5EF4-FFF2-40B4-BE49-F238E27FC236}">
                <a16:creationId xmlns:a16="http://schemas.microsoft.com/office/drawing/2014/main" id="{C873EACA-7CAA-4AE2-908E-0FCB8CAAE98E}"/>
              </a:ext>
            </a:extLst>
          </p:cNvPr>
          <p:cNvSpPr>
            <a:spLocks xmlns:a="http://schemas.openxmlformats.org/drawingml/2006/main" noGrp="1"/>
          </p:cNvSpPr>
          <p:nvPr/>
        </p:nvSpPr>
        <p:spPr>
          <a:xfrm xmlns:a="http://schemas.openxmlformats.org/drawingml/2006/main">
            <a:off x="8096250" y="1619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24B32"/>
                </a:solidFill>
                <a:latin typeface="Arial"/>
                <a:ea typeface="Arial"/>
                <a:cs typeface="Arial"/>
              </a:defRPr>
            </a:pPr>
            <a:r>
              <a:rPr sz="2250" b="1">
                <a:solidFill>
                  <a:srgbClr val="124B32"/>
                </a:solidFill>
                <a:latin typeface="Arial"/>
                <a:ea typeface="Arial"/>
                <a:cs typeface="Arial"/>
              </a:rPr>
              <a:t>A quieter workspace</a:t>
            </a:r>
          </a:p>
        </p:txBody>
      </p:sp>
      <p:sp>
        <p:nvSpPr>
          <p:cNvPr id="5" name="">
            <a:extLst xmlns:a="http://schemas.openxmlformats.org/drawingml/2006/main">
              <a:ext uri="{FF2B5EF4-FFF2-40B4-BE49-F238E27FC236}">
                <a16:creationId xmlns:a16="http://schemas.microsoft.com/office/drawing/2014/main" id="{C21B60EE-87FC-4F0E-AD7C-28CB4C24461F}"/>
              </a:ext>
            </a:extLst>
          </p:cNvPr>
          <p:cNvSpPr>
            <a:spLocks xmlns:a="http://schemas.openxmlformats.org/drawingml/2006/main" noGrp="1"/>
          </p:cNvSpPr>
          <p:nvPr/>
        </p:nvSpPr>
        <p:spPr>
          <a:xfrm xmlns:a="http://schemas.openxmlformats.org/drawingml/2006/main">
            <a:off x="8096250" y="226695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Focus and break timer</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Guided box breathing</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Generated ambient sound</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Private browser-local notes</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Spotify Connect and optional browser playback</a:t>
            </a:r>
          </a:p>
        </p:txBody>
      </p:sp>
      <p:sp>
        <p:nvSpPr>
          <p:cNvPr id="6" name="">
            <a:extLst xmlns:a="http://schemas.openxmlformats.org/drawingml/2006/main">
              <a:ext uri="{FF2B5EF4-FFF2-40B4-BE49-F238E27FC236}">
                <a16:creationId xmlns:a16="http://schemas.microsoft.com/office/drawing/2014/main" id="{DB2580C2-49A6-469D-89BE-D7DD08B7F900}"/>
              </a:ext>
            </a:extLst>
          </p:cNvPr>
          <p:cNvSpPr>
            <a:spLocks xmlns:a="http://schemas.openxmlformats.org/drawingml/2006/main" noGrp="1"/>
          </p:cNvSpPr>
          <p:nvPr/>
        </p:nvSpPr>
        <p:spPr>
          <a:xfrm xmlns:a="http://schemas.openxmlformats.org/drawingml/2006/main">
            <a:off x="8096250" y="521970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4D6B5B"/>
                </a:solidFill>
                <a:latin typeface="Arial"/>
                <a:ea typeface="Arial"/>
                <a:cs typeface="Arial"/>
              </a:defRPr>
            </a:pPr>
            <a:r>
              <a:rPr sz="1425" b="0">
                <a:solidFill>
                  <a:srgbClr val="4D6B5B"/>
                </a:solidFill>
                <a:latin typeface="Arial"/>
                <a:ea typeface="Arial"/>
                <a:cs typeface="Arial"/>
              </a:rPr>
              <a:t>Spotify credentials remain server-side. OAuth sessions use encrypted storage and opaque cookies.</a:t>
            </a:r>
          </a:p>
        </p:txBody>
      </p:sp>
      <p:sp>
        <p:nvSpPr>
          <p:cNvPr id="7" name="">
            <a:extLst xmlns:a="http://schemas.openxmlformats.org/drawingml/2006/main">
              <a:ext uri="{FF2B5EF4-FFF2-40B4-BE49-F238E27FC236}">
                <a16:creationId xmlns:a16="http://schemas.microsoft.com/office/drawing/2014/main" id="{B1C4CC1F-442E-4316-9856-4FA8B4442209}"/>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8" name="">
            <a:extLst xmlns:a="http://schemas.openxmlformats.org/drawingml/2006/main">
              <a:ext uri="{FF2B5EF4-FFF2-40B4-BE49-F238E27FC236}">
                <a16:creationId xmlns:a16="http://schemas.microsoft.com/office/drawing/2014/main" id="{65CC5281-3DE6-426C-A71C-7C8049FC21F1}"/>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09</a:t>
            </a:r>
          </a:p>
        </p:txBody>
      </p:sp>
    </p:spTree>
    <p:extLst>
      <p:ext uri="{BB962C8B-B14F-4D97-AF65-F5344CB8AC3E}">
        <p14:creationId xmlns:p14="http://schemas.microsoft.com/office/powerpoint/2010/main" val="172999124"/>
      </p:ext>
    </p:extLst>
  </p:cSld>
</p:sld>
</file>

<file path=ppt/slides/slide10.xml><?xml version="1.0" encoding="utf-8"?>
<p:sld xmlns:p="http://schemas.openxmlformats.org/presentationml/2006/main">
  <p:cSld>
    <p:bg>
      <p:bgPr>
        <a:solidFill xmlns:a="http://schemas.openxmlformats.org/drawingml/2006/main">
          <a:srgbClr val="111C3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F58ADC4-6DC8-4C38-87A2-9BDEFEA520E8}"/>
              </a:ext>
            </a:extLst>
          </p:cNvPr>
          <p:cNvSpPr>
            <a:spLocks xmlns:a="http://schemas.openxmlformats.org/drawingml/2006/main" noGrp="1"/>
          </p:cNvSpPr>
          <p:nvPr/>
        </p:nvSpPr>
        <p:spPr>
          <a:xfrm xmlns:a="http://schemas.openxmlformats.org/drawingml/2006/main">
            <a:off x="685800" y="4000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6D9BFF"/>
                </a:solidFill>
                <a:latin typeface="Arial"/>
                <a:ea typeface="Arial"/>
                <a:cs typeface="Arial"/>
              </a:defRPr>
            </a:pPr>
            <a:r>
              <a:rPr sz="1125" b="1">
                <a:solidFill>
                  <a:srgbClr val="6D9BFF"/>
                </a:solidFill>
                <a:latin typeface="Arial"/>
                <a:ea typeface="Arial"/>
                <a:cs typeface="Arial"/>
              </a:rPr>
              <a:t>SECURITY</a:t>
            </a:r>
          </a:p>
        </p:txBody>
      </p:sp>
      <p:sp>
        <p:nvSpPr>
          <p:cNvPr id="2" name="">
            <a:extLst xmlns:a="http://schemas.openxmlformats.org/drawingml/2006/main">
              <a:ext uri="{FF2B5EF4-FFF2-40B4-BE49-F238E27FC236}">
                <a16:creationId xmlns:a16="http://schemas.microsoft.com/office/drawing/2014/main" id="{6F41688A-C62F-4D49-9417-04CDA3CD21FF}"/>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Safety boundaries in Version 1</a:t>
            </a:r>
          </a:p>
        </p:txBody>
      </p:sp>
      <p:sp>
        <p:nvSpPr>
          <p:cNvPr id="3" name="">
            <a:extLst xmlns:a="http://schemas.openxmlformats.org/drawingml/2006/main">
              <a:ext uri="{FF2B5EF4-FFF2-40B4-BE49-F238E27FC236}">
                <a16:creationId xmlns:a16="http://schemas.microsoft.com/office/drawing/2014/main" id="{6C1310FB-6375-44B0-A2A4-0C3C5BEAF056}"/>
              </a:ext>
            </a:extLst>
          </p:cNvPr>
          <p:cNvSpPr>
            <a:spLocks xmlns:a="http://schemas.openxmlformats.org/drawingml/2006/main" noGrp="1"/>
          </p:cNvSpPr>
          <p:nvPr/>
        </p:nvSpPr>
        <p:spPr>
          <a:xfrm xmlns:a="http://schemas.openxmlformats.org/drawingml/2006/main">
            <a:off x="685800" y="1676400"/>
            <a:ext cx="3333750" cy="3429000"/>
          </a:xfrm>
          <a:prstGeom xmlns:a="http://schemas.openxmlformats.org/drawingml/2006/main" prst="roundRect">
            <a:avLst>
              <a:gd name="adj" fmla="val 5714"/>
            </a:avLst>
          </a:prstGeom>
          <a:solidFill xmlns:a="http://schemas.openxmlformats.org/drawingml/2006/main">
            <a:srgbClr val="172846"/>
          </a:solidFill>
          <a:ln xmlns:a="http://schemas.openxmlformats.org/drawingml/2006/main" w="9525">
            <a:solidFill>
              <a:srgbClr val="2B4168"/>
            </a:solidFill>
          </a:ln>
        </p:spPr>
      </p:sp>
      <p:sp>
        <p:nvSpPr>
          <p:cNvPr id="4" name="">
            <a:extLst xmlns:a="http://schemas.openxmlformats.org/drawingml/2006/main">
              <a:ext uri="{FF2B5EF4-FFF2-40B4-BE49-F238E27FC236}">
                <a16:creationId xmlns:a16="http://schemas.microsoft.com/office/drawing/2014/main" id="{5A7FD548-33F1-4FD3-91FC-7FF168B55325}"/>
              </a:ext>
            </a:extLst>
          </p:cNvPr>
          <p:cNvSpPr>
            <a:spLocks xmlns:a="http://schemas.openxmlformats.org/drawingml/2006/main" noGrp="1"/>
          </p:cNvSpPr>
          <p:nvPr/>
        </p:nvSpPr>
        <p:spPr>
          <a:xfrm xmlns:a="http://schemas.openxmlformats.org/drawingml/2006/main">
            <a:off x="990600" y="198120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Network controls</a:t>
            </a:r>
          </a:p>
        </p:txBody>
      </p:sp>
      <p:sp>
        <p:nvSpPr>
          <p:cNvPr id="5" name="">
            <a:extLst xmlns:a="http://schemas.openxmlformats.org/drawingml/2006/main">
              <a:ext uri="{FF2B5EF4-FFF2-40B4-BE49-F238E27FC236}">
                <a16:creationId xmlns:a16="http://schemas.microsoft.com/office/drawing/2014/main" id="{A974EC95-1F96-4FAB-9D7B-C8CEC1CAD9AF}"/>
              </a:ext>
            </a:extLst>
          </p:cNvPr>
          <p:cNvSpPr>
            <a:spLocks xmlns:a="http://schemas.openxmlformats.org/drawingml/2006/main" noGrp="1"/>
          </p:cNvSpPr>
          <p:nvPr/>
        </p:nvSpPr>
        <p:spPr>
          <a:xfrm xmlns:a="http://schemas.openxmlformats.org/drawingml/2006/main">
            <a:off x="99060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612"/>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Private and reserved targets blocked by default</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Redirects disabled for diagnostic clients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Owner allowlists permit intentional private checks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Strict request, response, timeout, and concurrency caps</a:t>
            </a:r>
          </a:p>
        </p:txBody>
      </p:sp>
      <p:sp>
        <p:nvSpPr>
          <p:cNvPr id="6" name="">
            <a:extLst xmlns:a="http://schemas.openxmlformats.org/drawingml/2006/main">
              <a:ext uri="{FF2B5EF4-FFF2-40B4-BE49-F238E27FC236}">
                <a16:creationId xmlns:a16="http://schemas.microsoft.com/office/drawing/2014/main" id="{7C3D07D2-CF98-4454-AA46-03F17973E155}"/>
              </a:ext>
            </a:extLst>
          </p:cNvPr>
          <p:cNvSpPr>
            <a:spLocks xmlns:a="http://schemas.openxmlformats.org/drawingml/2006/main" noGrp="1"/>
          </p:cNvSpPr>
          <p:nvPr/>
        </p:nvSpPr>
        <p:spPr>
          <a:xfrm xmlns:a="http://schemas.openxmlformats.org/drawingml/2006/main">
            <a:off x="4438650" y="1676400"/>
            <a:ext cx="3333750" cy="3429000"/>
          </a:xfrm>
          <a:prstGeom xmlns:a="http://schemas.openxmlformats.org/drawingml/2006/main" prst="roundRect">
            <a:avLst>
              <a:gd name="adj" fmla="val 5714"/>
            </a:avLst>
          </a:prstGeom>
          <a:solidFill xmlns:a="http://schemas.openxmlformats.org/drawingml/2006/main">
            <a:srgbClr val="172846"/>
          </a:solidFill>
          <a:ln xmlns:a="http://schemas.openxmlformats.org/drawingml/2006/main" w="9525">
            <a:solidFill>
              <a:srgbClr val="2B4168"/>
            </a:solidFill>
          </a:ln>
        </p:spPr>
      </p:sp>
      <p:sp>
        <p:nvSpPr>
          <p:cNvPr id="7" name="">
            <a:extLst xmlns:a="http://schemas.openxmlformats.org/drawingml/2006/main">
              <a:ext uri="{FF2B5EF4-FFF2-40B4-BE49-F238E27FC236}">
                <a16:creationId xmlns:a16="http://schemas.microsoft.com/office/drawing/2014/main" id="{06CB5C36-35C9-4AF8-91F5-2852122B78C5}"/>
              </a:ext>
            </a:extLst>
          </p:cNvPr>
          <p:cNvSpPr>
            <a:spLocks xmlns:a="http://schemas.openxmlformats.org/drawingml/2006/main" noGrp="1"/>
          </p:cNvSpPr>
          <p:nvPr/>
        </p:nvSpPr>
        <p:spPr>
          <a:xfrm xmlns:a="http://schemas.openxmlformats.org/drawingml/2006/main">
            <a:off x="4743450" y="198120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Secrets and sessions</a:t>
            </a:r>
          </a:p>
        </p:txBody>
      </p:sp>
      <p:sp>
        <p:nvSpPr>
          <p:cNvPr id="8" name="">
            <a:extLst xmlns:a="http://schemas.openxmlformats.org/drawingml/2006/main">
              <a:ext uri="{FF2B5EF4-FFF2-40B4-BE49-F238E27FC236}">
                <a16:creationId xmlns:a16="http://schemas.microsoft.com/office/drawing/2014/main" id="{C3338305-88FE-4656-8D6D-F10504002654}"/>
              </a:ext>
            </a:extLst>
          </p:cNvPr>
          <p:cNvSpPr>
            <a:spLocks xmlns:a="http://schemas.openxmlformats.org/drawingml/2006/main" noGrp="1"/>
          </p:cNvSpPr>
          <p:nvPr/>
        </p:nvSpPr>
        <p:spPr>
          <a:xfrm xmlns:a="http://schemas.openxmlformats.org/drawingml/2006/main">
            <a:off x="474345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750"/>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Environment variables or external secret files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Encrypted Spotify token storage</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No credentials committed to appsettings.json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Authorization values stay transient in the API Runner</a:t>
            </a:r>
          </a:p>
        </p:txBody>
      </p:sp>
      <p:sp>
        <p:nvSpPr>
          <p:cNvPr id="9" name="">
            <a:extLst xmlns:a="http://schemas.openxmlformats.org/drawingml/2006/main">
              <a:ext uri="{FF2B5EF4-FFF2-40B4-BE49-F238E27FC236}">
                <a16:creationId xmlns:a16="http://schemas.microsoft.com/office/drawing/2014/main" id="{79D075CE-CB37-42DC-A739-389E3D59C29F}"/>
              </a:ext>
            </a:extLst>
          </p:cNvPr>
          <p:cNvSpPr>
            <a:spLocks xmlns:a="http://schemas.openxmlformats.org/drawingml/2006/main" noGrp="1"/>
          </p:cNvSpPr>
          <p:nvPr/>
        </p:nvSpPr>
        <p:spPr>
          <a:xfrm xmlns:a="http://schemas.openxmlformats.org/drawingml/2006/main">
            <a:off x="8191500" y="1676400"/>
            <a:ext cx="3314700" cy="3429000"/>
          </a:xfrm>
          <a:prstGeom xmlns:a="http://schemas.openxmlformats.org/drawingml/2006/main" prst="roundRect">
            <a:avLst>
              <a:gd name="adj" fmla="val 5747"/>
            </a:avLst>
          </a:prstGeom>
          <a:solidFill xmlns:a="http://schemas.openxmlformats.org/drawingml/2006/main">
            <a:srgbClr val="172846"/>
          </a:solidFill>
          <a:ln xmlns:a="http://schemas.openxmlformats.org/drawingml/2006/main" w="9525">
            <a:solidFill>
              <a:srgbClr val="2B4168"/>
            </a:solidFill>
          </a:ln>
        </p:spPr>
      </p:sp>
      <p:sp>
        <p:nvSpPr>
          <p:cNvPr id="10" name="">
            <a:extLst xmlns:a="http://schemas.openxmlformats.org/drawingml/2006/main">
              <a:ext uri="{FF2B5EF4-FFF2-40B4-BE49-F238E27FC236}">
                <a16:creationId xmlns:a16="http://schemas.microsoft.com/office/drawing/2014/main" id="{4137E319-65C5-4D5C-8D9A-41160DDAC981}"/>
              </a:ext>
            </a:extLst>
          </p:cNvPr>
          <p:cNvSpPr>
            <a:spLocks xmlns:a="http://schemas.openxmlformats.org/drawingml/2006/main" noGrp="1"/>
          </p:cNvSpPr>
          <p:nvPr/>
        </p:nvSpPr>
        <p:spPr>
          <a:xfrm xmlns:a="http://schemas.openxmlformats.org/drawingml/2006/main">
            <a:off x="8496300" y="19812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202"/>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Administrative actions</a:t>
            </a:r>
          </a:p>
        </p:txBody>
      </p:sp>
      <p:sp>
        <p:nvSpPr>
          <p:cNvPr id="11" name="">
            <a:extLst xmlns:a="http://schemas.openxmlformats.org/drawingml/2006/main">
              <a:ext uri="{FF2B5EF4-FFF2-40B4-BE49-F238E27FC236}">
                <a16:creationId xmlns:a16="http://schemas.microsoft.com/office/drawing/2014/main" id="{8C4C5BD8-CFFB-4E50-8C6F-4D2C652CFEA9}"/>
              </a:ext>
            </a:extLst>
          </p:cNvPr>
          <p:cNvSpPr>
            <a:spLocks xmlns:a="http://schemas.openxmlformats.org/drawingml/2006/main" noGrp="1"/>
          </p:cNvSpPr>
          <p:nvPr/>
        </p:nvSpPr>
        <p:spPr>
          <a:xfrm xmlns:a="http://schemas.openxmlformats.org/drawingml/2006/main">
            <a:off x="849630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750"/>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Separate administrator authentication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Rate limits and antiforgery protection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Process termination disabled unless explicitly enabled</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Production diagnostics can be hidden completely</a:t>
            </a:r>
          </a:p>
        </p:txBody>
      </p:sp>
      <p:sp>
        <p:nvSpPr>
          <p:cNvPr id="12" name="">
            <a:extLst xmlns:a="http://schemas.openxmlformats.org/drawingml/2006/main">
              <a:ext uri="{FF2B5EF4-FFF2-40B4-BE49-F238E27FC236}">
                <a16:creationId xmlns:a16="http://schemas.microsoft.com/office/drawing/2014/main" id="{CCA6A7EE-1033-42EB-8546-827BA08784DF}"/>
              </a:ext>
            </a:extLst>
          </p:cNvPr>
          <p:cNvSpPr>
            <a:spLocks xmlns:a="http://schemas.openxmlformats.org/drawingml/2006/main" noGrp="1"/>
          </p:cNvSpPr>
          <p:nvPr/>
        </p:nvSpPr>
        <p:spPr>
          <a:xfrm xmlns:a="http://schemas.openxmlformats.org/drawingml/2006/main">
            <a:off x="685800" y="56007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FFCB76"/>
                </a:solidFill>
                <a:latin typeface="Arial"/>
                <a:ea typeface="Arial"/>
                <a:cs typeface="Arial"/>
              </a:defRPr>
            </a:pPr>
            <a:r>
              <a:rPr sz="1800" b="1">
                <a:solidFill>
                  <a:srgbClr val="FFCB76"/>
                </a:solidFill>
                <a:latin typeface="Arial"/>
                <a:ea typeface="Arial"/>
                <a:cs typeface="Arial"/>
              </a:rPr>
              <a:t>Public deployments should place diagnostic pages behind authenticated access.</a:t>
            </a:r>
          </a:p>
        </p:txBody>
      </p:sp>
      <p:sp>
        <p:nvSpPr>
          <p:cNvPr id="13" name="">
            <a:extLst xmlns:a="http://schemas.openxmlformats.org/drawingml/2006/main">
              <a:ext uri="{FF2B5EF4-FFF2-40B4-BE49-F238E27FC236}">
                <a16:creationId xmlns:a16="http://schemas.microsoft.com/office/drawing/2014/main" id="{50E4A819-2F7F-4ECC-B0D1-E5DB63DBB70F}"/>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4" name="">
            <a:extLst xmlns:a="http://schemas.openxmlformats.org/drawingml/2006/main">
              <a:ext uri="{FF2B5EF4-FFF2-40B4-BE49-F238E27FC236}">
                <a16:creationId xmlns:a16="http://schemas.microsoft.com/office/drawing/2014/main" id="{CC807DBD-457E-4B53-834F-16AA62B37E5E}"/>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10</a:t>
            </a:r>
          </a:p>
        </p:txBody>
      </p:sp>
    </p:spTree>
    <p:extLst>
      <p:ext uri="{BB962C8B-B14F-4D97-AF65-F5344CB8AC3E}">
        <p14:creationId xmlns:p14="http://schemas.microsoft.com/office/powerpoint/2010/main" val="12296922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0E7F2E0-9B36-4727-88BF-ADC4F41A38E8}"/>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OPERATE</a:t>
            </a:r>
          </a:p>
        </p:txBody>
      </p:sp>
      <p:sp>
        <p:nvSpPr>
          <p:cNvPr id="2" name="">
            <a:extLst xmlns:a="http://schemas.openxmlformats.org/drawingml/2006/main">
              <a:ext uri="{FF2B5EF4-FFF2-40B4-BE49-F238E27FC236}">
                <a16:creationId xmlns:a16="http://schemas.microsoft.com/office/drawing/2014/main" id="{A08E1C5E-0083-4F41-BA7B-D5B80E9D17D1}"/>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Deployment and configuration</a:t>
            </a:r>
          </a:p>
        </p:txBody>
      </p:sp>
      <p:sp>
        <p:nvSpPr>
          <p:cNvPr id="3" name="">
            <a:extLst xmlns:a="http://schemas.openxmlformats.org/drawingml/2006/main">
              <a:ext uri="{FF2B5EF4-FFF2-40B4-BE49-F238E27FC236}">
                <a16:creationId xmlns:a16="http://schemas.microsoft.com/office/drawing/2014/main" id="{9A55C702-8294-4CFB-8005-7A71B1F66620}"/>
              </a:ext>
            </a:extLst>
          </p:cNvPr>
          <p:cNvSpPr>
            <a:spLocks xmlns:a="http://schemas.openxmlformats.org/drawingml/2006/main" noGrp="1"/>
          </p:cNvSpPr>
          <p:nvPr/>
        </p:nvSpPr>
        <p:spPr>
          <a:xfrm xmlns:a="http://schemas.openxmlformats.org/drawingml/2006/main">
            <a:off x="685800" y="1809750"/>
            <a:ext cx="2381250" cy="1257300"/>
          </a:xfrm>
          <a:prstGeom xmlns:a="http://schemas.openxmlformats.org/drawingml/2006/main" prst="roundRect">
            <a:avLst>
              <a:gd name="adj" fmla="val 13636"/>
            </a:avLst>
          </a:prstGeom>
          <a:solidFill xmlns:a="http://schemas.openxmlformats.org/drawingml/2006/main">
            <a:srgbClr val="EAF1FF"/>
          </a:solidFill>
          <a:ln xmlns:a="http://schemas.openxmlformats.org/drawingml/2006/main" w="9525">
            <a:solidFill>
              <a:srgbClr val="AFC6F5"/>
            </a:solidFill>
          </a:ln>
        </p:spPr>
      </p:sp>
      <p:sp>
        <p:nvSpPr>
          <p:cNvPr id="4" name="">
            <a:extLst xmlns:a="http://schemas.openxmlformats.org/drawingml/2006/main">
              <a:ext uri="{FF2B5EF4-FFF2-40B4-BE49-F238E27FC236}">
                <a16:creationId xmlns:a16="http://schemas.microsoft.com/office/drawing/2014/main" id="{39D31F1E-B2C9-4288-B96E-2C16011EA76A}"/>
              </a:ext>
            </a:extLst>
          </p:cNvPr>
          <p:cNvSpPr>
            <a:spLocks xmlns:a="http://schemas.openxmlformats.org/drawingml/2006/main" noGrp="1"/>
          </p:cNvSpPr>
          <p:nvPr/>
        </p:nvSpPr>
        <p:spPr>
          <a:xfrm xmlns:a="http://schemas.openxmlformats.org/drawingml/2006/main">
            <a:off x="914400"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994"/>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Local development</a:t>
            </a:r>
          </a:p>
        </p:txBody>
      </p:sp>
      <p:sp>
        <p:nvSpPr>
          <p:cNvPr id="5" name="">
            <a:extLst xmlns:a="http://schemas.openxmlformats.org/drawingml/2006/main">
              <a:ext uri="{FF2B5EF4-FFF2-40B4-BE49-F238E27FC236}">
                <a16:creationId xmlns:a16="http://schemas.microsoft.com/office/drawing/2014/main" id="{B8DF569D-2ED9-4194-ADF1-9F78C7E87DA7}"/>
              </a:ext>
            </a:extLst>
          </p:cNvPr>
          <p:cNvSpPr>
            <a:spLocks xmlns:a="http://schemas.openxmlformats.org/drawingml/2006/main" noGrp="1"/>
          </p:cNvSpPr>
          <p:nvPr/>
        </p:nvSpPr>
        <p:spPr>
          <a:xfrm xmlns:a="http://schemas.openxmlformats.org/drawingml/2006/main">
            <a:off x="914400"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.NET 9 SDK</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User Secrets</a:t>
            </a:r>
          </a:p>
        </p:txBody>
      </p:sp>
      <p:sp>
        <p:nvSpPr>
          <p:cNvPr id="6" name="">
            <a:extLst xmlns:a="http://schemas.openxmlformats.org/drawingml/2006/main">
              <a:ext uri="{FF2B5EF4-FFF2-40B4-BE49-F238E27FC236}">
                <a16:creationId xmlns:a16="http://schemas.microsoft.com/office/drawing/2014/main" id="{7BB7DB57-34ED-4CAF-B064-390B427319C8}"/>
              </a:ext>
            </a:extLst>
          </p:cNvPr>
          <p:cNvSpPr>
            <a:spLocks xmlns:a="http://schemas.openxmlformats.org/drawingml/2006/main" noGrp="1"/>
          </p:cNvSpPr>
          <p:nvPr/>
        </p:nvSpPr>
        <p:spPr>
          <a:xfrm xmlns:a="http://schemas.openxmlformats.org/drawingml/2006/main">
            <a:off x="4905375" y="1809750"/>
            <a:ext cx="2381250" cy="1257300"/>
          </a:xfrm>
          <a:prstGeom xmlns:a="http://schemas.openxmlformats.org/drawingml/2006/main" prst="roundRect">
            <a:avLst>
              <a:gd name="adj" fmla="val 13636"/>
            </a:avLst>
          </a:prstGeom>
          <a:solidFill xmlns:a="http://schemas.openxmlformats.org/drawingml/2006/main">
            <a:srgbClr val="EEF0F6"/>
          </a:solidFill>
          <a:ln xmlns:a="http://schemas.openxmlformats.org/drawingml/2006/main" w="9525">
            <a:solidFill>
              <a:srgbClr val="C7CFDD"/>
            </a:solidFill>
          </a:ln>
        </p:spPr>
      </p:sp>
      <p:sp>
        <p:nvSpPr>
          <p:cNvPr id="7" name="">
            <a:extLst xmlns:a="http://schemas.openxmlformats.org/drawingml/2006/main">
              <a:ext uri="{FF2B5EF4-FFF2-40B4-BE49-F238E27FC236}">
                <a16:creationId xmlns:a16="http://schemas.microsoft.com/office/drawing/2014/main" id="{E043F304-C322-4570-89E9-2E9EE5D5C79A}"/>
              </a:ext>
            </a:extLst>
          </p:cNvPr>
          <p:cNvSpPr>
            <a:spLocks xmlns:a="http://schemas.openxmlformats.org/drawingml/2006/main" noGrp="1"/>
          </p:cNvSpPr>
          <p:nvPr/>
        </p:nvSpPr>
        <p:spPr>
          <a:xfrm xmlns:a="http://schemas.openxmlformats.org/drawingml/2006/main">
            <a:off x="5133975"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Docker image</a:t>
            </a:r>
          </a:p>
        </p:txBody>
      </p:sp>
      <p:sp>
        <p:nvSpPr>
          <p:cNvPr id="8" name="">
            <a:extLst xmlns:a="http://schemas.openxmlformats.org/drawingml/2006/main">
              <a:ext uri="{FF2B5EF4-FFF2-40B4-BE49-F238E27FC236}">
                <a16:creationId xmlns:a16="http://schemas.microsoft.com/office/drawing/2014/main" id="{0AE9DF96-25EE-4DE4-B809-FA7ABFDC6D9F}"/>
              </a:ext>
            </a:extLst>
          </p:cNvPr>
          <p:cNvSpPr>
            <a:spLocks xmlns:a="http://schemas.openxmlformats.org/drawingml/2006/main" noGrp="1"/>
          </p:cNvSpPr>
          <p:nvPr/>
        </p:nvSpPr>
        <p:spPr>
          <a:xfrm xmlns:a="http://schemas.openxmlformats.org/drawingml/2006/main">
            <a:off x="5133975"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Published application</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Non-root container user</a:t>
            </a:r>
          </a:p>
        </p:txBody>
      </p:sp>
      <p:sp>
        <p:nvSpPr>
          <p:cNvPr id="9" name="">
            <a:extLst xmlns:a="http://schemas.openxmlformats.org/drawingml/2006/main">
              <a:ext uri="{FF2B5EF4-FFF2-40B4-BE49-F238E27FC236}">
                <a16:creationId xmlns:a16="http://schemas.microsoft.com/office/drawing/2014/main" id="{17DCA88A-2A50-47FB-B6BA-808E29E7C3B8}"/>
              </a:ext>
            </a:extLst>
          </p:cNvPr>
          <p:cNvSpPr>
            <a:spLocks xmlns:a="http://schemas.openxmlformats.org/drawingml/2006/main" noGrp="1"/>
          </p:cNvSpPr>
          <p:nvPr/>
        </p:nvSpPr>
        <p:spPr>
          <a:xfrm xmlns:a="http://schemas.openxmlformats.org/drawingml/2006/main">
            <a:off x="9124950" y="1809750"/>
            <a:ext cx="2381250" cy="1257300"/>
          </a:xfrm>
          <a:prstGeom xmlns:a="http://schemas.openxmlformats.org/drawingml/2006/main" prst="roundRect">
            <a:avLst>
              <a:gd name="adj" fmla="val 13636"/>
            </a:avLst>
          </a:prstGeom>
          <a:solidFill xmlns:a="http://schemas.openxmlformats.org/drawingml/2006/main">
            <a:srgbClr val="E8F6EE"/>
          </a:solidFill>
          <a:ln xmlns:a="http://schemas.openxmlformats.org/drawingml/2006/main" w="9525">
            <a:solidFill>
              <a:srgbClr val="B7DDC8"/>
            </a:solidFill>
          </a:ln>
        </p:spPr>
      </p:sp>
      <p:sp>
        <p:nvSpPr>
          <p:cNvPr id="10" name="">
            <a:extLst xmlns:a="http://schemas.openxmlformats.org/drawingml/2006/main">
              <a:ext uri="{FF2B5EF4-FFF2-40B4-BE49-F238E27FC236}">
                <a16:creationId xmlns:a16="http://schemas.microsoft.com/office/drawing/2014/main" id="{43B56057-4914-4070-AA93-1AA7EBB5273C}"/>
              </a:ext>
            </a:extLst>
          </p:cNvPr>
          <p:cNvSpPr>
            <a:spLocks xmlns:a="http://schemas.openxmlformats.org/drawingml/2006/main" noGrp="1"/>
          </p:cNvSpPr>
          <p:nvPr/>
        </p:nvSpPr>
        <p:spPr>
          <a:xfrm xmlns:a="http://schemas.openxmlformats.org/drawingml/2006/main">
            <a:off x="9353550"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Render service</a:t>
            </a:r>
          </a:p>
        </p:txBody>
      </p:sp>
      <p:sp>
        <p:nvSpPr>
          <p:cNvPr id="11" name="">
            <a:extLst xmlns:a="http://schemas.openxmlformats.org/drawingml/2006/main">
              <a:ext uri="{FF2B5EF4-FFF2-40B4-BE49-F238E27FC236}">
                <a16:creationId xmlns:a16="http://schemas.microsoft.com/office/drawing/2014/main" id="{453C781E-E0AC-473E-8C5B-789A911CB524}"/>
              </a:ext>
            </a:extLst>
          </p:cNvPr>
          <p:cNvSpPr>
            <a:spLocks xmlns:a="http://schemas.openxmlformats.org/drawingml/2006/main" noGrp="1"/>
          </p:cNvSpPr>
          <p:nvPr/>
        </p:nvSpPr>
        <p:spPr>
          <a:xfrm xmlns:a="http://schemas.openxmlformats.org/drawingml/2006/main">
            <a:off x="9353550"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HTTPS proxy</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Persistent data volume</a:t>
            </a:r>
          </a:p>
        </p:txBody>
      </p:sp>
      <p:cxnSp>
        <p:nvCxnSpPr>
          <p:cNvPr id="31" name=""/>
          <p:cNvCxnSpPr>
            <a:stCxn xmlns:a="http://schemas.openxmlformats.org/drawingml/2006/main" id="3" idx="3"/>
            <a:endCxn xmlns:a="http://schemas.openxmlformats.org/drawingml/2006/main" id="6" idx="1"/>
          </p:cNvCxnSpPr>
          <p:nvPr/>
        </p:nvCxnSpPr>
        <p:spPr>
          <a:xfrm xmlns:a="http://schemas.openxmlformats.org/drawingml/2006/main">
            <a:off x="3067050" y="2438400"/>
            <a:ext cx="1838325" cy="0"/>
          </a:xfrm>
          <a:prstGeom xmlns:a="http://schemas.openxmlformats.org/drawingml/2006/main" prst="straightConnector1">
            <a:avLst/>
          </a:prstGeom>
          <a:ln xmlns:a="http://schemas.openxmlformats.org/drawingml/2006/main" w="28575">
            <a:solidFill>
              <a:srgbClr val="3976ED"/>
            </a:solidFill>
            <a:prstDash val="solid"/>
            <a:tailEnd type="triangle" w="sm" len="sm"/>
          </a:ln>
        </p:spPr>
      </p:cxnSp>
      <p:cxnSp>
        <p:nvCxnSpPr>
          <p:cNvPr id="32" name=""/>
          <p:cNvCxnSpPr>
            <a:stCxn xmlns:a="http://schemas.openxmlformats.org/drawingml/2006/main" id="6" idx="3"/>
            <a:endCxn xmlns:a="http://schemas.openxmlformats.org/drawingml/2006/main" id="9" idx="1"/>
          </p:cNvCxnSpPr>
          <p:nvPr/>
        </p:nvCxnSpPr>
        <p:spPr>
          <a:xfrm xmlns:a="http://schemas.openxmlformats.org/drawingml/2006/main">
            <a:off x="7286625" y="2438400"/>
            <a:ext cx="1838325" cy="0"/>
          </a:xfrm>
          <a:prstGeom xmlns:a="http://schemas.openxmlformats.org/drawingml/2006/main" prst="straightConnector1">
            <a:avLst/>
          </a:prstGeom>
          <a:ln xmlns:a="http://schemas.openxmlformats.org/drawingml/2006/main" w="28575">
            <a:solidFill>
              <a:srgbClr val="17965A"/>
            </a:solidFill>
            <a:prstDash val="solid"/>
            <a:tailEnd type="triangle" w="sm" len="sm"/>
          </a:ln>
        </p:spPr>
      </p:cxnSp>
      <p:sp>
        <p:nvSpPr>
          <p:cNvPr id="14" name="">
            <a:extLst xmlns:a="http://schemas.openxmlformats.org/drawingml/2006/main">
              <a:ext uri="{FF2B5EF4-FFF2-40B4-BE49-F238E27FC236}">
                <a16:creationId xmlns:a16="http://schemas.microsoft.com/office/drawing/2014/main" id="{9EF6441C-A3FD-4F8F-A16B-4C10A5F89E0E}"/>
              </a:ext>
            </a:extLst>
          </p:cNvPr>
          <p:cNvSpPr>
            <a:spLocks xmlns:a="http://schemas.openxmlformats.org/drawingml/2006/main" noGrp="1"/>
          </p:cNvSpPr>
          <p:nvPr/>
        </p:nvSpPr>
        <p:spPr>
          <a:xfrm xmlns:a="http://schemas.openxmlformats.org/drawingml/2006/main">
            <a:off x="685800" y="38100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Configuration that must stay outside Git</a:t>
            </a:r>
          </a:p>
        </p:txBody>
      </p:sp>
      <p:sp>
        <p:nvSpPr>
          <p:cNvPr id="15" name="">
            <a:extLst xmlns:a="http://schemas.openxmlformats.org/drawingml/2006/main">
              <a:ext uri="{FF2B5EF4-FFF2-40B4-BE49-F238E27FC236}">
                <a16:creationId xmlns:a16="http://schemas.microsoft.com/office/drawing/2014/main" id="{35D66338-7786-4AE1-B4C7-B0C11DE89ED4}"/>
              </a:ext>
            </a:extLst>
          </p:cNvPr>
          <p:cNvSpPr>
            <a:spLocks xmlns:a="http://schemas.openxmlformats.org/drawingml/2006/main" noGrp="1"/>
          </p:cNvSpPr>
          <p:nvPr/>
        </p:nvSpPr>
        <p:spPr>
          <a:xfrm xmlns:a="http://schemas.openxmlformats.org/drawingml/2006/main">
            <a:off x="685800" y="4324350"/>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Spotify client ID and secret</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Administrator password</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SMTP credentials and webhook destinations</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External secrets file and persistent encryption keys</a:t>
            </a:r>
          </a:p>
        </p:txBody>
      </p:sp>
      <p:sp>
        <p:nvSpPr>
          <p:cNvPr id="16" name="">
            <a:extLst xmlns:a="http://schemas.openxmlformats.org/drawingml/2006/main">
              <a:ext uri="{FF2B5EF4-FFF2-40B4-BE49-F238E27FC236}">
                <a16:creationId xmlns:a16="http://schemas.microsoft.com/office/drawing/2014/main" id="{ED34DF84-71AC-4FF5-B849-4312F5887AAD}"/>
              </a:ext>
            </a:extLst>
          </p:cNvPr>
          <p:cNvSpPr>
            <a:spLocks xmlns:a="http://schemas.openxmlformats.org/drawingml/2006/main" noGrp="1"/>
          </p:cNvSpPr>
          <p:nvPr/>
        </p:nvSpPr>
        <p:spPr>
          <a:xfrm xmlns:a="http://schemas.openxmlformats.org/drawingml/2006/main">
            <a:off x="6572250" y="38100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Deployment checks</a:t>
            </a:r>
          </a:p>
        </p:txBody>
      </p:sp>
      <p:sp>
        <p:nvSpPr>
          <p:cNvPr id="17" name="">
            <a:extLst xmlns:a="http://schemas.openxmlformats.org/drawingml/2006/main">
              <a:ext uri="{FF2B5EF4-FFF2-40B4-BE49-F238E27FC236}">
                <a16:creationId xmlns:a16="http://schemas.microsoft.com/office/drawing/2014/main" id="{70EC5FAD-57E6-4EAC-A635-83122B5A9909}"/>
              </a:ext>
            </a:extLst>
          </p:cNvPr>
          <p:cNvSpPr>
            <a:spLocks xmlns:a="http://schemas.openxmlformats.org/drawingml/2006/main" noGrp="1"/>
          </p:cNvSpPr>
          <p:nvPr/>
        </p:nvSpPr>
        <p:spPr>
          <a:xfrm xmlns:a="http://schemas.openxmlformats.org/drawingml/2006/main">
            <a:off x="6572250" y="4324350"/>
            <a:ext cx="4572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Health endpoint at /healthz</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Correct Spotify callback URL</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Trusted reverse proxy configuration</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Diagnostics exposure reviewed before launch</a:t>
            </a:r>
          </a:p>
        </p:txBody>
      </p:sp>
      <p:sp>
        <p:nvSpPr>
          <p:cNvPr id="18" name="">
            <a:extLst xmlns:a="http://schemas.openxmlformats.org/drawingml/2006/main">
              <a:ext uri="{FF2B5EF4-FFF2-40B4-BE49-F238E27FC236}">
                <a16:creationId xmlns:a16="http://schemas.microsoft.com/office/drawing/2014/main" id="{6E41D938-89F7-4EEE-81AE-C1C34E9EE49A}"/>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EED4141B-1CDB-46BC-81EC-D43E45BFBFCE}"/>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11</a:t>
            </a:r>
          </a:p>
        </p:txBody>
      </p:sp>
    </p:spTree>
    <p:extLst>
      <p:ext uri="{BB962C8B-B14F-4D97-AF65-F5344CB8AC3E}">
        <p14:creationId xmlns:p14="http://schemas.microsoft.com/office/powerpoint/2010/main" val="846139362"/>
      </p:ext>
    </p:extLst>
  </p:cSld>
</p:sld>
</file>

<file path=ppt/slides/slide1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335F3AD-D781-4BF5-BE14-504FA795B861}"/>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QUALITY</a:t>
            </a:r>
          </a:p>
        </p:txBody>
      </p:sp>
      <p:sp>
        <p:nvSpPr>
          <p:cNvPr id="2" name="">
            <a:extLst xmlns:a="http://schemas.openxmlformats.org/drawingml/2006/main">
              <a:ext uri="{FF2B5EF4-FFF2-40B4-BE49-F238E27FC236}">
                <a16:creationId xmlns:a16="http://schemas.microsoft.com/office/drawing/2014/main" id="{5C14448F-DB8E-4BA2-AB1F-F334A519DEFD}"/>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Verification and release status</a:t>
            </a:r>
          </a:p>
        </p:txBody>
      </p:sp>
      <p:sp>
        <p:nvSpPr>
          <p:cNvPr id="3" name="">
            <a:extLst xmlns:a="http://schemas.openxmlformats.org/drawingml/2006/main">
              <a:ext uri="{FF2B5EF4-FFF2-40B4-BE49-F238E27FC236}">
                <a16:creationId xmlns:a16="http://schemas.microsoft.com/office/drawing/2014/main" id="{2D4AA2C8-5C79-445A-A862-E3A505417A95}"/>
              </a:ext>
            </a:extLst>
          </p:cNvPr>
          <p:cNvSpPr>
            <a:spLocks xmlns:a="http://schemas.openxmlformats.org/drawingml/2006/main" noGrp="1"/>
          </p:cNvSpPr>
          <p:nvPr/>
        </p:nvSpPr>
        <p:spPr>
          <a:xfrm xmlns:a="http://schemas.openxmlformats.org/drawingml/2006/main">
            <a:off x="723900" y="171450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17965A"/>
                </a:solidFill>
                <a:latin typeface="Arial"/>
                <a:ea typeface="Arial"/>
                <a:cs typeface="Arial"/>
              </a:defRPr>
            </a:pPr>
            <a:r>
              <a:rPr sz="5400" b="1">
                <a:solidFill>
                  <a:srgbClr val="17965A"/>
                </a:solidFill>
                <a:latin typeface="Arial"/>
                <a:ea typeface="Arial"/>
                <a:cs typeface="Arial"/>
              </a:rPr>
              <a:t>79 / 79</a:t>
            </a:r>
          </a:p>
        </p:txBody>
      </p:sp>
      <p:sp>
        <p:nvSpPr>
          <p:cNvPr id="4" name="">
            <a:extLst xmlns:a="http://schemas.openxmlformats.org/drawingml/2006/main">
              <a:ext uri="{FF2B5EF4-FFF2-40B4-BE49-F238E27FC236}">
                <a16:creationId xmlns:a16="http://schemas.microsoft.com/office/drawing/2014/main" id="{81877CF9-8060-4581-A548-24FB73BF263B}"/>
              </a:ext>
            </a:extLst>
          </p:cNvPr>
          <p:cNvSpPr>
            <a:spLocks xmlns:a="http://schemas.openxmlformats.org/drawingml/2006/main" noGrp="1"/>
          </p:cNvSpPr>
          <p:nvPr/>
        </p:nvSpPr>
        <p:spPr>
          <a:xfrm xmlns:a="http://schemas.openxmlformats.org/drawingml/2006/main">
            <a:off x="762000" y="26289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158"/>
          </a:bodyPr>
          <a:lstStyle xmlns:a="http://schemas.openxmlformats.org/drawingml/2006/main"/>
          <a:p xmlns:a="http://schemas.openxmlformats.org/drawingml/2006/main">
            <a:pPr algn="l">
              <a:defRPr sz="1875" b="1">
                <a:solidFill>
                  <a:srgbClr val="172033"/>
                </a:solidFill>
                <a:latin typeface="Arial"/>
                <a:ea typeface="Arial"/>
                <a:cs typeface="Arial"/>
              </a:defRPr>
            </a:pPr>
            <a:r>
              <a:rPr sz="1875" b="1">
                <a:solidFill>
                  <a:srgbClr val="172033"/>
                </a:solidFill>
                <a:latin typeface="Arial"/>
                <a:ea typeface="Arial"/>
                <a:cs typeface="Arial"/>
              </a:rPr>
              <a:t>automated regression checks passed</a:t>
            </a:r>
          </a:p>
        </p:txBody>
      </p:sp>
      <p:sp>
        <p:nvSpPr>
          <p:cNvPr id="5" name="">
            <a:extLst xmlns:a="http://schemas.openxmlformats.org/drawingml/2006/main">
              <a:ext uri="{FF2B5EF4-FFF2-40B4-BE49-F238E27FC236}">
                <a16:creationId xmlns:a16="http://schemas.microsoft.com/office/drawing/2014/main" id="{41C0DF9E-A3EC-4FFB-822A-80ECE46CAE2E}"/>
              </a:ext>
            </a:extLst>
          </p:cNvPr>
          <p:cNvSpPr>
            <a:spLocks xmlns:a="http://schemas.openxmlformats.org/drawingml/2006/main" noGrp="1"/>
          </p:cNvSpPr>
          <p:nvPr/>
        </p:nvSpPr>
        <p:spPr>
          <a:xfrm xmlns:a="http://schemas.openxmlformats.org/drawingml/2006/main">
            <a:off x="762000" y="3219450"/>
            <a:ext cx="4476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5F6F8C"/>
                </a:solidFill>
                <a:latin typeface="Arial"/>
                <a:ea typeface="Arial"/>
                <a:cs typeface="Arial"/>
              </a:defRPr>
            </a:pPr>
            <a:r>
              <a:rPr sz="1575" b="0">
                <a:solidFill>
                  <a:srgbClr val="5F6F8C"/>
                </a:solidFill>
                <a:latin typeface="Arial"/>
                <a:ea typeface="Arial"/>
                <a:cs typeface="Arial"/>
              </a:rPr>
              <a:t>Coverage includes Spotify parsing and sessions, cryptography, network safety, website audit behavior, telemetry persistence, API boundaries, and DNS email-policy analysis.</a:t>
            </a:r>
          </a:p>
        </p:txBody>
      </p:sp>
      <p:sp>
        <p:nvSpPr>
          <p:cNvPr id="6" name="">
            <a:extLst xmlns:a="http://schemas.openxmlformats.org/drawingml/2006/main">
              <a:ext uri="{FF2B5EF4-FFF2-40B4-BE49-F238E27FC236}">
                <a16:creationId xmlns:a16="http://schemas.microsoft.com/office/drawing/2014/main" id="{67FF92F1-23E1-44F0-AE7C-6603778C34AA}"/>
              </a:ext>
            </a:extLst>
          </p:cNvPr>
          <p:cNvSpPr>
            <a:spLocks xmlns:a="http://schemas.openxmlformats.org/drawingml/2006/main" noGrp="1"/>
          </p:cNvSpPr>
          <p:nvPr/>
        </p:nvSpPr>
        <p:spPr>
          <a:xfrm xmlns:a="http://schemas.openxmlformats.org/drawingml/2006/main">
            <a:off x="6000750" y="158115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7" name="">
            <a:extLst xmlns:a="http://schemas.openxmlformats.org/drawingml/2006/main">
              <a:ext uri="{FF2B5EF4-FFF2-40B4-BE49-F238E27FC236}">
                <a16:creationId xmlns:a16="http://schemas.microsoft.com/office/drawing/2014/main" id="{F24EADD2-9028-4F7F-93D0-B9367ACE0155}"/>
              </a:ext>
            </a:extLst>
          </p:cNvPr>
          <p:cNvSpPr>
            <a:spLocks xmlns:a="http://schemas.openxmlformats.org/drawingml/2006/main" noGrp="1"/>
          </p:cNvSpPr>
          <p:nvPr/>
        </p:nvSpPr>
        <p:spPr>
          <a:xfrm xmlns:a="http://schemas.openxmlformats.org/drawingml/2006/main">
            <a:off x="6267450" y="1762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Release build</a:t>
            </a:r>
          </a:p>
        </p:txBody>
      </p:sp>
      <p:sp>
        <p:nvSpPr>
          <p:cNvPr id="8" name="">
            <a:extLst xmlns:a="http://schemas.openxmlformats.org/drawingml/2006/main">
              <a:ext uri="{FF2B5EF4-FFF2-40B4-BE49-F238E27FC236}">
                <a16:creationId xmlns:a16="http://schemas.microsoft.com/office/drawing/2014/main" id="{2D9A48D0-367E-483A-8969-E285C61A9414}"/>
              </a:ext>
            </a:extLst>
          </p:cNvPr>
          <p:cNvSpPr>
            <a:spLocks xmlns:a="http://schemas.openxmlformats.org/drawingml/2006/main" noGrp="1"/>
          </p:cNvSpPr>
          <p:nvPr/>
        </p:nvSpPr>
        <p:spPr>
          <a:xfrm xmlns:a="http://schemas.openxmlformats.org/drawingml/2006/main">
            <a:off x="8667750" y="17621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0 warnings, 0 errors</a:t>
            </a:r>
          </a:p>
        </p:txBody>
      </p:sp>
      <p:sp>
        <p:nvSpPr>
          <p:cNvPr id="9" name="">
            <a:extLst xmlns:a="http://schemas.openxmlformats.org/drawingml/2006/main">
              <a:ext uri="{FF2B5EF4-FFF2-40B4-BE49-F238E27FC236}">
                <a16:creationId xmlns:a16="http://schemas.microsoft.com/office/drawing/2014/main" id="{ACF05F08-4E8C-4412-A417-B3BAA1CF5F1D}"/>
              </a:ext>
            </a:extLst>
          </p:cNvPr>
          <p:cNvSpPr>
            <a:spLocks xmlns:a="http://schemas.openxmlformats.org/drawingml/2006/main" noGrp="1"/>
          </p:cNvSpPr>
          <p:nvPr/>
        </p:nvSpPr>
        <p:spPr>
          <a:xfrm xmlns:a="http://schemas.openxmlformats.org/drawingml/2006/main">
            <a:off x="6000750" y="247650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10" name="">
            <a:extLst xmlns:a="http://schemas.openxmlformats.org/drawingml/2006/main">
              <a:ext uri="{FF2B5EF4-FFF2-40B4-BE49-F238E27FC236}">
                <a16:creationId xmlns:a16="http://schemas.microsoft.com/office/drawing/2014/main" id="{569E163C-36DF-4BAC-89AD-B344C461724C}"/>
              </a:ext>
            </a:extLst>
          </p:cNvPr>
          <p:cNvSpPr>
            <a:spLocks xmlns:a="http://schemas.openxmlformats.org/drawingml/2006/main" noGrp="1"/>
          </p:cNvSpPr>
          <p:nvPr/>
        </p:nvSpPr>
        <p:spPr>
          <a:xfrm xmlns:a="http://schemas.openxmlformats.org/drawingml/2006/main">
            <a:off x="6267450" y="26574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Code formatting</a:t>
            </a:r>
          </a:p>
        </p:txBody>
      </p:sp>
      <p:sp>
        <p:nvSpPr>
          <p:cNvPr id="11" name="">
            <a:extLst xmlns:a="http://schemas.openxmlformats.org/drawingml/2006/main">
              <a:ext uri="{FF2B5EF4-FFF2-40B4-BE49-F238E27FC236}">
                <a16:creationId xmlns:a16="http://schemas.microsoft.com/office/drawing/2014/main" id="{1FCBD275-D827-4376-8141-5A19E2D0583F}"/>
              </a:ext>
            </a:extLst>
          </p:cNvPr>
          <p:cNvSpPr>
            <a:spLocks xmlns:a="http://schemas.openxmlformats.org/drawingml/2006/main" noGrp="1"/>
          </p:cNvSpPr>
          <p:nvPr/>
        </p:nvSpPr>
        <p:spPr>
          <a:xfrm xmlns:a="http://schemas.openxmlformats.org/drawingml/2006/main">
            <a:off x="8667750" y="26574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Verified</a:t>
            </a:r>
          </a:p>
        </p:txBody>
      </p:sp>
      <p:sp>
        <p:nvSpPr>
          <p:cNvPr id="12" name="">
            <a:extLst xmlns:a="http://schemas.openxmlformats.org/drawingml/2006/main">
              <a:ext uri="{FF2B5EF4-FFF2-40B4-BE49-F238E27FC236}">
                <a16:creationId xmlns:a16="http://schemas.microsoft.com/office/drawing/2014/main" id="{A1810679-05C9-43FA-B153-ADE15F03F771}"/>
              </a:ext>
            </a:extLst>
          </p:cNvPr>
          <p:cNvSpPr>
            <a:spLocks xmlns:a="http://schemas.openxmlformats.org/drawingml/2006/main" noGrp="1"/>
          </p:cNvSpPr>
          <p:nvPr/>
        </p:nvSpPr>
        <p:spPr>
          <a:xfrm xmlns:a="http://schemas.openxmlformats.org/drawingml/2006/main">
            <a:off x="6000750" y="337185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13" name="">
            <a:extLst xmlns:a="http://schemas.openxmlformats.org/drawingml/2006/main">
              <a:ext uri="{FF2B5EF4-FFF2-40B4-BE49-F238E27FC236}">
                <a16:creationId xmlns:a16="http://schemas.microsoft.com/office/drawing/2014/main" id="{3DF92996-BD9A-4EE5-9188-F82AF5C04489}"/>
              </a:ext>
            </a:extLst>
          </p:cNvPr>
          <p:cNvSpPr>
            <a:spLocks xmlns:a="http://schemas.openxmlformats.org/drawingml/2006/main" noGrp="1"/>
          </p:cNvSpPr>
          <p:nvPr/>
        </p:nvSpPr>
        <p:spPr>
          <a:xfrm xmlns:a="http://schemas.openxmlformats.org/drawingml/2006/main">
            <a:off x="6267450" y="35528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498"/>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Published HTTP smoke suite</a:t>
            </a:r>
          </a:p>
        </p:txBody>
      </p:sp>
      <p:sp>
        <p:nvSpPr>
          <p:cNvPr id="14" name="">
            <a:extLst xmlns:a="http://schemas.openxmlformats.org/drawingml/2006/main">
              <a:ext uri="{FF2B5EF4-FFF2-40B4-BE49-F238E27FC236}">
                <a16:creationId xmlns:a16="http://schemas.microsoft.com/office/drawing/2014/main" id="{BDD538B0-2296-4CB8-950F-236A80A747CE}"/>
              </a:ext>
            </a:extLst>
          </p:cNvPr>
          <p:cNvSpPr>
            <a:spLocks xmlns:a="http://schemas.openxmlformats.org/drawingml/2006/main" noGrp="1"/>
          </p:cNvSpPr>
          <p:nvPr/>
        </p:nvSpPr>
        <p:spPr>
          <a:xfrm xmlns:a="http://schemas.openxmlformats.org/drawingml/2006/main">
            <a:off x="9505950" y="3552825"/>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Passed</a:t>
            </a:r>
          </a:p>
        </p:txBody>
      </p:sp>
      <p:sp>
        <p:nvSpPr>
          <p:cNvPr id="15" name="">
            <a:extLst xmlns:a="http://schemas.openxmlformats.org/drawingml/2006/main">
              <a:ext uri="{FF2B5EF4-FFF2-40B4-BE49-F238E27FC236}">
                <a16:creationId xmlns:a16="http://schemas.microsoft.com/office/drawing/2014/main" id="{9235BC41-70FB-4953-AAF8-7BAC49218C44}"/>
              </a:ext>
            </a:extLst>
          </p:cNvPr>
          <p:cNvSpPr>
            <a:spLocks xmlns:a="http://schemas.openxmlformats.org/drawingml/2006/main" noGrp="1"/>
          </p:cNvSpPr>
          <p:nvPr/>
        </p:nvSpPr>
        <p:spPr>
          <a:xfrm xmlns:a="http://schemas.openxmlformats.org/drawingml/2006/main">
            <a:off x="6000750" y="4476750"/>
            <a:ext cx="4953000" cy="1066800"/>
          </a:xfrm>
          <a:prstGeom xmlns:a="http://schemas.openxmlformats.org/drawingml/2006/main" prst="roundRect">
            <a:avLst>
              <a:gd name="adj" fmla="val 12500"/>
            </a:avLst>
          </a:prstGeom>
          <a:solidFill xmlns:a="http://schemas.openxmlformats.org/drawingml/2006/main">
            <a:srgbClr val="FFF5E6"/>
          </a:solidFill>
          <a:ln xmlns:a="http://schemas.openxmlformats.org/drawingml/2006/main" w="9525">
            <a:solidFill>
              <a:srgbClr val="E8C991"/>
            </a:solidFill>
          </a:ln>
        </p:spPr>
      </p:sp>
      <p:sp>
        <p:nvSpPr>
          <p:cNvPr id="16" name="">
            <a:extLst xmlns:a="http://schemas.openxmlformats.org/drawingml/2006/main">
              <a:ext uri="{FF2B5EF4-FFF2-40B4-BE49-F238E27FC236}">
                <a16:creationId xmlns:a16="http://schemas.microsoft.com/office/drawing/2014/main" id="{5D543280-9CFE-410C-94C0-D6C8ABEB63DE}"/>
              </a:ext>
            </a:extLst>
          </p:cNvPr>
          <p:cNvSpPr>
            <a:spLocks xmlns:a="http://schemas.openxmlformats.org/drawingml/2006/main" noGrp="1"/>
          </p:cNvSpPr>
          <p:nvPr/>
        </p:nvSpPr>
        <p:spPr>
          <a:xfrm xmlns:a="http://schemas.openxmlformats.org/drawingml/2006/main">
            <a:off x="6267450" y="46672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D4861A"/>
                </a:solidFill>
                <a:latin typeface="Arial"/>
                <a:ea typeface="Arial"/>
                <a:cs typeface="Arial"/>
              </a:defRPr>
            </a:pPr>
            <a:r>
              <a:rPr sz="1650" b="1">
                <a:solidFill>
                  <a:srgbClr val="D4861A"/>
                </a:solidFill>
                <a:latin typeface="Arial"/>
                <a:ea typeface="Arial"/>
                <a:cs typeface="Arial"/>
              </a:rPr>
              <a:t>Public launch checkpoint</a:t>
            </a:r>
          </a:p>
        </p:txBody>
      </p:sp>
      <p:sp>
        <p:nvSpPr>
          <p:cNvPr id="17" name="">
            <a:extLst xmlns:a="http://schemas.openxmlformats.org/drawingml/2006/main">
              <a:ext uri="{FF2B5EF4-FFF2-40B4-BE49-F238E27FC236}">
                <a16:creationId xmlns:a16="http://schemas.microsoft.com/office/drawing/2014/main" id="{CD9C6E89-6550-4DAC-B4C8-9211F1D196E4}"/>
              </a:ext>
            </a:extLst>
          </p:cNvPr>
          <p:cNvSpPr>
            <a:spLocks xmlns:a="http://schemas.openxmlformats.org/drawingml/2006/main" noGrp="1"/>
          </p:cNvSpPr>
          <p:nvPr/>
        </p:nvSpPr>
        <p:spPr>
          <a:xfrm xmlns:a="http://schemas.openxmlformats.org/drawingml/2006/main">
            <a:off x="6267450" y="50292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7A551B"/>
                </a:solidFill>
                <a:latin typeface="Arial"/>
                <a:ea typeface="Arial"/>
                <a:cs typeface="Arial"/>
              </a:defRPr>
            </a:pPr>
            <a:r>
              <a:rPr sz="1350" b="0">
                <a:solidFill>
                  <a:srgbClr val="7A551B"/>
                </a:solidFill>
                <a:latin typeface="Arial"/>
                <a:ea typeface="Arial"/>
                <a:cs typeface="Arial"/>
              </a:rPr>
              <a:t>Complete Google Search Console review and protect public diagnostic pages before broad promotion.</a:t>
            </a:r>
          </a:p>
        </p:txBody>
      </p:sp>
      <p:sp>
        <p:nvSpPr>
          <p:cNvPr id="18" name="">
            <a:extLst xmlns:a="http://schemas.openxmlformats.org/drawingml/2006/main">
              <a:ext uri="{FF2B5EF4-FFF2-40B4-BE49-F238E27FC236}">
                <a16:creationId xmlns:a16="http://schemas.microsoft.com/office/drawing/2014/main" id="{E946042F-3018-417F-B780-E6099C5044BC}"/>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D714CDCA-444C-4D3E-B665-99BCF6B8227E}"/>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12</a:t>
            </a:r>
          </a:p>
        </p:txBody>
      </p:sp>
    </p:spTree>
    <p:extLst>
      <p:ext uri="{BB962C8B-B14F-4D97-AF65-F5344CB8AC3E}">
        <p14:creationId xmlns:p14="http://schemas.microsoft.com/office/powerpoint/2010/main" val="9951499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0DA2801-710B-4259-9505-CE04AAC86546}"/>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NEXT STEPS</a:t>
            </a:r>
          </a:p>
        </p:txBody>
      </p:sp>
      <p:sp>
        <p:nvSpPr>
          <p:cNvPr id="2" name="">
            <a:extLst xmlns:a="http://schemas.openxmlformats.org/drawingml/2006/main">
              <a:ext uri="{FF2B5EF4-FFF2-40B4-BE49-F238E27FC236}">
                <a16:creationId xmlns:a16="http://schemas.microsoft.com/office/drawing/2014/main" id="{3A942B47-37BA-4AE3-8543-206BAB7EDC4E}"/>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Presentation route and Version 2</a:t>
            </a:r>
          </a:p>
        </p:txBody>
      </p:sp>
      <p:sp>
        <p:nvSpPr>
          <p:cNvPr id="3" name="">
            <a:extLst xmlns:a="http://schemas.openxmlformats.org/drawingml/2006/main">
              <a:ext uri="{FF2B5EF4-FFF2-40B4-BE49-F238E27FC236}">
                <a16:creationId xmlns:a16="http://schemas.microsoft.com/office/drawing/2014/main" id="{AF313E99-10D5-447E-A96C-C19038DAC717}"/>
              </a:ext>
            </a:extLst>
          </p:cNvPr>
          <p:cNvSpPr>
            <a:spLocks xmlns:a="http://schemas.openxmlformats.org/drawingml/2006/main" noGrp="1"/>
          </p:cNvSpPr>
          <p:nvPr/>
        </p:nvSpPr>
        <p:spPr>
          <a:xfrm xmlns:a="http://schemas.openxmlformats.org/drawingml/2006/main">
            <a:off x="685800" y="15811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172033"/>
                </a:solidFill>
                <a:latin typeface="Arial"/>
                <a:ea typeface="Arial"/>
                <a:cs typeface="Arial"/>
              </a:defRPr>
            </a:pPr>
            <a:r>
              <a:rPr sz="2175" b="1">
                <a:solidFill>
                  <a:srgbClr val="172033"/>
                </a:solidFill>
                <a:latin typeface="Arial"/>
                <a:ea typeface="Arial"/>
                <a:cs typeface="Arial"/>
              </a:rPr>
              <a:t>Suggested live demonstration</a:t>
            </a:r>
          </a:p>
        </p:txBody>
      </p:sp>
      <p:sp>
        <p:nvSpPr>
          <p:cNvPr id="4" name="">
            <a:extLst xmlns:a="http://schemas.openxmlformats.org/drawingml/2006/main">
              <a:ext uri="{FF2B5EF4-FFF2-40B4-BE49-F238E27FC236}">
                <a16:creationId xmlns:a16="http://schemas.microsoft.com/office/drawing/2014/main" id="{8F151E72-839D-45DF-8BBE-10DEC4104D00}"/>
              </a:ext>
            </a:extLst>
          </p:cNvPr>
          <p:cNvSpPr>
            <a:spLocks xmlns:a="http://schemas.openxmlformats.org/drawingml/2006/main" noGrp="1"/>
          </p:cNvSpPr>
          <p:nvPr/>
        </p:nvSpPr>
        <p:spPr>
          <a:xfrm xmlns:a="http://schemas.openxmlformats.org/drawingml/2006/main">
            <a:off x="742950" y="21526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D577DF3-EF61-4569-8A4F-75F1FAA90771}"/>
              </a:ext>
            </a:extLst>
          </p:cNvPr>
          <p:cNvSpPr>
            <a:spLocks xmlns:a="http://schemas.openxmlformats.org/drawingml/2006/main" noGrp="1"/>
          </p:cNvSpPr>
          <p:nvPr/>
        </p:nvSpPr>
        <p:spPr>
          <a:xfrm xmlns:a="http://schemas.openxmlformats.org/drawingml/2006/main">
            <a:off x="1371600" y="21336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72033"/>
                </a:solidFill>
                <a:latin typeface="Arial"/>
                <a:ea typeface="Arial"/>
                <a:cs typeface="Arial"/>
              </a:defRPr>
            </a:pPr>
            <a:r>
              <a:rPr sz="1875" b="1">
                <a:solidFill>
                  <a:srgbClr val="172033"/>
                </a:solidFill>
                <a:latin typeface="Arial"/>
                <a:ea typeface="Arial"/>
                <a:cs typeface="Arial"/>
              </a:rPr>
              <a:t>Overview</a:t>
            </a:r>
          </a:p>
        </p:txBody>
      </p:sp>
      <p:sp>
        <p:nvSpPr>
          <p:cNvPr id="6" name="">
            <a:extLst xmlns:a="http://schemas.openxmlformats.org/drawingml/2006/main">
              <a:ext uri="{FF2B5EF4-FFF2-40B4-BE49-F238E27FC236}">
                <a16:creationId xmlns:a16="http://schemas.microsoft.com/office/drawing/2014/main" id="{A53B9838-27AF-4A75-AE31-1C76C5AF2A9E}"/>
              </a:ext>
            </a:extLst>
          </p:cNvPr>
          <p:cNvSpPr>
            <a:spLocks xmlns:a="http://schemas.openxmlformats.org/drawingml/2006/main" noGrp="1"/>
          </p:cNvSpPr>
          <p:nvPr/>
        </p:nvSpPr>
        <p:spPr>
          <a:xfrm xmlns:a="http://schemas.openxmlformats.org/drawingml/2006/main">
            <a:off x="742950" y="27622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9EB8C486-C690-4E11-84CC-41726E697E99}"/>
              </a:ext>
            </a:extLst>
          </p:cNvPr>
          <p:cNvSpPr>
            <a:spLocks xmlns:a="http://schemas.openxmlformats.org/drawingml/2006/main" noGrp="1"/>
          </p:cNvSpPr>
          <p:nvPr/>
        </p:nvSpPr>
        <p:spPr>
          <a:xfrm xmlns:a="http://schemas.openxmlformats.org/drawingml/2006/main">
            <a:off x="1371600" y="27432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Network Calculator</a:t>
            </a:r>
          </a:p>
        </p:txBody>
      </p:sp>
      <p:sp>
        <p:nvSpPr>
          <p:cNvPr id="8" name="">
            <a:extLst xmlns:a="http://schemas.openxmlformats.org/drawingml/2006/main">
              <a:ext uri="{FF2B5EF4-FFF2-40B4-BE49-F238E27FC236}">
                <a16:creationId xmlns:a16="http://schemas.microsoft.com/office/drawing/2014/main" id="{AC09CDC8-6636-46B9-85AE-A217F6883AED}"/>
              </a:ext>
            </a:extLst>
          </p:cNvPr>
          <p:cNvSpPr>
            <a:spLocks xmlns:a="http://schemas.openxmlformats.org/drawingml/2006/main" noGrp="1"/>
          </p:cNvSpPr>
          <p:nvPr/>
        </p:nvSpPr>
        <p:spPr>
          <a:xfrm xmlns:a="http://schemas.openxmlformats.org/drawingml/2006/main">
            <a:off x="742950" y="33718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A44CFCB2-8258-48D5-A4D4-DABCD7008D2B}"/>
              </a:ext>
            </a:extLst>
          </p:cNvPr>
          <p:cNvSpPr>
            <a:spLocks xmlns:a="http://schemas.openxmlformats.org/drawingml/2006/main" noGrp="1"/>
          </p:cNvSpPr>
          <p:nvPr/>
        </p:nvSpPr>
        <p:spPr>
          <a:xfrm xmlns:a="http://schemas.openxmlformats.org/drawingml/2006/main">
            <a:off x="1371600" y="33528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Website Audit</a:t>
            </a:r>
          </a:p>
        </p:txBody>
      </p:sp>
      <p:sp>
        <p:nvSpPr>
          <p:cNvPr id="10" name="">
            <a:extLst xmlns:a="http://schemas.openxmlformats.org/drawingml/2006/main">
              <a:ext uri="{FF2B5EF4-FFF2-40B4-BE49-F238E27FC236}">
                <a16:creationId xmlns:a16="http://schemas.microsoft.com/office/drawing/2014/main" id="{5C14B1BB-6FC1-4B1E-BD5D-81A88095BBD9}"/>
              </a:ext>
            </a:extLst>
          </p:cNvPr>
          <p:cNvSpPr>
            <a:spLocks xmlns:a="http://schemas.openxmlformats.org/drawingml/2006/main" noGrp="1"/>
          </p:cNvSpPr>
          <p:nvPr/>
        </p:nvSpPr>
        <p:spPr>
          <a:xfrm xmlns:a="http://schemas.openxmlformats.org/drawingml/2006/main">
            <a:off x="742950" y="39814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ACF7A8F3-7186-4B72-ADC1-4B7026743672}"/>
              </a:ext>
            </a:extLst>
          </p:cNvPr>
          <p:cNvSpPr>
            <a:spLocks xmlns:a="http://schemas.openxmlformats.org/drawingml/2006/main" noGrp="1"/>
          </p:cNvSpPr>
          <p:nvPr/>
        </p:nvSpPr>
        <p:spPr>
          <a:xfrm xmlns:a="http://schemas.openxmlformats.org/drawingml/2006/main">
            <a:off x="1371600" y="39624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API Runner</a:t>
            </a:r>
          </a:p>
        </p:txBody>
      </p:sp>
      <p:sp>
        <p:nvSpPr>
          <p:cNvPr id="12" name="">
            <a:extLst xmlns:a="http://schemas.openxmlformats.org/drawingml/2006/main">
              <a:ext uri="{FF2B5EF4-FFF2-40B4-BE49-F238E27FC236}">
                <a16:creationId xmlns:a16="http://schemas.microsoft.com/office/drawing/2014/main" id="{1F1329AC-5272-4358-8CE5-6D82C441CB98}"/>
              </a:ext>
            </a:extLst>
          </p:cNvPr>
          <p:cNvSpPr>
            <a:spLocks xmlns:a="http://schemas.openxmlformats.org/drawingml/2006/main" noGrp="1"/>
          </p:cNvSpPr>
          <p:nvPr/>
        </p:nvSpPr>
        <p:spPr>
          <a:xfrm xmlns:a="http://schemas.openxmlformats.org/drawingml/2006/main">
            <a:off x="742950" y="45910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05</a:t>
            </a:r>
          </a:p>
        </p:txBody>
      </p:sp>
      <p:sp>
        <p:nvSpPr>
          <p:cNvPr id="13" name="">
            <a:extLst xmlns:a="http://schemas.openxmlformats.org/drawingml/2006/main">
              <a:ext uri="{FF2B5EF4-FFF2-40B4-BE49-F238E27FC236}">
                <a16:creationId xmlns:a16="http://schemas.microsoft.com/office/drawing/2014/main" id="{1F151123-4743-4A61-8E2D-4A121046B34B}"/>
              </a:ext>
            </a:extLst>
          </p:cNvPr>
          <p:cNvSpPr>
            <a:spLocks xmlns:a="http://schemas.openxmlformats.org/drawingml/2006/main" noGrp="1"/>
          </p:cNvSpPr>
          <p:nvPr/>
        </p:nvSpPr>
        <p:spPr>
          <a:xfrm xmlns:a="http://schemas.openxmlformats.org/drawingml/2006/main">
            <a:off x="1371600" y="45720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Focus Lounge</a:t>
            </a:r>
          </a:p>
        </p:txBody>
      </p:sp>
      <p:sp>
        <p:nvSpPr>
          <p:cNvPr id="14" name="">
            <a:extLst xmlns:a="http://schemas.openxmlformats.org/drawingml/2006/main">
              <a:ext uri="{FF2B5EF4-FFF2-40B4-BE49-F238E27FC236}">
                <a16:creationId xmlns:a16="http://schemas.microsoft.com/office/drawing/2014/main" id="{7AB4AF5E-E7EB-4971-968D-AD1ABCBD7B54}"/>
              </a:ext>
            </a:extLst>
          </p:cNvPr>
          <p:cNvSpPr>
            <a:spLocks xmlns:a="http://schemas.openxmlformats.org/drawingml/2006/main" noGrp="1"/>
          </p:cNvSpPr>
          <p:nvPr/>
        </p:nvSpPr>
        <p:spPr>
          <a:xfrm xmlns:a="http://schemas.openxmlformats.org/drawingml/2006/main">
            <a:off x="5657850" y="1428750"/>
            <a:ext cx="5848350" cy="4191000"/>
          </a:xfrm>
          <a:prstGeom xmlns:a="http://schemas.openxmlformats.org/drawingml/2006/main" prst="roundRect">
            <a:avLst>
              <a:gd name="adj" fmla="val 5455"/>
            </a:avLst>
          </a:prstGeom>
          <a:solidFill xmlns:a="http://schemas.openxmlformats.org/drawingml/2006/main">
            <a:srgbClr val="111C3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BA54726-7C3F-4DC8-9078-2953F80A06A4}"/>
              </a:ext>
            </a:extLst>
          </p:cNvPr>
          <p:cNvSpPr>
            <a:spLocks xmlns:a="http://schemas.openxmlformats.org/drawingml/2006/main" noGrp="1"/>
          </p:cNvSpPr>
          <p:nvPr/>
        </p:nvSpPr>
        <p:spPr>
          <a:xfrm xmlns:a="http://schemas.openxmlformats.org/drawingml/2006/main">
            <a:off x="6019800" y="17716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Version 2 candidates</a:t>
            </a:r>
          </a:p>
        </p:txBody>
      </p:sp>
      <p:sp>
        <p:nvSpPr>
          <p:cNvPr id="16" name="">
            <a:extLst xmlns:a="http://schemas.openxmlformats.org/drawingml/2006/main">
              <a:ext uri="{FF2B5EF4-FFF2-40B4-BE49-F238E27FC236}">
                <a16:creationId xmlns:a16="http://schemas.microsoft.com/office/drawing/2014/main" id="{DE0991C3-406B-4C09-8C0A-91AC0E3C33AC}"/>
              </a:ext>
            </a:extLst>
          </p:cNvPr>
          <p:cNvSpPr>
            <a:spLocks xmlns:a="http://schemas.openxmlformats.org/drawingml/2006/main" noGrp="1"/>
          </p:cNvSpPr>
          <p:nvPr/>
        </p:nvSpPr>
        <p:spPr>
          <a:xfrm xmlns:a="http://schemas.openxmlformats.org/drawingml/2006/main">
            <a:off x="6019800" y="2457450"/>
            <a:ext cx="485775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SQL Server health and performance monitor</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IT asset inventory with IP address management</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Authenticated remote monitoring agent</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Incident response and backup verification</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Role-based access for every diagnostic tool</a:t>
            </a:r>
          </a:p>
        </p:txBody>
      </p:sp>
      <p:sp>
        <p:nvSpPr>
          <p:cNvPr id="17" name="">
            <a:extLst xmlns:a="http://schemas.openxmlformats.org/drawingml/2006/main">
              <a:ext uri="{FF2B5EF4-FFF2-40B4-BE49-F238E27FC236}">
                <a16:creationId xmlns:a16="http://schemas.microsoft.com/office/drawing/2014/main" id="{D530D4F4-3A13-4848-9F04-EDD3B75BDCCD}"/>
              </a:ext>
            </a:extLst>
          </p:cNvPr>
          <p:cNvSpPr>
            <a:spLocks xmlns:a="http://schemas.openxmlformats.org/drawingml/2006/main" noGrp="1"/>
          </p:cNvSpPr>
          <p:nvPr/>
        </p:nvSpPr>
        <p:spPr>
          <a:xfrm xmlns:a="http://schemas.openxmlformats.org/drawingml/2006/main">
            <a:off x="6019800" y="50673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491"/>
          </a:bodyPr>
          <a:lstStyle xmlns:a="http://schemas.openxmlformats.org/drawingml/2006/main"/>
          <a:p xmlns:a="http://schemas.openxmlformats.org/drawingml/2006/main">
            <a:pPr algn="l">
              <a:defRPr sz="1425" b="0">
                <a:solidFill>
                  <a:srgbClr val="6D9BFF"/>
                </a:solidFill>
                <a:latin typeface="Arial"/>
                <a:ea typeface="Arial"/>
                <a:cs typeface="Arial"/>
              </a:defRPr>
            </a:pPr>
            <a:r>
              <a:rPr sz="1425" b="0">
                <a:solidFill>
                  <a:srgbClr val="6D9BFF"/>
                </a:solidFill>
                <a:latin typeface="Arial"/>
                <a:ea typeface="Arial"/>
                <a:cs typeface="Arial"/>
              </a:rPr>
              <a:t>Version 1 establishes the platform and the safety model needed for these additions.</a:t>
            </a:r>
          </a:p>
        </p:txBody>
      </p:sp>
      <p:sp>
        <p:nvSpPr>
          <p:cNvPr id="18" name="">
            <a:extLst xmlns:a="http://schemas.openxmlformats.org/drawingml/2006/main">
              <a:ext uri="{FF2B5EF4-FFF2-40B4-BE49-F238E27FC236}">
                <a16:creationId xmlns:a16="http://schemas.microsoft.com/office/drawing/2014/main" id="{8E1FD461-3365-4189-B73C-19730E728AF4}"/>
              </a:ext>
            </a:extLst>
          </p:cNvPr>
          <p:cNvSpPr>
            <a:spLocks xmlns:a="http://schemas.openxmlformats.org/drawingml/2006/main" noGrp="1"/>
          </p:cNvSpPr>
          <p:nvPr/>
        </p:nvSpPr>
        <p:spPr>
          <a:xfrm xmlns:a="http://schemas.openxmlformats.org/drawingml/2006/main">
            <a:off x="685800" y="5924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3976ED"/>
                </a:solidFill>
                <a:latin typeface="Arial"/>
                <a:ea typeface="Arial"/>
                <a:cs typeface="Arial"/>
              </a:defRPr>
            </a:pPr>
            <a:r>
              <a:rPr sz="2325" b="1">
                <a:solidFill>
                  <a:srgbClr val="3976ED"/>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E630B191-47DE-4519-9F05-40FB4A236770}"/>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E261CCDF-F1B5-4F0B-AF73-3CC49FF3B771}"/>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13</a:t>
            </a:r>
          </a:p>
        </p:txBody>
      </p:sp>
    </p:spTree>
    <p:extLst>
      <p:ext uri="{BB962C8B-B14F-4D97-AF65-F5344CB8AC3E}">
        <p14:creationId xmlns:p14="http://schemas.microsoft.com/office/powerpoint/2010/main" val="8851669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2026-09-21T06:49:20.8030000Z</dcterms:created>
  <dcterms:modified xsi:type="dcterms:W3CDTF">2026-09-21T06:49:20.8030000Z</dcterms:modified>
</coreProperties>
</file>