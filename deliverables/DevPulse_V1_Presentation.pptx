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caad319017448a" /><Relationship Type="http://schemas.openxmlformats.org/officeDocument/2006/relationships/extended-properties" Target="/docProps/app.xml" Id="R44ddb9aade7c4257" /><Relationship Type="http://schemas.openxmlformats.org/officeDocument/2006/relationships/officeDocument" Target="/ppt/presentation.xml" Id="Rac9079c0d4cb402f" /></Relationships>
</file>

<file path=ppt/presentation.xml><?xml version="1.0" encoding="utf-8"?>
<p:presentation xmlns:p="http://schemas.openxmlformats.org/presentationml/2006/main">
  <p:sldMasterIdLst>
    <p:sldMasterId xmlns:r="http://schemas.openxmlformats.org/officeDocument/2006/relationships" id="2147483648" r:id="Rd9056eb6fa294c0a"/>
  </p:sldMasterIdLst>
  <p:notesMasterIdLst>
    <p:notesMasterId xmlns:r="http://schemas.openxmlformats.org/officeDocument/2006/relationships" r:id="R69b0afe7456646f4"/>
  </p:notesMasterIdLst>
  <p:sldIdLst>
    <p:sldId xmlns:r="http://schemas.openxmlformats.org/officeDocument/2006/relationships" id="256" r:id="R799fb811a1024b31"/>
    <p:sldId xmlns:r="http://schemas.openxmlformats.org/officeDocument/2006/relationships" id="257" r:id="R2f546484e80148d9"/>
    <p:sldId xmlns:r="http://schemas.openxmlformats.org/officeDocument/2006/relationships" id="258" r:id="Rd177a66e21f74549"/>
    <p:sldId xmlns:r="http://schemas.openxmlformats.org/officeDocument/2006/relationships" id="259" r:id="R7d52280baa4842a1"/>
    <p:sldId xmlns:r="http://schemas.openxmlformats.org/officeDocument/2006/relationships" id="260" r:id="Rebf8e1a39fef4b99"/>
    <p:sldId xmlns:r="http://schemas.openxmlformats.org/officeDocument/2006/relationships" id="261" r:id="R729437521cc3434f"/>
    <p:sldId xmlns:r="http://schemas.openxmlformats.org/officeDocument/2006/relationships" id="262" r:id="R56c6bba119b94953"/>
    <p:sldId xmlns:r="http://schemas.openxmlformats.org/officeDocument/2006/relationships" id="263" r:id="Rdcb859e4a51f4e23"/>
    <p:sldId xmlns:r="http://schemas.openxmlformats.org/officeDocument/2006/relationships" id="264" r:id="Rb55abfdf4e754e1d"/>
    <p:sldId xmlns:r="http://schemas.openxmlformats.org/officeDocument/2006/relationships" id="265" r:id="R1f27fc2464574b00"/>
    <p:sldId xmlns:r="http://schemas.openxmlformats.org/officeDocument/2006/relationships" id="266" r:id="R87e2bfbe2298417e"/>
    <p:sldId xmlns:r="http://schemas.openxmlformats.org/officeDocument/2006/relationships" id="267" r:id="R35537639b89441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31860c359748fa" /><Relationship Type="http://schemas.openxmlformats.org/officeDocument/2006/relationships/slideMaster" Target="/ppt/slideMasters/slideMaster1.xml" Id="Rd9056eb6fa294c0a" /><Relationship Type="http://schemas.openxmlformats.org/officeDocument/2006/relationships/notesMaster" Target="/ppt/notesMasters/notesMaster1.xml" Id="R69b0afe7456646f4" /><Relationship Type="http://schemas.openxmlformats.org/officeDocument/2006/relationships/presProps" Target="/ppt/presProps.xml" Id="R4377bfe31fbe46ba" /><Relationship Type="http://schemas.openxmlformats.org/officeDocument/2006/relationships/tableStyles" Target="/ppt/tableStyles.xml" Id="R1f5a3d8d865d46b4" /><Relationship Type="http://schemas.openxmlformats.org/officeDocument/2006/relationships/slide" Target="/ppt/slides/slide1.xml" Id="R799fb811a1024b31" /><Relationship Type="http://schemas.openxmlformats.org/officeDocument/2006/relationships/slide" Target="/ppt/slides/slide2.xml" Id="R2f546484e80148d9" /><Relationship Type="http://schemas.openxmlformats.org/officeDocument/2006/relationships/slide" Target="/ppt/slides/slide3.xml" Id="Rd177a66e21f74549" /><Relationship Type="http://schemas.openxmlformats.org/officeDocument/2006/relationships/slide" Target="/ppt/slides/slide4.xml" Id="R7d52280baa4842a1" /><Relationship Type="http://schemas.openxmlformats.org/officeDocument/2006/relationships/slide" Target="/ppt/slides/slide5.xml" Id="Rebf8e1a39fef4b99" /><Relationship Type="http://schemas.openxmlformats.org/officeDocument/2006/relationships/slide" Target="/ppt/slides/slide6.xml" Id="R729437521cc3434f" /><Relationship Type="http://schemas.openxmlformats.org/officeDocument/2006/relationships/slide" Target="/ppt/slides/slide7.xml" Id="R56c6bba119b94953" /><Relationship Type="http://schemas.openxmlformats.org/officeDocument/2006/relationships/slide" Target="/ppt/slides/slide8.xml" Id="Rdcb859e4a51f4e23" /><Relationship Type="http://schemas.openxmlformats.org/officeDocument/2006/relationships/slide" Target="/ppt/slides/slide9.xml" Id="Rb55abfdf4e754e1d" /><Relationship Type="http://schemas.openxmlformats.org/officeDocument/2006/relationships/slide" Target="/ppt/slides/slide10.xml" Id="R1f27fc2464574b00" /><Relationship Type="http://schemas.openxmlformats.org/officeDocument/2006/relationships/slide" Target="/ppt/slides/slide11.xml" Id="R87e2bfbe2298417e" /><Relationship Type="http://schemas.openxmlformats.org/officeDocument/2006/relationships/slide" Target="/ppt/slides/slide12.xml" Id="R35537639b89441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1da705ef8b45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59b9c5ca324147" /><Relationship Type="http://schemas.openxmlformats.org/officeDocument/2006/relationships/notesMaster" Target="/ppt/notesMasters/notesMaster1.xml" Id="R7125aed186f24e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eeea4d2ee4470f" /><Relationship Type="http://schemas.openxmlformats.org/officeDocument/2006/relationships/notesMaster" Target="/ppt/notesMasters/notesMaster1.xml" Id="Ra0d561ab7b9447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4dc4a502f9446a" /><Relationship Type="http://schemas.openxmlformats.org/officeDocument/2006/relationships/notesMaster" Target="/ppt/notesMasters/notesMaster1.xml" Id="Rbe529ec0d2344e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50b4f906cf4519" /><Relationship Type="http://schemas.openxmlformats.org/officeDocument/2006/relationships/notesMaster" Target="/ppt/notesMasters/notesMaster1.xml" Id="R7299c777ce7b4a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15735b131e4f70" /><Relationship Type="http://schemas.openxmlformats.org/officeDocument/2006/relationships/notesMaster" Target="/ppt/notesMasters/notesMaster1.xml" Id="R7289b2c623b547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770a0508db45b9" /><Relationship Type="http://schemas.openxmlformats.org/officeDocument/2006/relationships/notesMaster" Target="/ppt/notesMasters/notesMaster1.xml" Id="R49aad4ad932540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4e3f1347a843f3" /><Relationship Type="http://schemas.openxmlformats.org/officeDocument/2006/relationships/notesMaster" Target="/ppt/notesMasters/notesMaster1.xml" Id="R83aa813ba0f947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74c3952ee44779" /><Relationship Type="http://schemas.openxmlformats.org/officeDocument/2006/relationships/notesMaster" Target="/ppt/notesMasters/notesMaster1.xml" Id="Rc375d76beb4e49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b843e2250c4c8f" /><Relationship Type="http://schemas.openxmlformats.org/officeDocument/2006/relationships/notesMaster" Target="/ppt/notesMasters/notesMaster1.xml" Id="R24fe3b6cda9842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3942556c6444e7" /><Relationship Type="http://schemas.openxmlformats.org/officeDocument/2006/relationships/notesMaster" Target="/ppt/notesMasters/notesMaster1.xml" Id="R3fc381a38fc34b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fa8edca3954d0f" /><Relationship Type="http://schemas.openxmlformats.org/officeDocument/2006/relationships/notesMaster" Target="/ppt/notesMasters/notesMaster1.xml" Id="R65844a4309434e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ef6dd322e94de1" /><Relationship Type="http://schemas.openxmlformats.org/officeDocument/2006/relationships/notesMaster" Target="/ppt/notesMasters/notesMaster1.xml" Id="R7b6029e2324d4f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introducing DevPulse as a personal IT operations workspace. Version 1 combines system diagnostics, network tools, website testing, API checks, and a developer wellness area. Source: project README and running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tool switching and fragmented evidence. DevPulse does not replace enterprise monitoring. It gives students, developers, and small teams one place to run bounded checks and understand what the server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feature map. Avoid reading every item. Pick one example from each row, then transition into the architecture and live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Blazor Server executes diagnostics on the machine hosting DevPulse. A Render deployment therefore reports Render's container, not the visitor's computer. External requests pass through validation and bounded HTTP clients. Sources: Program.cs, PublicHttpTarget.cs, TelemetryService.cs.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Operations answers whether a service can be reached now, while Telemetry preserves evidence about application behavior over time. Clarify that private addresses need explicit owner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calculator performs local arithmetic and contacts no target. Uploaded inspector files stay in memory and are not stored. SHA-256 proves integrity but cannot be decoded, while AES encryption can be reversed only with the password.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Audit combines a bounded crawler with an optional browser worker. The API Runner supports read-only public requests and restricts write methods to exact approved URLs. The DNS inspector checks MX, SPF, DMARC, DKIM, CAA, and addressing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module gives the presentation a human side. Explain that Spotify playback can remain on the user's phone or computer through Spotify Connect. Browser playback requires Premium and an explicit user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1 has strong request-level boundaries, but the current public Render deployment exposes diagnostic pages anonymously. Before a public launch, require administrator authentication or a private access gateway. This also supports the ongoing Google Safe Browsing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credentials use .NET User Secrets. Render credentials use environment variables or a mounted secret file. Persistent storage keeps data-protection keys and encrypted sessions across container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count reflects the custom regression executable run for this release. The build, formatter, publish, and production HTTP smoke checks also passed. The Chrome Safe Browsing warning remains a launch blocker until Google identifies or clears the reported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short live demonstration. The roadmap extends DevPulse from a single-host diagnostics workspace into a small IT operations platform. Do not promise a delivery date for Version 2 until scope and access controls are agreed.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58753e9f0e47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ed242569b644c7" /><Relationship Type="http://schemas.openxmlformats.org/officeDocument/2006/relationships/slideLayout" Target="/ppt/slideLayouts/slideLayout1.xml" Id="Rdbbfb2cc52d149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bfb2cc52d149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8eb162d868400e" /><Relationship Type="http://schemas.openxmlformats.org/officeDocument/2006/relationships/notesSlide" Target="/ppt/notesSlides/notesSlide1.xml" Id="R7f25aa53194a4f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29dd496a1f4c99" /><Relationship Type="http://schemas.openxmlformats.org/officeDocument/2006/relationships/image" Target="/ppt/media/image.png" Id="Rf10218b8ceaa401f" /><Relationship Type="http://schemas.openxmlformats.org/officeDocument/2006/relationships/notesSlide" Target="/ppt/notesSlides/notesSlide2.xml" Id="R46ded2e9298046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37b3e145c74802" /><Relationship Type="http://schemas.openxmlformats.org/officeDocument/2006/relationships/notesSlide" Target="/ppt/notesSlides/notesSlide3.xml" Id="R930c54213a3542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70f5bcf2ef46c8" /><Relationship Type="http://schemas.openxmlformats.org/officeDocument/2006/relationships/notesSlide" Target="/ppt/notesSlides/notesSlide4.xml" Id="R7e570046db8749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c70ef1987548bc" /><Relationship Type="http://schemas.openxmlformats.org/officeDocument/2006/relationships/image" Target="/ppt/media/image2.png" Id="R596f41f35e0c48ba" /><Relationship Type="http://schemas.openxmlformats.org/officeDocument/2006/relationships/image" Target="/ppt/media/image3.png" Id="R853b7c2acb9c436f" /><Relationship Type="http://schemas.openxmlformats.org/officeDocument/2006/relationships/notesSlide" Target="/ppt/notesSlides/notesSlide5.xml" Id="R46ce38279b0e40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5fc050dcdc4a49" /><Relationship Type="http://schemas.openxmlformats.org/officeDocument/2006/relationships/image" Target="/ppt/media/image4.png" Id="Rc24ec4a487c64a01" /><Relationship Type="http://schemas.openxmlformats.org/officeDocument/2006/relationships/notesSlide" Target="/ppt/notesSlides/notesSlide6.xml" Id="R73119cc56e7747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0fa5565dbf4556" /><Relationship Type="http://schemas.openxmlformats.org/officeDocument/2006/relationships/image" Target="/ppt/media/image5.png" Id="Rd3a14476ef5d4f59" /><Relationship Type="http://schemas.openxmlformats.org/officeDocument/2006/relationships/image" Target="/ppt/media/image6.png" Id="R7100fa3d6614491a" /><Relationship Type="http://schemas.openxmlformats.org/officeDocument/2006/relationships/notesSlide" Target="/ppt/notesSlides/notesSlide7.xml" Id="Rbf8150bd5b0e44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a96788973142cc" /><Relationship Type="http://schemas.openxmlformats.org/officeDocument/2006/relationships/image" Target="/ppt/media/image7.png" Id="R9bf26cb7d6344338" /><Relationship Type="http://schemas.openxmlformats.org/officeDocument/2006/relationships/notesSlide" Target="/ppt/notesSlides/notesSlide8.xml" Id="R1044abe2911648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630a14ad37f4e2c" /><Relationship Type="http://schemas.openxmlformats.org/officeDocument/2006/relationships/notesSlide" Target="/ppt/notesSlides/notesSlide9.xml" Id="R30837d69f2da48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59a6d047f24b79" /><Relationship Type="http://schemas.openxmlformats.org/officeDocument/2006/relationships/notesSlide" Target="/ppt/notesSlides/notesSlide10.xml" Id="R2d9b8a158f1246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6078a1079c4f47" /><Relationship Type="http://schemas.openxmlformats.org/officeDocument/2006/relationships/notesSlide" Target="/ppt/notesSlides/notesSlide11.xml" Id="R52b1ce3331ac49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8bb8109859444c" /><Relationship Type="http://schemas.openxmlformats.org/officeDocument/2006/relationships/notesSlide" Target="/ppt/notesSlides/notesSlide12.xml" Id="Rabaa7cb377af4cda" /></Relationships>
</file>

<file path=ppt/slides/slide1.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25EA6A-11B4-47D9-B48C-8E31D23D980D}"/>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976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D439E8-29FD-4E07-8BD8-BBB8A5CCD77F}"/>
              </a:ext>
            </a:extLst>
          </p:cNvPr>
          <p:cNvSpPr>
            <a:spLocks xmlns:a="http://schemas.openxmlformats.org/drawingml/2006/main" noGrp="1"/>
          </p:cNvSpPr>
          <p:nvPr/>
        </p:nvSpPr>
        <p:spPr>
          <a:xfrm xmlns:a="http://schemas.openxmlformats.org/drawingml/2006/main">
            <a:off x="781050" y="7048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DP</a:t>
            </a:r>
          </a:p>
        </p:txBody>
      </p:sp>
      <p:sp>
        <p:nvSpPr>
          <p:cNvPr id="3" name="">
            <a:extLst xmlns:a="http://schemas.openxmlformats.org/drawingml/2006/main">
              <a:ext uri="{FF2B5EF4-FFF2-40B4-BE49-F238E27FC236}">
                <a16:creationId xmlns:a16="http://schemas.microsoft.com/office/drawing/2014/main" id="{45462ADA-5F0F-47A9-892A-89999EAECCEF}"/>
              </a:ext>
            </a:extLst>
          </p:cNvPr>
          <p:cNvSpPr>
            <a:spLocks xmlns:a="http://schemas.openxmlformats.org/drawingml/2006/main" noGrp="1"/>
          </p:cNvSpPr>
          <p:nvPr/>
        </p:nvSpPr>
        <p:spPr>
          <a:xfrm xmlns:a="http://schemas.openxmlformats.org/drawingml/2006/main">
            <a:off x="781050" y="1866900"/>
            <a:ext cx="990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DevPulse</a:t>
            </a:r>
          </a:p>
        </p:txBody>
      </p:sp>
      <p:sp>
        <p:nvSpPr>
          <p:cNvPr id="4" name="">
            <a:extLst xmlns:a="http://schemas.openxmlformats.org/drawingml/2006/main">
              <a:ext uri="{FF2B5EF4-FFF2-40B4-BE49-F238E27FC236}">
                <a16:creationId xmlns:a16="http://schemas.microsoft.com/office/drawing/2014/main" id="{554FC72B-0F54-4BD8-8DF6-B0F41952735B}"/>
              </a:ext>
            </a:extLst>
          </p:cNvPr>
          <p:cNvSpPr>
            <a:spLocks xmlns:a="http://schemas.openxmlformats.org/drawingml/2006/main" noGrp="1"/>
          </p:cNvSpPr>
          <p:nvPr/>
        </p:nvSpPr>
        <p:spPr>
          <a:xfrm xmlns:a="http://schemas.openxmlformats.org/drawingml/2006/main">
            <a:off x="800100" y="28575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6D9BFF"/>
                </a:solidFill>
                <a:latin typeface="Arial"/>
                <a:ea typeface="Arial"/>
                <a:cs typeface="Arial"/>
              </a:defRPr>
            </a:pPr>
            <a:r>
              <a:rPr sz="2175" b="1">
                <a:solidFill>
                  <a:srgbClr val="6D9BFF"/>
                </a:solidFill>
                <a:latin typeface="Arial"/>
                <a:ea typeface="Arial"/>
                <a:cs typeface="Arial"/>
              </a:rPr>
              <a:t>Version 1 project presentation</a:t>
            </a:r>
          </a:p>
        </p:txBody>
      </p:sp>
      <p:sp>
        <p:nvSpPr>
          <p:cNvPr id="5" name="">
            <a:extLst xmlns:a="http://schemas.openxmlformats.org/drawingml/2006/main">
              <a:ext uri="{FF2B5EF4-FFF2-40B4-BE49-F238E27FC236}">
                <a16:creationId xmlns:a16="http://schemas.microsoft.com/office/drawing/2014/main" id="{2F064A5E-A46D-44EC-A6C0-6CB58633915A}"/>
              </a:ext>
            </a:extLst>
          </p:cNvPr>
          <p:cNvSpPr>
            <a:spLocks xmlns:a="http://schemas.openxmlformats.org/drawingml/2006/main" noGrp="1"/>
          </p:cNvSpPr>
          <p:nvPr/>
        </p:nvSpPr>
        <p:spPr>
          <a:xfrm xmlns:a="http://schemas.openxmlformats.org/drawingml/2006/main">
            <a:off x="800100" y="3543300"/>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0">
                <a:solidFill>
                  <a:srgbClr val="DCE6F8"/>
                </a:solidFill>
                <a:latin typeface="Arial"/>
                <a:ea typeface="Arial"/>
                <a:cs typeface="Arial"/>
              </a:defRPr>
            </a:pPr>
            <a:r>
              <a:rPr sz="2175" b="0">
                <a:solidFill>
                  <a:srgbClr val="DCE6F8"/>
                </a:solidFill>
                <a:latin typeface="Arial"/>
                <a:ea typeface="Arial"/>
                <a:cs typeface="Arial"/>
              </a:rPr>
              <a:t>IT diagnostics, testing, and developer focus in one web workspace</a:t>
            </a:r>
          </a:p>
        </p:txBody>
      </p:sp>
      <p:sp>
        <p:nvSpPr>
          <p:cNvPr id="6" name="">
            <a:extLst xmlns:a="http://schemas.openxmlformats.org/drawingml/2006/main">
              <a:ext uri="{FF2B5EF4-FFF2-40B4-BE49-F238E27FC236}">
                <a16:creationId xmlns:a16="http://schemas.microsoft.com/office/drawing/2014/main" id="{F5DC5096-6E42-4DF3-86AC-136F31E6F89C}"/>
              </a:ext>
            </a:extLst>
          </p:cNvPr>
          <p:cNvSpPr>
            <a:spLocks xmlns:a="http://schemas.openxmlformats.org/drawingml/2006/main" noGrp="1"/>
          </p:cNvSpPr>
          <p:nvPr/>
        </p:nvSpPr>
        <p:spPr>
          <a:xfrm xmlns:a="http://schemas.openxmlformats.org/drawingml/2006/main">
            <a:off x="800100" y="582930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9FB1CF"/>
                </a:solidFill>
                <a:latin typeface="Arial"/>
                <a:ea typeface="Arial"/>
                <a:cs typeface="Arial"/>
              </a:defRPr>
            </a:pPr>
            <a:r>
              <a:rPr sz="1350" b="0">
                <a:solidFill>
                  <a:srgbClr val="9FB1CF"/>
                </a:solidFill>
                <a:latin typeface="Arial"/>
                <a:ea typeface="Arial"/>
                <a:cs typeface="Arial"/>
              </a:rPr>
              <a:t>Built with .NET 9 and Blazor Server</a:t>
            </a:r>
          </a:p>
        </p:txBody>
      </p:sp>
      <p:sp>
        <p:nvSpPr>
          <p:cNvPr id="7" name="">
            <a:extLst xmlns:a="http://schemas.openxmlformats.org/drawingml/2006/main">
              <a:ext uri="{FF2B5EF4-FFF2-40B4-BE49-F238E27FC236}">
                <a16:creationId xmlns:a16="http://schemas.microsoft.com/office/drawing/2014/main" id="{5E4B7DF2-BA75-42DC-B598-8BB95B75244A}"/>
              </a:ext>
            </a:extLst>
          </p:cNvPr>
          <p:cNvSpPr>
            <a:spLocks xmlns:a="http://schemas.openxmlformats.org/drawingml/2006/main" noGrp="1"/>
          </p:cNvSpPr>
          <p:nvPr/>
        </p:nvSpPr>
        <p:spPr>
          <a:xfrm xmlns:a="http://schemas.openxmlformats.org/drawingml/2006/main">
            <a:off x="9658350" y="4933950"/>
            <a:ext cx="1409700" cy="1409700"/>
          </a:xfrm>
          <a:prstGeom xmlns:a="http://schemas.openxmlformats.org/drawingml/2006/main" prst="roundRect">
            <a:avLst>
              <a:gd name="adj" fmla="val 20270"/>
            </a:avLst>
          </a:prstGeom>
          <a:solidFill xmlns:a="http://schemas.openxmlformats.org/drawingml/2006/main">
            <a:srgbClr val="3976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CB4586A-D629-4645-B6DE-0D9DC4184111}"/>
              </a:ext>
            </a:extLst>
          </p:cNvPr>
          <p:cNvSpPr>
            <a:spLocks xmlns:a="http://schemas.openxmlformats.org/drawingml/2006/main" noGrp="1"/>
          </p:cNvSpPr>
          <p:nvPr/>
        </p:nvSpPr>
        <p:spPr>
          <a:xfrm xmlns:a="http://schemas.openxmlformats.org/drawingml/2006/main">
            <a:off x="9658350" y="5238750"/>
            <a:ext cx="140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FFFFFF"/>
                </a:solidFill>
                <a:latin typeface="Arial"/>
                <a:ea typeface="Arial"/>
                <a:cs typeface="Arial"/>
              </a:defRPr>
            </a:pPr>
            <a:r>
              <a:rPr sz="3600" b="1">
                <a:solidFill>
                  <a:srgbClr val="FFFFFF"/>
                </a:solidFill>
                <a:latin typeface="Arial"/>
                <a:ea typeface="Arial"/>
                <a:cs typeface="Arial"/>
              </a:rPr>
              <a:t>V1</a:t>
            </a:r>
          </a:p>
        </p:txBody>
      </p:sp>
    </p:spTree>
    <p:extLst>
      <p:ext uri="{BB962C8B-B14F-4D97-AF65-F5344CB8AC3E}">
        <p14:creationId xmlns:p14="http://schemas.microsoft.com/office/powerpoint/2010/main" val="1213568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EF45A6-947E-44CB-AD25-A37EB9DE130D}"/>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448E5B70-BEE5-41B4-8227-9A8870BAA075}"/>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The project goal</a:t>
            </a:r>
          </a:p>
        </p:txBody>
      </p:sp>
      <p:sp>
        <p:nvSpPr>
          <p:cNvPr id="3" name="">
            <a:extLst xmlns:a="http://schemas.openxmlformats.org/drawingml/2006/main">
              <a:ext uri="{FF2B5EF4-FFF2-40B4-BE49-F238E27FC236}">
                <a16:creationId xmlns:a16="http://schemas.microsoft.com/office/drawing/2014/main" id="{6783D9A8-B5E3-4B33-B98D-CA1DAD57D0D3}"/>
              </a:ext>
            </a:extLst>
          </p:cNvPr>
          <p:cNvSpPr>
            <a:spLocks xmlns:a="http://schemas.openxmlformats.org/drawingml/2006/main" noGrp="1"/>
          </p:cNvSpPr>
          <p:nvPr/>
        </p:nvSpPr>
        <p:spPr>
          <a:xfrm xmlns:a="http://schemas.openxmlformats.org/drawingml/2006/main">
            <a:off x="685800" y="160020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72033"/>
                </a:solidFill>
                <a:latin typeface="Arial"/>
                <a:ea typeface="Arial"/>
                <a:cs typeface="Arial"/>
              </a:defRPr>
            </a:pPr>
            <a:r>
              <a:rPr sz="2100" b="1">
                <a:solidFill>
                  <a:srgbClr val="172033"/>
                </a:solidFill>
                <a:latin typeface="Arial"/>
                <a:ea typeface="Arial"/>
                <a:cs typeface="Arial"/>
              </a:rPr>
              <a:t>Developers often switch between operating system tools, network calculators, API clients, website auditors, and music applications.</a:t>
            </a:r>
          </a:p>
        </p:txBody>
      </p:sp>
      <p:sp>
        <p:nvSpPr>
          <p:cNvPr id="4" name="">
            <a:extLst xmlns:a="http://schemas.openxmlformats.org/drawingml/2006/main">
              <a:ext uri="{FF2B5EF4-FFF2-40B4-BE49-F238E27FC236}">
                <a16:creationId xmlns:a16="http://schemas.microsoft.com/office/drawing/2014/main" id="{B26F27E6-828E-4DF9-A4B7-3516580DBC7E}"/>
              </a:ext>
            </a:extLst>
          </p:cNvPr>
          <p:cNvSpPr>
            <a:spLocks xmlns:a="http://schemas.openxmlformats.org/drawingml/2006/main" noGrp="1"/>
          </p:cNvSpPr>
          <p:nvPr/>
        </p:nvSpPr>
        <p:spPr>
          <a:xfrm xmlns:a="http://schemas.openxmlformats.org/drawingml/2006/main">
            <a:off x="685800" y="3286125"/>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5F6F8C"/>
                </a:solidFill>
                <a:latin typeface="Arial"/>
                <a:ea typeface="Arial"/>
                <a:cs typeface="Arial"/>
              </a:defRPr>
            </a:pPr>
            <a:r>
              <a:rPr sz="1725" b="0">
                <a:solidFill>
                  <a:srgbClr val="5F6F8C"/>
                </a:solidFill>
                <a:latin typeface="Arial"/>
                <a:ea typeface="Arial"/>
                <a:cs typeface="Arial"/>
              </a:rPr>
              <a:t>DevPulse brings these tasks into one controlled browser workspace. The application emphasizes bounded tests, clear ownership checks, and results that are easy to demonstrate.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10218b8ceaa401f"/>
          <a:srcRect xmlns:a="http://schemas.openxmlformats.org/drawingml/2006/main" l="7737" t="0" r="7737" b="0"/>
          <a:stretch xmlns:a="http://schemas.openxmlformats.org/drawingml/2006/main">
            <a:fillRect l="0" t="0" r="0" b="0"/>
          </a:stretch>
        </p:blipFill>
        <p:spPr>
          <a:xfrm xmlns:a="http://schemas.openxmlformats.org/drawingml/2006/main">
            <a:off x="5657850" y="1466850"/>
            <a:ext cx="5848350" cy="4324350"/>
          </a:xfrm>
          <a:prstGeom xmlns:a="http://schemas.openxmlformats.org/drawingml/2006/main" prst="roundRect">
            <a:avLst>
              <a:gd name="adj" fmla="val 3524"/>
            </a:avLst>
          </a:prstGeom>
        </p:spPr>
      </p:pic>
      <p:sp>
        <p:nvSpPr>
          <p:cNvPr id="6" name="">
            <a:extLst xmlns:a="http://schemas.openxmlformats.org/drawingml/2006/main">
              <a:ext uri="{FF2B5EF4-FFF2-40B4-BE49-F238E27FC236}">
                <a16:creationId xmlns:a16="http://schemas.microsoft.com/office/drawing/2014/main" id="{EE7717AE-6F43-4283-9CDA-B0617C0849C0}"/>
              </a:ext>
            </a:extLst>
          </p:cNvPr>
          <p:cNvSpPr>
            <a:spLocks xmlns:a="http://schemas.openxmlformats.org/drawingml/2006/main" noGrp="1"/>
          </p:cNvSpPr>
          <p:nvPr/>
        </p:nvSpPr>
        <p:spPr>
          <a:xfrm xmlns:a="http://schemas.openxmlformats.org/drawingml/2006/main">
            <a:off x="5657850" y="5962650"/>
            <a:ext cx="584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One workspace for day-to-day IT checks</a:t>
            </a:r>
          </a:p>
        </p:txBody>
      </p:sp>
      <p:sp>
        <p:nvSpPr>
          <p:cNvPr id="7" name="">
            <a:extLst xmlns:a="http://schemas.openxmlformats.org/drawingml/2006/main">
              <a:ext uri="{FF2B5EF4-FFF2-40B4-BE49-F238E27FC236}">
                <a16:creationId xmlns:a16="http://schemas.microsoft.com/office/drawing/2014/main" id="{68134E59-3D0E-4657-8E36-5C149D6EF6CD}"/>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0C5F523A-C4C5-4FEC-8AA5-35B05F3196C9}"/>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02</a:t>
            </a:r>
          </a:p>
        </p:txBody>
      </p:sp>
    </p:spTree>
    <p:extLst>
      <p:ext uri="{BB962C8B-B14F-4D97-AF65-F5344CB8AC3E}">
        <p14:creationId xmlns:p14="http://schemas.microsoft.com/office/powerpoint/2010/main" val="730679116"/>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7B956C-89BF-4F6A-A3F1-0C3FADC351C0}"/>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PRODUCT</a:t>
            </a:r>
          </a:p>
        </p:txBody>
      </p:sp>
      <p:sp>
        <p:nvSpPr>
          <p:cNvPr id="2" name="">
            <a:extLst xmlns:a="http://schemas.openxmlformats.org/drawingml/2006/main">
              <a:ext uri="{FF2B5EF4-FFF2-40B4-BE49-F238E27FC236}">
                <a16:creationId xmlns:a16="http://schemas.microsoft.com/office/drawing/2014/main" id="{DA2FA74E-9585-4911-A8C5-6E048F66426E}"/>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Version 1 scope</a:t>
            </a:r>
          </a:p>
        </p:txBody>
      </p:sp>
      <p:sp>
        <p:nvSpPr>
          <p:cNvPr id="3" name="">
            <a:extLst xmlns:a="http://schemas.openxmlformats.org/drawingml/2006/main">
              <a:ext uri="{FF2B5EF4-FFF2-40B4-BE49-F238E27FC236}">
                <a16:creationId xmlns:a16="http://schemas.microsoft.com/office/drawing/2014/main" id="{0A432F1C-EB4E-4441-9E08-7FBC070463F7}"/>
              </a:ext>
            </a:extLst>
          </p:cNvPr>
          <p:cNvSpPr>
            <a:spLocks xmlns:a="http://schemas.openxmlformats.org/drawingml/2006/main" noGrp="1"/>
          </p:cNvSpPr>
          <p:nvPr/>
        </p:nvSpPr>
        <p:spPr>
          <a:xfrm xmlns:a="http://schemas.openxmlformats.org/drawingml/2006/main">
            <a:off x="685800" y="1466850"/>
            <a:ext cx="95250" cy="742950"/>
          </a:xfrm>
          <a:prstGeom xmlns:a="http://schemas.openxmlformats.org/drawingml/2006/main" prst="roundRect">
            <a:avLst>
              <a:gd name="adj" fmla="val 50000"/>
            </a:avLst>
          </a:prstGeom>
          <a:solidFill xmlns:a="http://schemas.openxmlformats.org/drawingml/2006/main">
            <a:srgbClr val="3976E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4ACE73-FDD9-43AC-B6E4-F1B9C9B81FE4}"/>
              </a:ext>
            </a:extLst>
          </p:cNvPr>
          <p:cNvSpPr>
            <a:spLocks xmlns:a="http://schemas.openxmlformats.org/drawingml/2006/main" noGrp="1"/>
          </p:cNvSpPr>
          <p:nvPr/>
        </p:nvSpPr>
        <p:spPr>
          <a:xfrm xmlns:a="http://schemas.openxmlformats.org/drawingml/2006/main">
            <a:off x="1028700" y="1543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OBSERVE</a:t>
            </a:r>
          </a:p>
        </p:txBody>
      </p:sp>
      <p:sp>
        <p:nvSpPr>
          <p:cNvPr id="5" name="">
            <a:extLst xmlns:a="http://schemas.openxmlformats.org/drawingml/2006/main">
              <a:ext uri="{FF2B5EF4-FFF2-40B4-BE49-F238E27FC236}">
                <a16:creationId xmlns:a16="http://schemas.microsoft.com/office/drawing/2014/main" id="{3FE4A9DB-94C3-4BBF-B550-814256FCF9B6}"/>
              </a:ext>
            </a:extLst>
          </p:cNvPr>
          <p:cNvSpPr>
            <a:spLocks xmlns:a="http://schemas.openxmlformats.org/drawingml/2006/main" noGrp="1"/>
          </p:cNvSpPr>
          <p:nvPr/>
        </p:nvSpPr>
        <p:spPr>
          <a:xfrm xmlns:a="http://schemas.openxmlformats.org/drawingml/2006/main">
            <a:off x="2647950" y="15144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Host metrics, storage, processes, telemetry, incidents</a:t>
            </a:r>
          </a:p>
        </p:txBody>
      </p:sp>
      <p:sp>
        <p:nvSpPr>
          <p:cNvPr id="6" name="">
            <a:extLst xmlns:a="http://schemas.openxmlformats.org/drawingml/2006/main">
              <a:ext uri="{FF2B5EF4-FFF2-40B4-BE49-F238E27FC236}">
                <a16:creationId xmlns:a16="http://schemas.microsoft.com/office/drawing/2014/main" id="{684AA3E3-8A24-42F7-A6FC-42B6EC05BCE7}"/>
              </a:ext>
            </a:extLst>
          </p:cNvPr>
          <p:cNvSpPr>
            <a:spLocks xmlns:a="http://schemas.openxmlformats.org/drawingml/2006/main" noGrp="1"/>
          </p:cNvSpPr>
          <p:nvPr/>
        </p:nvSpPr>
        <p:spPr>
          <a:xfrm xmlns:a="http://schemas.openxmlformats.org/drawingml/2006/main">
            <a:off x="685800" y="2362200"/>
            <a:ext cx="95250" cy="742950"/>
          </a:xfrm>
          <a:prstGeom xmlns:a="http://schemas.openxmlformats.org/drawingml/2006/main" prst="roundRect">
            <a:avLst>
              <a:gd name="adj" fmla="val 50000"/>
            </a:avLst>
          </a:prstGeom>
          <a:solidFill xmlns:a="http://schemas.openxmlformats.org/drawingml/2006/main">
            <a:srgbClr val="17965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693CB2-15A7-4B1A-AF95-EF345E883ACA}"/>
              </a:ext>
            </a:extLst>
          </p:cNvPr>
          <p:cNvSpPr>
            <a:spLocks xmlns:a="http://schemas.openxmlformats.org/drawingml/2006/main" noGrp="1"/>
          </p:cNvSpPr>
          <p:nvPr/>
        </p:nvSpPr>
        <p:spPr>
          <a:xfrm xmlns:a="http://schemas.openxmlformats.org/drawingml/2006/main">
            <a:off x="1028700" y="2438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965A"/>
                </a:solidFill>
                <a:latin typeface="Arial"/>
                <a:ea typeface="Arial"/>
                <a:cs typeface="Arial"/>
              </a:defRPr>
            </a:pPr>
            <a:r>
              <a:rPr sz="1350" b="1">
                <a:solidFill>
                  <a:srgbClr val="17965A"/>
                </a:solidFill>
                <a:latin typeface="Arial"/>
                <a:ea typeface="Arial"/>
                <a:cs typeface="Arial"/>
              </a:rPr>
              <a:t>TEST</a:t>
            </a:r>
          </a:p>
        </p:txBody>
      </p:sp>
      <p:sp>
        <p:nvSpPr>
          <p:cNvPr id="8" name="">
            <a:extLst xmlns:a="http://schemas.openxmlformats.org/drawingml/2006/main">
              <a:ext uri="{FF2B5EF4-FFF2-40B4-BE49-F238E27FC236}">
                <a16:creationId xmlns:a16="http://schemas.microsoft.com/office/drawing/2014/main" id="{EC45CD37-C8B7-4C7C-AC27-3C668DD28C64}"/>
              </a:ext>
            </a:extLst>
          </p:cNvPr>
          <p:cNvSpPr>
            <a:spLocks xmlns:a="http://schemas.openxmlformats.org/drawingml/2006/main" noGrp="1"/>
          </p:cNvSpPr>
          <p:nvPr/>
        </p:nvSpPr>
        <p:spPr>
          <a:xfrm xmlns:a="http://schemas.openxmlformats.org/drawingml/2006/main">
            <a:off x="2647950" y="24098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Ping, DNS, TLS, ports, databases, websites, APIs</a:t>
            </a:r>
          </a:p>
        </p:txBody>
      </p:sp>
      <p:sp>
        <p:nvSpPr>
          <p:cNvPr id="9" name="">
            <a:extLst xmlns:a="http://schemas.openxmlformats.org/drawingml/2006/main">
              <a:ext uri="{FF2B5EF4-FFF2-40B4-BE49-F238E27FC236}">
                <a16:creationId xmlns:a16="http://schemas.microsoft.com/office/drawing/2014/main" id="{7CB9136A-1590-4BEE-8493-57B5A99F4758}"/>
              </a:ext>
            </a:extLst>
          </p:cNvPr>
          <p:cNvSpPr>
            <a:spLocks xmlns:a="http://schemas.openxmlformats.org/drawingml/2006/main" noGrp="1"/>
          </p:cNvSpPr>
          <p:nvPr/>
        </p:nvSpPr>
        <p:spPr>
          <a:xfrm xmlns:a="http://schemas.openxmlformats.org/drawingml/2006/main">
            <a:off x="685800" y="3257550"/>
            <a:ext cx="95250" cy="742950"/>
          </a:xfrm>
          <a:prstGeom xmlns:a="http://schemas.openxmlformats.org/drawingml/2006/main" prst="roundRect">
            <a:avLst>
              <a:gd name="adj" fmla="val 50000"/>
            </a:avLst>
          </a:prstGeom>
          <a:solidFill xmlns:a="http://schemas.openxmlformats.org/drawingml/2006/main">
            <a:srgbClr val="7C4D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1BDB87-1444-44A9-9DF6-36E813546D12}"/>
              </a:ext>
            </a:extLst>
          </p:cNvPr>
          <p:cNvSpPr>
            <a:spLocks xmlns:a="http://schemas.openxmlformats.org/drawingml/2006/main" noGrp="1"/>
          </p:cNvSpPr>
          <p:nvPr/>
        </p:nvSpPr>
        <p:spPr>
          <a:xfrm xmlns:a="http://schemas.openxmlformats.org/drawingml/2006/main">
            <a:off x="1028700" y="33337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C4DCC"/>
                </a:solidFill>
                <a:latin typeface="Arial"/>
                <a:ea typeface="Arial"/>
                <a:cs typeface="Arial"/>
              </a:defRPr>
            </a:pPr>
            <a:r>
              <a:rPr sz="1350" b="1">
                <a:solidFill>
                  <a:srgbClr val="7C4DCC"/>
                </a:solidFill>
                <a:latin typeface="Arial"/>
                <a:ea typeface="Arial"/>
                <a:cs typeface="Arial"/>
              </a:rPr>
              <a:t>INSPECT</a:t>
            </a:r>
          </a:p>
        </p:txBody>
      </p:sp>
      <p:sp>
        <p:nvSpPr>
          <p:cNvPr id="11" name="">
            <a:extLst xmlns:a="http://schemas.openxmlformats.org/drawingml/2006/main">
              <a:ext uri="{FF2B5EF4-FFF2-40B4-BE49-F238E27FC236}">
                <a16:creationId xmlns:a16="http://schemas.microsoft.com/office/drawing/2014/main" id="{087D83EB-BE1E-4F74-9F03-300ED73B4E19}"/>
              </a:ext>
            </a:extLst>
          </p:cNvPr>
          <p:cNvSpPr>
            <a:spLocks xmlns:a="http://schemas.openxmlformats.org/drawingml/2006/main" noGrp="1"/>
          </p:cNvSpPr>
          <p:nvPr/>
        </p:nvSpPr>
        <p:spPr>
          <a:xfrm xmlns:a="http://schemas.openxmlformats.org/drawingml/2006/main">
            <a:off x="2647950" y="33051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JSON, JWT, SHA-256, encrypted files, DNS email policy</a:t>
            </a:r>
          </a:p>
        </p:txBody>
      </p:sp>
      <p:sp>
        <p:nvSpPr>
          <p:cNvPr id="12" name="">
            <a:extLst xmlns:a="http://schemas.openxmlformats.org/drawingml/2006/main">
              <a:ext uri="{FF2B5EF4-FFF2-40B4-BE49-F238E27FC236}">
                <a16:creationId xmlns:a16="http://schemas.microsoft.com/office/drawing/2014/main" id="{65690A6F-FC96-4490-A94B-9218998EB6E3}"/>
              </a:ext>
            </a:extLst>
          </p:cNvPr>
          <p:cNvSpPr>
            <a:spLocks xmlns:a="http://schemas.openxmlformats.org/drawingml/2006/main" noGrp="1"/>
          </p:cNvSpPr>
          <p:nvPr/>
        </p:nvSpPr>
        <p:spPr>
          <a:xfrm xmlns:a="http://schemas.openxmlformats.org/drawingml/2006/main">
            <a:off x="685800" y="4152900"/>
            <a:ext cx="95250" cy="742950"/>
          </a:xfrm>
          <a:prstGeom xmlns:a="http://schemas.openxmlformats.org/drawingml/2006/main" prst="roundRect">
            <a:avLst>
              <a:gd name="adj" fmla="val 50000"/>
            </a:avLst>
          </a:prstGeom>
          <a:solidFill xmlns:a="http://schemas.openxmlformats.org/drawingml/2006/main">
            <a:srgbClr val="D4861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E1CCAE8-A927-4D2E-AC5C-D78934AE796D}"/>
              </a:ext>
            </a:extLst>
          </p:cNvPr>
          <p:cNvSpPr>
            <a:spLocks xmlns:a="http://schemas.openxmlformats.org/drawingml/2006/main" noGrp="1"/>
          </p:cNvSpPr>
          <p:nvPr/>
        </p:nvSpPr>
        <p:spPr>
          <a:xfrm xmlns:a="http://schemas.openxmlformats.org/drawingml/2006/main">
            <a:off x="1028700" y="42291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4861A"/>
                </a:solidFill>
                <a:latin typeface="Arial"/>
                <a:ea typeface="Arial"/>
                <a:cs typeface="Arial"/>
              </a:defRPr>
            </a:pPr>
            <a:r>
              <a:rPr sz="1350" b="1">
                <a:solidFill>
                  <a:srgbClr val="D4861A"/>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F62F5F66-0D50-4FC8-9C07-E06197FC44CD}"/>
              </a:ext>
            </a:extLst>
          </p:cNvPr>
          <p:cNvSpPr>
            <a:spLocks xmlns:a="http://schemas.openxmlformats.org/drawingml/2006/main" noGrp="1"/>
          </p:cNvSpPr>
          <p:nvPr/>
        </p:nvSpPr>
        <p:spPr>
          <a:xfrm xmlns:a="http://schemas.openxmlformats.org/drawingml/2006/main">
            <a:off x="2647950" y="42005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IPv4, IPv6, VLSM, routes, bandwidth, MTU and MSS</a:t>
            </a:r>
          </a:p>
        </p:txBody>
      </p:sp>
      <p:sp>
        <p:nvSpPr>
          <p:cNvPr id="15" name="">
            <a:extLst xmlns:a="http://schemas.openxmlformats.org/drawingml/2006/main">
              <a:ext uri="{FF2B5EF4-FFF2-40B4-BE49-F238E27FC236}">
                <a16:creationId xmlns:a16="http://schemas.microsoft.com/office/drawing/2014/main" id="{216389CD-9FA6-4E30-9D25-9D381275EC15}"/>
              </a:ext>
            </a:extLst>
          </p:cNvPr>
          <p:cNvSpPr>
            <a:spLocks xmlns:a="http://schemas.openxmlformats.org/drawingml/2006/main" noGrp="1"/>
          </p:cNvSpPr>
          <p:nvPr/>
        </p:nvSpPr>
        <p:spPr>
          <a:xfrm xmlns:a="http://schemas.openxmlformats.org/drawingml/2006/main">
            <a:off x="685800" y="5048250"/>
            <a:ext cx="95250" cy="742950"/>
          </a:xfrm>
          <a:prstGeom xmlns:a="http://schemas.openxmlformats.org/drawingml/2006/main" prst="roundRect">
            <a:avLst>
              <a:gd name="adj" fmla="val 50000"/>
            </a:avLst>
          </a:prstGeom>
          <a:solidFill xmlns:a="http://schemas.openxmlformats.org/drawingml/2006/main">
            <a:srgbClr val="1379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83ED393-E407-48C8-97C7-6BA6BD4A7576}"/>
              </a:ext>
            </a:extLst>
          </p:cNvPr>
          <p:cNvSpPr>
            <a:spLocks xmlns:a="http://schemas.openxmlformats.org/drawingml/2006/main" noGrp="1"/>
          </p:cNvSpPr>
          <p:nvPr/>
        </p:nvSpPr>
        <p:spPr>
          <a:xfrm xmlns:a="http://schemas.openxmlformats.org/drawingml/2006/main">
            <a:off x="1028700" y="51244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3795B"/>
                </a:solidFill>
                <a:latin typeface="Arial"/>
                <a:ea typeface="Arial"/>
                <a:cs typeface="Arial"/>
              </a:defRPr>
            </a:pPr>
            <a:r>
              <a:rPr sz="1350" b="1">
                <a:solidFill>
                  <a:srgbClr val="13795B"/>
                </a:solidFill>
                <a:latin typeface="Arial"/>
                <a:ea typeface="Arial"/>
                <a:cs typeface="Arial"/>
              </a:rPr>
              <a:t>FOCUS</a:t>
            </a:r>
          </a:p>
        </p:txBody>
      </p:sp>
      <p:sp>
        <p:nvSpPr>
          <p:cNvPr id="17" name="">
            <a:extLst xmlns:a="http://schemas.openxmlformats.org/drawingml/2006/main">
              <a:ext uri="{FF2B5EF4-FFF2-40B4-BE49-F238E27FC236}">
                <a16:creationId xmlns:a16="http://schemas.microsoft.com/office/drawing/2014/main" id="{5178C588-2F8A-44DC-B176-D91426D8DB90}"/>
              </a:ext>
            </a:extLst>
          </p:cNvPr>
          <p:cNvSpPr>
            <a:spLocks xmlns:a="http://schemas.openxmlformats.org/drawingml/2006/main" noGrp="1"/>
          </p:cNvSpPr>
          <p:nvPr/>
        </p:nvSpPr>
        <p:spPr>
          <a:xfrm xmlns:a="http://schemas.openxmlformats.org/drawingml/2006/main">
            <a:off x="2647950" y="50958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Timer, breathing, ambient sound, reflection, Spotify</a:t>
            </a:r>
          </a:p>
        </p:txBody>
      </p:sp>
      <p:sp>
        <p:nvSpPr>
          <p:cNvPr id="18" name="">
            <a:extLst xmlns:a="http://schemas.openxmlformats.org/drawingml/2006/main">
              <a:ext uri="{FF2B5EF4-FFF2-40B4-BE49-F238E27FC236}">
                <a16:creationId xmlns:a16="http://schemas.microsoft.com/office/drawing/2014/main" id="{BEBE759D-C5F4-42CF-8CFC-20B084FC1C44}"/>
              </a:ext>
            </a:extLst>
          </p:cNvPr>
          <p:cNvSpPr>
            <a:spLocks xmlns:a="http://schemas.openxmlformats.org/drawingml/2006/main" noGrp="1"/>
          </p:cNvSpPr>
          <p:nvPr/>
        </p:nvSpPr>
        <p:spPr>
          <a:xfrm xmlns:a="http://schemas.openxmlformats.org/drawingml/2006/main">
            <a:off x="685800" y="60579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The same navigation supports technical demonstrations and daily use.</a:t>
            </a:r>
          </a:p>
        </p:txBody>
      </p:sp>
      <p:sp>
        <p:nvSpPr>
          <p:cNvPr id="19" name="">
            <a:extLst xmlns:a="http://schemas.openxmlformats.org/drawingml/2006/main">
              <a:ext uri="{FF2B5EF4-FFF2-40B4-BE49-F238E27FC236}">
                <a16:creationId xmlns:a16="http://schemas.microsoft.com/office/drawing/2014/main" id="{F3450966-3699-43EE-AACD-8D87ABFE7446}"/>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1EE1520C-1F12-40A1-9D8D-24D6B678A459}"/>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03</a:t>
            </a:r>
          </a:p>
        </p:txBody>
      </p:sp>
    </p:spTree>
    <p:extLst>
      <p:ext uri="{BB962C8B-B14F-4D97-AF65-F5344CB8AC3E}">
        <p14:creationId xmlns:p14="http://schemas.microsoft.com/office/powerpoint/2010/main" val="3572257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A8C7D2-9731-4913-9737-BC7F30D0AD94}"/>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7BC4790E-55E3-4960-9D2C-9E794E9ACF48}"/>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72AC665C-1E62-4709-AEA1-05F03DF433E5}"/>
              </a:ext>
            </a:extLst>
          </p:cNvPr>
          <p:cNvSpPr>
            <a:spLocks xmlns:a="http://schemas.openxmlformats.org/drawingml/2006/main" noGrp="1"/>
          </p:cNvSpPr>
          <p:nvPr/>
        </p:nvSpPr>
        <p:spPr>
          <a:xfrm xmlns:a="http://schemas.openxmlformats.org/drawingml/2006/main">
            <a:off x="704850" y="1962150"/>
            <a:ext cx="2286000" cy="1466850"/>
          </a:xfrm>
          <a:prstGeom xmlns:a="http://schemas.openxmlformats.org/drawingml/2006/main" prst="roundRect">
            <a:avLst>
              <a:gd name="adj" fmla="val 11688"/>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E46392DC-E361-40A0-A7D7-0779240A6C06}"/>
              </a:ext>
            </a:extLst>
          </p:cNvPr>
          <p:cNvSpPr>
            <a:spLocks xmlns:a="http://schemas.openxmlformats.org/drawingml/2006/main" noGrp="1"/>
          </p:cNvSpPr>
          <p:nvPr/>
        </p:nvSpPr>
        <p:spPr>
          <a:xfrm xmlns:a="http://schemas.openxmlformats.org/drawingml/2006/main">
            <a:off x="933450" y="21907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72033"/>
                </a:solidFill>
                <a:latin typeface="Arial"/>
                <a:ea typeface="Arial"/>
                <a:cs typeface="Arial"/>
              </a:defRPr>
            </a:pPr>
            <a:r>
              <a:rPr sz="2100" b="1">
                <a:solidFill>
                  <a:srgbClr val="172033"/>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5A47628D-9CF3-4980-B648-4CCF809DB4E2}"/>
              </a:ext>
            </a:extLst>
          </p:cNvPr>
          <p:cNvSpPr>
            <a:spLocks xmlns:a="http://schemas.openxmlformats.org/drawingml/2006/main" noGrp="1"/>
          </p:cNvSpPr>
          <p:nvPr/>
        </p:nvSpPr>
        <p:spPr>
          <a:xfrm xmlns:a="http://schemas.openxmlformats.org/drawingml/2006/main">
            <a:off x="933450" y="26670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506"/>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Interactive Blazor circuit</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actions and live updates</a:t>
            </a:r>
          </a:p>
        </p:txBody>
      </p:sp>
      <p:sp>
        <p:nvSpPr>
          <p:cNvPr id="6" name="">
            <a:extLst xmlns:a="http://schemas.openxmlformats.org/drawingml/2006/main">
              <a:ext uri="{FF2B5EF4-FFF2-40B4-BE49-F238E27FC236}">
                <a16:creationId xmlns:a16="http://schemas.microsoft.com/office/drawing/2014/main" id="{067B4B02-1F29-4684-B774-51F1B09ACE2C}"/>
              </a:ext>
            </a:extLst>
          </p:cNvPr>
          <p:cNvSpPr>
            <a:spLocks xmlns:a="http://schemas.openxmlformats.org/drawingml/2006/main" noGrp="1"/>
          </p:cNvSpPr>
          <p:nvPr/>
        </p:nvSpPr>
        <p:spPr>
          <a:xfrm xmlns:a="http://schemas.openxmlformats.org/drawingml/2006/main">
            <a:off x="4324350" y="1600200"/>
            <a:ext cx="3333750" cy="2190750"/>
          </a:xfrm>
          <a:prstGeom xmlns:a="http://schemas.openxmlformats.org/drawingml/2006/main" prst="roundRect">
            <a:avLst>
              <a:gd name="adj" fmla="val 9565"/>
            </a:avLst>
          </a:prstGeom>
          <a:solidFill xmlns:a="http://schemas.openxmlformats.org/drawingml/2006/main">
            <a:srgbClr val="111C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057E96-2F5E-4439-BB1D-E5E9C7783280}"/>
              </a:ext>
            </a:extLst>
          </p:cNvPr>
          <p:cNvSpPr>
            <a:spLocks xmlns:a="http://schemas.openxmlformats.org/drawingml/2006/main" noGrp="1"/>
          </p:cNvSpPr>
          <p:nvPr/>
        </p:nvSpPr>
        <p:spPr>
          <a:xfrm xmlns:a="http://schemas.openxmlformats.org/drawingml/2006/main">
            <a:off x="46101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362"/>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9 Blazor Server</a:t>
            </a:r>
          </a:p>
        </p:txBody>
      </p:sp>
      <p:sp>
        <p:nvSpPr>
          <p:cNvPr id="8" name="">
            <a:extLst xmlns:a="http://schemas.openxmlformats.org/drawingml/2006/main">
              <a:ext uri="{FF2B5EF4-FFF2-40B4-BE49-F238E27FC236}">
                <a16:creationId xmlns:a16="http://schemas.microsoft.com/office/drawing/2014/main" id="{156EC6AD-AEA8-4491-8565-3431E9737B90}"/>
              </a:ext>
            </a:extLst>
          </p:cNvPr>
          <p:cNvSpPr>
            <a:spLocks xmlns:a="http://schemas.openxmlformats.org/drawingml/2006/main" noGrp="1"/>
          </p:cNvSpPr>
          <p:nvPr/>
        </p:nvSpPr>
        <p:spPr>
          <a:xfrm xmlns:a="http://schemas.openxmlformats.org/drawingml/2006/main">
            <a:off x="4667250" y="25908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Razor components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Application services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Safety validation</a:t>
            </a:r>
          </a:p>
        </p:txBody>
      </p:sp>
      <p:sp>
        <p:nvSpPr>
          <p:cNvPr id="9" name="">
            <a:extLst xmlns:a="http://schemas.openxmlformats.org/drawingml/2006/main">
              <a:ext uri="{FF2B5EF4-FFF2-40B4-BE49-F238E27FC236}">
                <a16:creationId xmlns:a16="http://schemas.microsoft.com/office/drawing/2014/main" id="{5A2AAE77-40B3-4022-BBB6-1434AABA9245}"/>
              </a:ext>
            </a:extLst>
          </p:cNvPr>
          <p:cNvSpPr>
            <a:spLocks xmlns:a="http://schemas.openxmlformats.org/drawingml/2006/main" noGrp="1"/>
          </p:cNvSpPr>
          <p:nvPr/>
        </p:nvSpPr>
        <p:spPr>
          <a:xfrm xmlns:a="http://schemas.openxmlformats.org/drawingml/2006/main">
            <a:off x="8991600" y="1085850"/>
            <a:ext cx="2495550" cy="1714500"/>
          </a:xfrm>
          <a:prstGeom xmlns:a="http://schemas.openxmlformats.org/drawingml/2006/main" prst="roundRect">
            <a:avLst>
              <a:gd name="adj" fmla="val 10000"/>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0A821EB2-A68B-4478-A2C0-46C46A975226}"/>
              </a:ext>
            </a:extLst>
          </p:cNvPr>
          <p:cNvSpPr>
            <a:spLocks xmlns:a="http://schemas.openxmlformats.org/drawingml/2006/main" noGrp="1"/>
          </p:cNvSpPr>
          <p:nvPr/>
        </p:nvSpPr>
        <p:spPr>
          <a:xfrm xmlns:a="http://schemas.openxmlformats.org/drawingml/2006/main">
            <a:off x="9239250" y="13716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086"/>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System and storage</a:t>
            </a:r>
          </a:p>
        </p:txBody>
      </p:sp>
      <p:sp>
        <p:nvSpPr>
          <p:cNvPr id="11" name="">
            <a:extLst xmlns:a="http://schemas.openxmlformats.org/drawingml/2006/main">
              <a:ext uri="{FF2B5EF4-FFF2-40B4-BE49-F238E27FC236}">
                <a16:creationId xmlns:a16="http://schemas.microsoft.com/office/drawing/2014/main" id="{1FBD145F-5280-49E4-A6B1-8532A9C9EED8}"/>
              </a:ext>
            </a:extLst>
          </p:cNvPr>
          <p:cNvSpPr>
            <a:spLocks xmlns:a="http://schemas.openxmlformats.org/drawingml/2006/main" noGrp="1"/>
          </p:cNvSpPr>
          <p:nvPr/>
        </p:nvSpPr>
        <p:spPr>
          <a:xfrm xmlns:a="http://schemas.openxmlformats.org/drawingml/2006/main">
            <a:off x="9239250" y="19050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Runtime metrics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Processes and files</a:t>
            </a:r>
          </a:p>
        </p:txBody>
      </p:sp>
      <p:sp>
        <p:nvSpPr>
          <p:cNvPr id="12" name="">
            <a:extLst xmlns:a="http://schemas.openxmlformats.org/drawingml/2006/main">
              <a:ext uri="{FF2B5EF4-FFF2-40B4-BE49-F238E27FC236}">
                <a16:creationId xmlns:a16="http://schemas.microsoft.com/office/drawing/2014/main" id="{39A36AE1-89C1-4657-BBF9-C05FDC9D6DAE}"/>
              </a:ext>
            </a:extLst>
          </p:cNvPr>
          <p:cNvSpPr>
            <a:spLocks xmlns:a="http://schemas.openxmlformats.org/drawingml/2006/main" noGrp="1"/>
          </p:cNvSpPr>
          <p:nvPr/>
        </p:nvSpPr>
        <p:spPr>
          <a:xfrm xmlns:a="http://schemas.openxmlformats.org/drawingml/2006/main">
            <a:off x="8991600" y="3409950"/>
            <a:ext cx="2495550" cy="1714500"/>
          </a:xfrm>
          <a:prstGeom xmlns:a="http://schemas.openxmlformats.org/drawingml/2006/main" prst="roundRect">
            <a:avLst>
              <a:gd name="adj" fmla="val 10000"/>
            </a:avLst>
          </a:prstGeom>
          <a:solidFill xmlns:a="http://schemas.openxmlformats.org/drawingml/2006/main">
            <a:srgbClr val="FFF5E6"/>
          </a:solidFill>
          <a:ln xmlns:a="http://schemas.openxmlformats.org/drawingml/2006/main" w="9525">
            <a:solidFill>
              <a:srgbClr val="E8C991"/>
            </a:solidFill>
          </a:ln>
        </p:spPr>
      </p:sp>
      <p:sp>
        <p:nvSpPr>
          <p:cNvPr id="13" name="">
            <a:extLst xmlns:a="http://schemas.openxmlformats.org/drawingml/2006/main">
              <a:ext uri="{FF2B5EF4-FFF2-40B4-BE49-F238E27FC236}">
                <a16:creationId xmlns:a16="http://schemas.microsoft.com/office/drawing/2014/main" id="{CC7F2EF4-CF11-4924-B990-0C86AA9DEAC9}"/>
              </a:ext>
            </a:extLst>
          </p:cNvPr>
          <p:cNvSpPr>
            <a:spLocks xmlns:a="http://schemas.openxmlformats.org/drawingml/2006/main" noGrp="1"/>
          </p:cNvSpPr>
          <p:nvPr/>
        </p:nvSpPr>
        <p:spPr>
          <a:xfrm xmlns:a="http://schemas.openxmlformats.org/drawingml/2006/main">
            <a:off x="9239250" y="3695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94"/>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Approved services</a:t>
            </a:r>
          </a:p>
        </p:txBody>
      </p:sp>
      <p:sp>
        <p:nvSpPr>
          <p:cNvPr id="14" name="">
            <a:extLst xmlns:a="http://schemas.openxmlformats.org/drawingml/2006/main">
              <a:ext uri="{FF2B5EF4-FFF2-40B4-BE49-F238E27FC236}">
                <a16:creationId xmlns:a16="http://schemas.microsoft.com/office/drawing/2014/main" id="{0C4E53A6-94AF-416E-8A1C-2C97D70CB978}"/>
              </a:ext>
            </a:extLst>
          </p:cNvPr>
          <p:cNvSpPr>
            <a:spLocks xmlns:a="http://schemas.openxmlformats.org/drawingml/2006/main" noGrp="1"/>
          </p:cNvSpPr>
          <p:nvPr/>
        </p:nvSpPr>
        <p:spPr>
          <a:xfrm xmlns:a="http://schemas.openxmlformats.org/drawingml/2006/main">
            <a:off x="9239250" y="42291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Websites, APIs, DNS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Spotify and OTLP</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90850" y="2695575"/>
            <a:ext cx="1333500" cy="0"/>
          </a:xfrm>
          <a:prstGeom xmlns:a="http://schemas.openxmlformats.org/drawingml/2006/main" prst="straightConnector1">
            <a:avLst/>
          </a:prstGeom>
          <a:ln xmlns:a="http://schemas.openxmlformats.org/drawingml/2006/main" w="28575">
            <a:solidFill>
              <a:srgbClr val="3976ED"/>
            </a:solidFill>
            <a:prstDash val="solid"/>
            <a:headEnd type="triangle" w="sm" len="sm"/>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flipV="1">
            <a:off x="7658100" y="1943100"/>
            <a:ext cx="1333500" cy="752475"/>
          </a:xfrm>
          <a:prstGeom xmlns:a="http://schemas.openxmlformats.org/drawingml/2006/main" prst="bentConnector3">
            <a:avLst>
              <a:gd name="adj1" fmla="val 50000"/>
            </a:avLst>
          </a:prstGeom>
          <a:ln xmlns:a="http://schemas.openxmlformats.org/drawingml/2006/main" w="28575">
            <a:solidFill>
              <a:srgbClr val="17965A"/>
            </a:solidFill>
            <a:prstDash val="solid"/>
            <a:headEnd type="triangle" w="sm" len="sm"/>
          </a:ln>
        </p:spPr>
      </p:cxnSp>
      <p:cxnSp>
        <p:nvCxnSpPr>
          <p:cNvPr id="37" name=""/>
          <p:cNvCxnSpPr>
            <a:stCxn xmlns:a="http://schemas.openxmlformats.org/drawingml/2006/main" id="6" idx="3"/>
            <a:endCxn xmlns:a="http://schemas.openxmlformats.org/drawingml/2006/main" id="12" idx="1"/>
          </p:cNvCxnSpPr>
          <p:nvPr/>
        </p:nvCxnSpPr>
        <p:spPr>
          <a:xfrm xmlns:a="http://schemas.openxmlformats.org/drawingml/2006/main">
            <a:off x="7658100" y="2695575"/>
            <a:ext cx="1333500" cy="1571625"/>
          </a:xfrm>
          <a:prstGeom xmlns:a="http://schemas.openxmlformats.org/drawingml/2006/main" prst="bentConnector3">
            <a:avLst>
              <a:gd name="adj1" fmla="val 50000"/>
            </a:avLst>
          </a:prstGeom>
          <a:ln xmlns:a="http://schemas.openxmlformats.org/drawingml/2006/main" w="28575">
            <a:solidFill>
              <a:srgbClr val="D4861A"/>
            </a:solidFill>
            <a:prstDash val="solid"/>
            <a:headEnd type="triangle" w="sm" len="sm"/>
          </a:ln>
        </p:spPr>
      </p:cxnSp>
      <p:sp>
        <p:nvSpPr>
          <p:cNvPr id="18" name="">
            <a:extLst xmlns:a="http://schemas.openxmlformats.org/drawingml/2006/main">
              <a:ext uri="{FF2B5EF4-FFF2-40B4-BE49-F238E27FC236}">
                <a16:creationId xmlns:a16="http://schemas.microsoft.com/office/drawing/2014/main" id="{8CEF9AB0-A664-46BD-AE0F-7186B5E1C831}"/>
              </a:ext>
            </a:extLst>
          </p:cNvPr>
          <p:cNvSpPr>
            <a:spLocks xmlns:a="http://schemas.openxmlformats.org/drawingml/2006/main" noGrp="1"/>
          </p:cNvSpPr>
          <p:nvPr/>
        </p:nvSpPr>
        <p:spPr>
          <a:xfrm xmlns:a="http://schemas.openxmlformats.org/drawingml/2006/main">
            <a:off x="3752850" y="489585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5F6F8C"/>
                </a:solidFill>
                <a:latin typeface="Arial"/>
                <a:ea typeface="Arial"/>
                <a:cs typeface="Arial"/>
              </a:defRPr>
            </a:pPr>
            <a:r>
              <a:rPr sz="1500" b="0">
                <a:solidFill>
                  <a:srgbClr val="5F6F8C"/>
                </a:solidFill>
                <a:latin typeface="Arial"/>
                <a:ea typeface="Arial"/>
                <a:cs typeface="Arial"/>
              </a:rPr>
              <a:t>Encrypted session state and bounded telemetry journals use the configured data directory.</a:t>
            </a:r>
          </a:p>
        </p:txBody>
      </p:sp>
      <p:sp>
        <p:nvSpPr>
          <p:cNvPr id="19" name="">
            <a:extLst xmlns:a="http://schemas.openxmlformats.org/drawingml/2006/main">
              <a:ext uri="{FF2B5EF4-FFF2-40B4-BE49-F238E27FC236}">
                <a16:creationId xmlns:a16="http://schemas.microsoft.com/office/drawing/2014/main" id="{156E38E5-7C86-4852-9780-F702ED880EB8}"/>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8615308B-05B4-4D47-9844-ABB5FD1457BA}"/>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04</a:t>
            </a:r>
          </a:p>
        </p:txBody>
      </p:sp>
    </p:spTree>
    <p:extLst>
      <p:ext uri="{BB962C8B-B14F-4D97-AF65-F5344CB8AC3E}">
        <p14:creationId xmlns:p14="http://schemas.microsoft.com/office/powerpoint/2010/main" val="17158918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5A1406-D324-46A5-A550-CEA1391A2306}"/>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OBSERVE</a:t>
            </a:r>
          </a:p>
        </p:txBody>
      </p:sp>
      <p:sp>
        <p:nvSpPr>
          <p:cNvPr id="2" name="">
            <a:extLst xmlns:a="http://schemas.openxmlformats.org/drawingml/2006/main">
              <a:ext uri="{FF2B5EF4-FFF2-40B4-BE49-F238E27FC236}">
                <a16:creationId xmlns:a16="http://schemas.microsoft.com/office/drawing/2014/main" id="{56F314A9-3973-4A5D-8DBC-A6C0179AE3CA}"/>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Operations and telemetry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96f41f35e0c48ba"/>
          <a:srcRect xmlns:a="http://schemas.openxmlformats.org/drawingml/2006/main" l="5863" t="0" r="5863" b="0"/>
          <a:stretch xmlns:a="http://schemas.openxmlformats.org/drawingml/2006/main">
            <a:fillRect l="0" t="0" r="0" b="0"/>
          </a:stretch>
        </p:blipFill>
        <p:spPr>
          <a:xfrm xmlns:a="http://schemas.openxmlformats.org/drawingml/2006/main">
            <a:off x="685800" y="1447800"/>
            <a:ext cx="5219700" cy="3695700"/>
          </a:xfrm>
          <a:prstGeom xmlns:a="http://schemas.openxmlformats.org/drawingml/2006/main" prst="roundRect">
            <a:avLst>
              <a:gd name="adj" fmla="val 4124"/>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53b7c2acb9c436f"/>
          <a:srcRect xmlns:a="http://schemas.openxmlformats.org/drawingml/2006/main" l="5863" t="0" r="5863" b="0"/>
          <a:stretch xmlns:a="http://schemas.openxmlformats.org/drawingml/2006/main">
            <a:fillRect l="0" t="0" r="0" b="0"/>
          </a:stretch>
        </p:blipFill>
        <p:spPr>
          <a:xfrm xmlns:a="http://schemas.openxmlformats.org/drawingml/2006/main">
            <a:off x="6286500" y="1447800"/>
            <a:ext cx="5219700" cy="3695700"/>
          </a:xfrm>
          <a:prstGeom xmlns:a="http://schemas.openxmlformats.org/drawingml/2006/main" prst="roundRect">
            <a:avLst>
              <a:gd name="adj" fmla="val 4124"/>
            </a:avLst>
          </a:prstGeom>
        </p:spPr>
      </p:pic>
      <p:sp>
        <p:nvSpPr>
          <p:cNvPr id="5" name="">
            <a:extLst xmlns:a="http://schemas.openxmlformats.org/drawingml/2006/main">
              <a:ext uri="{FF2B5EF4-FFF2-40B4-BE49-F238E27FC236}">
                <a16:creationId xmlns:a16="http://schemas.microsoft.com/office/drawing/2014/main" id="{0F30D726-11FD-41A9-B8DA-D22BA1156A7B}"/>
              </a:ext>
            </a:extLst>
          </p:cNvPr>
          <p:cNvSpPr>
            <a:spLocks xmlns:a="http://schemas.openxmlformats.org/drawingml/2006/main" noGrp="1"/>
          </p:cNvSpPr>
          <p:nvPr/>
        </p:nvSpPr>
        <p:spPr>
          <a:xfrm xmlns:a="http://schemas.openxmlformats.org/drawingml/2006/main">
            <a:off x="6858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976ED"/>
                </a:solidFill>
                <a:latin typeface="Arial"/>
                <a:ea typeface="Arial"/>
                <a:cs typeface="Arial"/>
              </a:defRPr>
            </a:pPr>
            <a:r>
              <a:rPr sz="1650" b="1">
                <a:solidFill>
                  <a:srgbClr val="3976ED"/>
                </a:solidFill>
                <a:latin typeface="Arial"/>
                <a:ea typeface="Arial"/>
                <a:cs typeface="Arial"/>
              </a:rPr>
              <a:t>Bounded checks</a:t>
            </a:r>
          </a:p>
        </p:txBody>
      </p:sp>
      <p:sp>
        <p:nvSpPr>
          <p:cNvPr id="6" name="">
            <a:extLst xmlns:a="http://schemas.openxmlformats.org/drawingml/2006/main">
              <a:ext uri="{FF2B5EF4-FFF2-40B4-BE49-F238E27FC236}">
                <a16:creationId xmlns:a16="http://schemas.microsoft.com/office/drawing/2014/main" id="{06E7AEB8-AE2A-4CAD-B8C1-D45092CC7CD0}"/>
              </a:ext>
            </a:extLst>
          </p:cNvPr>
          <p:cNvSpPr>
            <a:spLocks xmlns:a="http://schemas.openxmlformats.org/drawingml/2006/main" noGrp="1"/>
          </p:cNvSpPr>
          <p:nvPr/>
        </p:nvSpPr>
        <p:spPr>
          <a:xfrm xmlns:a="http://schemas.openxmlformats.org/drawingml/2006/main">
            <a:off x="685800" y="5695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HTTP, TCP, ping, DNS, TLS, database connectivity, and approved log files</a:t>
            </a:r>
          </a:p>
        </p:txBody>
      </p:sp>
      <p:sp>
        <p:nvSpPr>
          <p:cNvPr id="7" name="">
            <a:extLst xmlns:a="http://schemas.openxmlformats.org/drawingml/2006/main">
              <a:ext uri="{FF2B5EF4-FFF2-40B4-BE49-F238E27FC236}">
                <a16:creationId xmlns:a16="http://schemas.microsoft.com/office/drawing/2014/main" id="{7E99A469-AC4B-45EF-A76D-EC479D732622}"/>
              </a:ext>
            </a:extLst>
          </p:cNvPr>
          <p:cNvSpPr>
            <a:spLocks xmlns:a="http://schemas.openxmlformats.org/drawingml/2006/main" noGrp="1"/>
          </p:cNvSpPr>
          <p:nvPr/>
        </p:nvSpPr>
        <p:spPr>
          <a:xfrm xmlns:a="http://schemas.openxmlformats.org/drawingml/2006/main">
            <a:off x="62865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965A"/>
                </a:solidFill>
                <a:latin typeface="Arial"/>
                <a:ea typeface="Arial"/>
                <a:cs typeface="Arial"/>
              </a:defRPr>
            </a:pPr>
            <a:r>
              <a:rPr sz="1650" b="1">
                <a:solidFill>
                  <a:srgbClr val="17965A"/>
                </a:solidFill>
                <a:latin typeface="Arial"/>
                <a:ea typeface="Arial"/>
                <a:cs typeface="Arial"/>
              </a:rPr>
              <a:t>Evidence over time</a:t>
            </a:r>
          </a:p>
        </p:txBody>
      </p:sp>
      <p:sp>
        <p:nvSpPr>
          <p:cNvPr id="8" name="">
            <a:extLst xmlns:a="http://schemas.openxmlformats.org/drawingml/2006/main">
              <a:ext uri="{FF2B5EF4-FFF2-40B4-BE49-F238E27FC236}">
                <a16:creationId xmlns:a16="http://schemas.microsoft.com/office/drawing/2014/main" id="{239A90ED-0984-49F6-80B8-A416DD6A15E1}"/>
              </a:ext>
            </a:extLst>
          </p:cNvPr>
          <p:cNvSpPr>
            <a:spLocks xmlns:a="http://schemas.openxmlformats.org/drawingml/2006/main" noGrp="1"/>
          </p:cNvSpPr>
          <p:nvPr/>
        </p:nvSpPr>
        <p:spPr>
          <a:xfrm xmlns:a="http://schemas.openxmlformats.org/drawingml/2006/main">
            <a:off x="6286500" y="56959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Runtime metrics, request traces, deployment identity, threshold incidents, and optional OTLP export</a:t>
            </a:r>
          </a:p>
        </p:txBody>
      </p:sp>
      <p:sp>
        <p:nvSpPr>
          <p:cNvPr id="9" name="">
            <a:extLst xmlns:a="http://schemas.openxmlformats.org/drawingml/2006/main">
              <a:ext uri="{FF2B5EF4-FFF2-40B4-BE49-F238E27FC236}">
                <a16:creationId xmlns:a16="http://schemas.microsoft.com/office/drawing/2014/main" id="{E4EFBAEA-7088-454A-A051-56838393263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87E3226C-84E3-4957-9E86-441C6B04A2A5}"/>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05</a:t>
            </a:r>
          </a:p>
        </p:txBody>
      </p:sp>
    </p:spTree>
    <p:extLst>
      <p:ext uri="{BB962C8B-B14F-4D97-AF65-F5344CB8AC3E}">
        <p14:creationId xmlns:p14="http://schemas.microsoft.com/office/powerpoint/2010/main" val="1535993936"/>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FABF1A-B8C0-40F2-A241-C7ECE4132A83}"/>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PLAN AND INSPECT</a:t>
            </a:r>
          </a:p>
        </p:txBody>
      </p:sp>
      <p:sp>
        <p:nvSpPr>
          <p:cNvPr id="2" name="">
            <a:extLst xmlns:a="http://schemas.openxmlformats.org/drawingml/2006/main">
              <a:ext uri="{FF2B5EF4-FFF2-40B4-BE49-F238E27FC236}">
                <a16:creationId xmlns:a16="http://schemas.microsoft.com/office/drawing/2014/main" id="{C53F44E5-DA35-48ED-B5B6-84D9A3F7F0FA}"/>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Network planning and local inspectors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24ec4a487c64a01"/>
          <a:srcRect xmlns:a="http://schemas.openxmlformats.org/drawingml/2006/main" l="6117" t="0" r="6117" b="0"/>
          <a:stretch xmlns:a="http://schemas.openxmlformats.org/drawingml/2006/main">
            <a:fillRect l="0" t="0" r="0" b="0"/>
          </a:stretch>
        </p:blipFill>
        <p:spPr>
          <a:xfrm xmlns:a="http://schemas.openxmlformats.org/drawingml/2006/main">
            <a:off x="685800" y="1447800"/>
            <a:ext cx="6286500" cy="4476750"/>
          </a:xfrm>
          <a:prstGeom xmlns:a="http://schemas.openxmlformats.org/drawingml/2006/main" prst="roundRect">
            <a:avLst>
              <a:gd name="adj" fmla="val 3404"/>
            </a:avLst>
          </a:prstGeom>
        </p:spPr>
      </p:pic>
      <p:sp>
        <p:nvSpPr>
          <p:cNvPr id="4" name="">
            <a:extLst xmlns:a="http://schemas.openxmlformats.org/drawingml/2006/main">
              <a:ext uri="{FF2B5EF4-FFF2-40B4-BE49-F238E27FC236}">
                <a16:creationId xmlns:a16="http://schemas.microsoft.com/office/drawing/2014/main" id="{55B57738-D699-4872-9606-13D1C6127110}"/>
              </a:ext>
            </a:extLst>
          </p:cNvPr>
          <p:cNvSpPr>
            <a:spLocks xmlns:a="http://schemas.openxmlformats.org/drawingml/2006/main" noGrp="1"/>
          </p:cNvSpPr>
          <p:nvPr/>
        </p:nvSpPr>
        <p:spPr>
          <a:xfrm xmlns:a="http://schemas.openxmlformats.org/drawingml/2006/main">
            <a:off x="7448550" y="15621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Network calculations</a:t>
            </a:r>
          </a:p>
        </p:txBody>
      </p:sp>
      <p:sp>
        <p:nvSpPr>
          <p:cNvPr id="5" name="">
            <a:extLst xmlns:a="http://schemas.openxmlformats.org/drawingml/2006/main">
              <a:ext uri="{FF2B5EF4-FFF2-40B4-BE49-F238E27FC236}">
                <a16:creationId xmlns:a16="http://schemas.microsoft.com/office/drawing/2014/main" id="{D35F5CCB-5236-429A-BB27-EC8A1F5EC92A}"/>
              </a:ext>
            </a:extLst>
          </p:cNvPr>
          <p:cNvSpPr>
            <a:spLocks xmlns:a="http://schemas.openxmlformats.org/drawingml/2006/main" noGrp="1"/>
          </p:cNvSpPr>
          <p:nvPr/>
        </p:nvSpPr>
        <p:spPr>
          <a:xfrm xmlns:a="http://schemas.openxmlformats.org/drawingml/2006/main">
            <a:off x="7448550" y="20383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IPv4 and IPv6 subnet details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VLSM allocation and route summaries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Bandwidth, transfer time, MTU, and MSS</a:t>
            </a:r>
          </a:p>
        </p:txBody>
      </p:sp>
      <p:sp>
        <p:nvSpPr>
          <p:cNvPr id="6" name="">
            <a:extLst xmlns:a="http://schemas.openxmlformats.org/drawingml/2006/main">
              <a:ext uri="{FF2B5EF4-FFF2-40B4-BE49-F238E27FC236}">
                <a16:creationId xmlns:a16="http://schemas.microsoft.com/office/drawing/2014/main" id="{07FEE935-E4DD-42B0-8087-4EAC929EEF1B}"/>
              </a:ext>
            </a:extLst>
          </p:cNvPr>
          <p:cNvSpPr>
            <a:spLocks xmlns:a="http://schemas.openxmlformats.org/drawingml/2006/main" noGrp="1"/>
          </p:cNvSpPr>
          <p:nvPr/>
        </p:nvSpPr>
        <p:spPr>
          <a:xfrm xmlns:a="http://schemas.openxmlformats.org/drawingml/2006/main">
            <a:off x="7448550" y="39243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Local data inspection</a:t>
            </a:r>
          </a:p>
        </p:txBody>
      </p:sp>
      <p:sp>
        <p:nvSpPr>
          <p:cNvPr id="7" name="">
            <a:extLst xmlns:a="http://schemas.openxmlformats.org/drawingml/2006/main">
              <a:ext uri="{FF2B5EF4-FFF2-40B4-BE49-F238E27FC236}">
                <a16:creationId xmlns:a16="http://schemas.microsoft.com/office/drawing/2014/main" id="{79EBC4CD-CAF0-40FE-BB1C-78A956009494}"/>
              </a:ext>
            </a:extLst>
          </p:cNvPr>
          <p:cNvSpPr>
            <a:spLocks xmlns:a="http://schemas.openxmlformats.org/drawingml/2006/main" noGrp="1"/>
          </p:cNvSpPr>
          <p:nvPr/>
        </p:nvSpPr>
        <p:spPr>
          <a:xfrm xmlns:a="http://schemas.openxmlformats.org/drawingml/2006/main">
            <a:off x="7448550" y="44005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JSON tree and JWT payload decoding</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SHA-256 integrity checks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AES-256-GCM file encryption and decryption</a:t>
            </a:r>
          </a:p>
        </p:txBody>
      </p:sp>
      <p:sp>
        <p:nvSpPr>
          <p:cNvPr id="8" name="">
            <a:extLst xmlns:a="http://schemas.openxmlformats.org/drawingml/2006/main">
              <a:ext uri="{FF2B5EF4-FFF2-40B4-BE49-F238E27FC236}">
                <a16:creationId xmlns:a16="http://schemas.microsoft.com/office/drawing/2014/main" id="{819CAD35-60F6-4EF3-A587-403563C2481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9" name="">
            <a:extLst xmlns:a="http://schemas.openxmlformats.org/drawingml/2006/main">
              <a:ext uri="{FF2B5EF4-FFF2-40B4-BE49-F238E27FC236}">
                <a16:creationId xmlns:a16="http://schemas.microsoft.com/office/drawing/2014/main" id="{791446C0-ACD0-479C-B5A5-89EADA98FC9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06</a:t>
            </a:r>
          </a:p>
        </p:txBody>
      </p:sp>
    </p:spTree>
    <p:extLst>
      <p:ext uri="{BB962C8B-B14F-4D97-AF65-F5344CB8AC3E}">
        <p14:creationId xmlns:p14="http://schemas.microsoft.com/office/powerpoint/2010/main" val="7863972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5A9CB8-3D7C-4897-92D2-1834C591A88A}"/>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TEST</a:t>
            </a:r>
          </a:p>
        </p:txBody>
      </p:sp>
      <p:sp>
        <p:nvSpPr>
          <p:cNvPr id="2" name="">
            <a:extLst xmlns:a="http://schemas.openxmlformats.org/drawingml/2006/main">
              <a:ext uri="{FF2B5EF4-FFF2-40B4-BE49-F238E27FC236}">
                <a16:creationId xmlns:a16="http://schemas.microsoft.com/office/drawing/2014/main" id="{4C2C4A16-AA9D-4831-9D8E-293D37A7B293}"/>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Website and API assurance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3a14476ef5d4f59"/>
          <a:srcRect xmlns:a="http://schemas.openxmlformats.org/drawingml/2006/main" l="0" t="8750" r="0" b="8750"/>
          <a:stretch xmlns:a="http://schemas.openxmlformats.org/drawingml/2006/main">
            <a:fillRect l="0" t="0" r="0" b="0"/>
          </a:stretch>
        </p:blipFill>
        <p:spPr>
          <a:xfrm xmlns:a="http://schemas.openxmlformats.org/drawingml/2006/main">
            <a:off x="685800" y="1428750"/>
            <a:ext cx="6096000" cy="3143250"/>
          </a:xfrm>
          <a:prstGeom xmlns:a="http://schemas.openxmlformats.org/drawingml/2006/main" prst="roundRect">
            <a:avLst>
              <a:gd name="adj" fmla="val 484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00fa3d6614491a"/>
          <a:srcRect xmlns:a="http://schemas.openxmlformats.org/drawingml/2006/main" l="6818" t="0" r="6818" b="0"/>
          <a:stretch xmlns:a="http://schemas.openxmlformats.org/drawingml/2006/main">
            <a:fillRect l="0" t="0" r="0" b="0"/>
          </a:stretch>
        </p:blipFill>
        <p:spPr>
          <a:xfrm xmlns:a="http://schemas.openxmlformats.org/drawingml/2006/main">
            <a:off x="7162800" y="1428750"/>
            <a:ext cx="4343400" cy="3143250"/>
          </a:xfrm>
          <a:prstGeom xmlns:a="http://schemas.openxmlformats.org/drawingml/2006/main" prst="roundRect">
            <a:avLst>
              <a:gd name="adj" fmla="val 4848"/>
            </a:avLst>
          </a:prstGeom>
        </p:spPr>
      </p:pic>
      <p:sp>
        <p:nvSpPr>
          <p:cNvPr id="5" name="">
            <a:extLst xmlns:a="http://schemas.openxmlformats.org/drawingml/2006/main">
              <a:ext uri="{FF2B5EF4-FFF2-40B4-BE49-F238E27FC236}">
                <a16:creationId xmlns:a16="http://schemas.microsoft.com/office/drawing/2014/main" id="{0F83AF8C-8320-4C9E-B853-B4E3FC160E72}"/>
              </a:ext>
            </a:extLst>
          </p:cNvPr>
          <p:cNvSpPr>
            <a:spLocks xmlns:a="http://schemas.openxmlformats.org/drawingml/2006/main" noGrp="1"/>
          </p:cNvSpPr>
          <p:nvPr/>
        </p:nvSpPr>
        <p:spPr>
          <a:xfrm xmlns:a="http://schemas.openxmlformats.org/drawingml/2006/main">
            <a:off x="685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976ED"/>
                </a:solidFill>
                <a:latin typeface="Arial"/>
                <a:ea typeface="Arial"/>
                <a:cs typeface="Arial"/>
              </a:defRPr>
            </a:pPr>
            <a:r>
              <a:rPr sz="1725" b="1">
                <a:solidFill>
                  <a:srgbClr val="3976ED"/>
                </a:solidFill>
                <a:latin typeface="Arial"/>
                <a:ea typeface="Arial"/>
                <a:cs typeface="Arial"/>
              </a:rPr>
              <a:t>Website Audit</a:t>
            </a:r>
          </a:p>
        </p:txBody>
      </p:sp>
      <p:sp>
        <p:nvSpPr>
          <p:cNvPr id="6" name="">
            <a:extLst xmlns:a="http://schemas.openxmlformats.org/drawingml/2006/main">
              <a:ext uri="{FF2B5EF4-FFF2-40B4-BE49-F238E27FC236}">
                <a16:creationId xmlns:a16="http://schemas.microsoft.com/office/drawing/2014/main" id="{D234E9B4-A50D-48CC-8F69-3F22BB28F0A5}"/>
              </a:ext>
            </a:extLst>
          </p:cNvPr>
          <p:cNvSpPr>
            <a:spLocks xmlns:a="http://schemas.openxmlformats.org/drawingml/2006/main" noGrp="1"/>
          </p:cNvSpPr>
          <p:nvPr/>
        </p:nvSpPr>
        <p:spPr>
          <a:xfrm xmlns:a="http://schemas.openxmlformats.org/drawingml/2006/main">
            <a:off x="685800" y="52387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Crawl checks, headers, JSON validation, Lighthouse, accessibility, screenshots, visual baselines, and scheduled uptime</a:t>
            </a:r>
          </a:p>
        </p:txBody>
      </p:sp>
      <p:sp>
        <p:nvSpPr>
          <p:cNvPr id="7" name="">
            <a:extLst xmlns:a="http://schemas.openxmlformats.org/drawingml/2006/main">
              <a:ext uri="{FF2B5EF4-FFF2-40B4-BE49-F238E27FC236}">
                <a16:creationId xmlns:a16="http://schemas.microsoft.com/office/drawing/2014/main" id="{498FD93E-88EC-4045-9617-007A8503576B}"/>
              </a:ext>
            </a:extLst>
          </p:cNvPr>
          <p:cNvSpPr>
            <a:spLocks xmlns:a="http://schemas.openxmlformats.org/drawingml/2006/main" noGrp="1"/>
          </p:cNvSpPr>
          <p:nvPr/>
        </p:nvSpPr>
        <p:spPr>
          <a:xfrm xmlns:a="http://schemas.openxmlformats.org/drawingml/2006/main">
            <a:off x="7162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7965A"/>
                </a:solidFill>
                <a:latin typeface="Arial"/>
                <a:ea typeface="Arial"/>
                <a:cs typeface="Arial"/>
              </a:defRPr>
            </a:pPr>
            <a:r>
              <a:rPr sz="1725" b="1">
                <a:solidFill>
                  <a:srgbClr val="17965A"/>
                </a:solidFill>
                <a:latin typeface="Arial"/>
                <a:ea typeface="Arial"/>
                <a:cs typeface="Arial"/>
              </a:rPr>
              <a:t>API and DNS</a:t>
            </a:r>
          </a:p>
        </p:txBody>
      </p:sp>
      <p:sp>
        <p:nvSpPr>
          <p:cNvPr id="8" name="">
            <a:extLst xmlns:a="http://schemas.openxmlformats.org/drawingml/2006/main">
              <a:ext uri="{FF2B5EF4-FFF2-40B4-BE49-F238E27FC236}">
                <a16:creationId xmlns:a16="http://schemas.microsoft.com/office/drawing/2014/main" id="{14395B94-A359-4470-AF03-9BAB3AA0845B}"/>
              </a:ext>
            </a:extLst>
          </p:cNvPr>
          <p:cNvSpPr>
            <a:spLocks xmlns:a="http://schemas.openxmlformats.org/drawingml/2006/main" noGrp="1"/>
          </p:cNvSpPr>
          <p:nvPr/>
        </p:nvSpPr>
        <p:spPr>
          <a:xfrm xmlns:a="http://schemas.openxmlformats.org/drawingml/2006/main">
            <a:off x="7162800" y="523875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Temporary request collections, assertions, response previews, and public DNS email-policy inspection</a:t>
            </a:r>
          </a:p>
        </p:txBody>
      </p:sp>
      <p:sp>
        <p:nvSpPr>
          <p:cNvPr id="9" name="">
            <a:extLst xmlns:a="http://schemas.openxmlformats.org/drawingml/2006/main">
              <a:ext uri="{FF2B5EF4-FFF2-40B4-BE49-F238E27FC236}">
                <a16:creationId xmlns:a16="http://schemas.microsoft.com/office/drawing/2014/main" id="{8791E474-416E-483F-8358-372327491574}"/>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356EFB03-97A3-40C7-826D-7D5C63D927B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07</a:t>
            </a:r>
          </a:p>
        </p:txBody>
      </p:sp>
    </p:spTree>
    <p:extLst>
      <p:ext uri="{BB962C8B-B14F-4D97-AF65-F5344CB8AC3E}">
        <p14:creationId xmlns:p14="http://schemas.microsoft.com/office/powerpoint/2010/main" val="2132400915"/>
      </p:ext>
    </p:extLst>
  </p:cSld>
</p:sld>
</file>

<file path=ppt/slides/slide8.xml><?xml version="1.0" encoding="utf-8"?>
<p:sld xmlns:p="http://schemas.openxmlformats.org/presentationml/2006/main">
  <p:cSld>
    <p:bg>
      <p:bgPr>
        <a:solidFill xmlns:a="http://schemas.openxmlformats.org/drawingml/2006/main">
          <a:srgbClr val="F4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1281FC-1C5D-494B-AFBB-91E3008FF020}"/>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DEVELOPER WELLNESS</a:t>
            </a:r>
          </a:p>
        </p:txBody>
      </p:sp>
      <p:sp>
        <p:nvSpPr>
          <p:cNvPr id="2" name="">
            <a:extLst xmlns:a="http://schemas.openxmlformats.org/drawingml/2006/main">
              <a:ext uri="{FF2B5EF4-FFF2-40B4-BE49-F238E27FC236}">
                <a16:creationId xmlns:a16="http://schemas.microsoft.com/office/drawing/2014/main" id="{6E2EA29D-5303-474E-A006-35487E5B2802}"/>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Focus Lounge and Spotify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bf26cb7d6344338"/>
          <a:srcRect xmlns:a="http://schemas.openxmlformats.org/drawingml/2006/main" l="4375" t="0" r="4375" b="0"/>
          <a:stretch xmlns:a="http://schemas.openxmlformats.org/drawingml/2006/main">
            <a:fillRect l="0" t="0" r="0" b="0"/>
          </a:stretch>
        </p:blipFill>
        <p:spPr>
          <a:xfrm xmlns:a="http://schemas.openxmlformats.org/drawingml/2006/main">
            <a:off x="685800" y="1409700"/>
            <a:ext cx="6953250" cy="4762500"/>
          </a:xfrm>
          <a:prstGeom xmlns:a="http://schemas.openxmlformats.org/drawingml/2006/main" prst="roundRect">
            <a:avLst>
              <a:gd name="adj" fmla="val 3200"/>
            </a:avLst>
          </a:prstGeom>
        </p:spPr>
      </p:pic>
      <p:sp>
        <p:nvSpPr>
          <p:cNvPr id="4" name="">
            <a:extLst xmlns:a="http://schemas.openxmlformats.org/drawingml/2006/main">
              <a:ext uri="{FF2B5EF4-FFF2-40B4-BE49-F238E27FC236}">
                <a16:creationId xmlns:a16="http://schemas.microsoft.com/office/drawing/2014/main" id="{7EB2C428-E87F-4DC6-B5B8-4AF65966492C}"/>
              </a:ext>
            </a:extLst>
          </p:cNvPr>
          <p:cNvSpPr>
            <a:spLocks xmlns:a="http://schemas.openxmlformats.org/drawingml/2006/main" noGrp="1"/>
          </p:cNvSpPr>
          <p:nvPr/>
        </p:nvSpPr>
        <p:spPr>
          <a:xfrm xmlns:a="http://schemas.openxmlformats.org/drawingml/2006/main">
            <a:off x="8096250" y="1619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24B32"/>
                </a:solidFill>
                <a:latin typeface="Arial"/>
                <a:ea typeface="Arial"/>
                <a:cs typeface="Arial"/>
              </a:defRPr>
            </a:pPr>
            <a:r>
              <a:rPr sz="2250" b="1">
                <a:solidFill>
                  <a:srgbClr val="124B32"/>
                </a:solidFill>
                <a:latin typeface="Arial"/>
                <a:ea typeface="Arial"/>
                <a:cs typeface="Arial"/>
              </a:rPr>
              <a:t>A quieter workspace</a:t>
            </a:r>
          </a:p>
        </p:txBody>
      </p:sp>
      <p:sp>
        <p:nvSpPr>
          <p:cNvPr id="5" name="">
            <a:extLst xmlns:a="http://schemas.openxmlformats.org/drawingml/2006/main">
              <a:ext uri="{FF2B5EF4-FFF2-40B4-BE49-F238E27FC236}">
                <a16:creationId xmlns:a16="http://schemas.microsoft.com/office/drawing/2014/main" id="{FE084057-AADE-400F-88B2-687C035298AE}"/>
              </a:ext>
            </a:extLst>
          </p:cNvPr>
          <p:cNvSpPr>
            <a:spLocks xmlns:a="http://schemas.openxmlformats.org/drawingml/2006/main" noGrp="1"/>
          </p:cNvSpPr>
          <p:nvPr/>
        </p:nvSpPr>
        <p:spPr>
          <a:xfrm xmlns:a="http://schemas.openxmlformats.org/drawingml/2006/main">
            <a:off x="8096250" y="22669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Focus and break timer</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Guided box breathing</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Generated ambient sound</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Private browser-local notes</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Spotify Connect and optional browser playback</a:t>
            </a:r>
          </a:p>
        </p:txBody>
      </p:sp>
      <p:sp>
        <p:nvSpPr>
          <p:cNvPr id="6" name="">
            <a:extLst xmlns:a="http://schemas.openxmlformats.org/drawingml/2006/main">
              <a:ext uri="{FF2B5EF4-FFF2-40B4-BE49-F238E27FC236}">
                <a16:creationId xmlns:a16="http://schemas.microsoft.com/office/drawing/2014/main" id="{49E6E0D0-81EA-46A1-B441-AE0382338C8A}"/>
              </a:ext>
            </a:extLst>
          </p:cNvPr>
          <p:cNvSpPr>
            <a:spLocks xmlns:a="http://schemas.openxmlformats.org/drawingml/2006/main" noGrp="1"/>
          </p:cNvSpPr>
          <p:nvPr/>
        </p:nvSpPr>
        <p:spPr>
          <a:xfrm xmlns:a="http://schemas.openxmlformats.org/drawingml/2006/main">
            <a:off x="8096250" y="52197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4D6B5B"/>
                </a:solidFill>
                <a:latin typeface="Arial"/>
                <a:ea typeface="Arial"/>
                <a:cs typeface="Arial"/>
              </a:defRPr>
            </a:pPr>
            <a:r>
              <a:rPr sz="1425" b="0">
                <a:solidFill>
                  <a:srgbClr val="4D6B5B"/>
                </a:solidFill>
                <a:latin typeface="Arial"/>
                <a:ea typeface="Arial"/>
                <a:cs typeface="Arial"/>
              </a:rPr>
              <a:t>Spotify credentials remain server-side. OAuth sessions use encrypted storage and opaque cookies.</a:t>
            </a:r>
          </a:p>
        </p:txBody>
      </p:sp>
      <p:sp>
        <p:nvSpPr>
          <p:cNvPr id="7" name="">
            <a:extLst xmlns:a="http://schemas.openxmlformats.org/drawingml/2006/main">
              <a:ext uri="{FF2B5EF4-FFF2-40B4-BE49-F238E27FC236}">
                <a16:creationId xmlns:a16="http://schemas.microsoft.com/office/drawing/2014/main" id="{97519831-2486-42C1-83AC-8E21D65DE3E5}"/>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61AB1D23-3712-42AF-8A9A-E1126F4095C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08</a:t>
            </a:r>
          </a:p>
        </p:txBody>
      </p:sp>
    </p:spTree>
    <p:extLst>
      <p:ext uri="{BB962C8B-B14F-4D97-AF65-F5344CB8AC3E}">
        <p14:creationId xmlns:p14="http://schemas.microsoft.com/office/powerpoint/2010/main" val="975901399"/>
      </p:ext>
    </p:extLst>
  </p:cSld>
</p:sld>
</file>

<file path=ppt/slides/slide9.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1BE0B86-F775-4184-8904-C6209A441C32}"/>
              </a:ext>
            </a:extLst>
          </p:cNvPr>
          <p:cNvSpPr>
            <a:spLocks xmlns:a="http://schemas.openxmlformats.org/drawingml/2006/main" noGrp="1"/>
          </p:cNvSpPr>
          <p:nvPr/>
        </p:nvSpPr>
        <p:spPr>
          <a:xfrm xmlns:a="http://schemas.openxmlformats.org/drawingml/2006/main">
            <a:off x="6858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9BFF"/>
                </a:solidFill>
                <a:latin typeface="Arial"/>
                <a:ea typeface="Arial"/>
                <a:cs typeface="Arial"/>
              </a:defRPr>
            </a:pPr>
            <a:r>
              <a:rPr sz="1125" b="1">
                <a:solidFill>
                  <a:srgbClr val="6D9BFF"/>
                </a:solidFill>
                <a:latin typeface="Arial"/>
                <a:ea typeface="Arial"/>
                <a:cs typeface="Arial"/>
              </a:rPr>
              <a:t>SECURITY</a:t>
            </a:r>
          </a:p>
        </p:txBody>
      </p:sp>
      <p:sp>
        <p:nvSpPr>
          <p:cNvPr id="2" name="">
            <a:extLst xmlns:a="http://schemas.openxmlformats.org/drawingml/2006/main">
              <a:ext uri="{FF2B5EF4-FFF2-40B4-BE49-F238E27FC236}">
                <a16:creationId xmlns:a16="http://schemas.microsoft.com/office/drawing/2014/main" id="{7238B1A1-83A1-44F0-AC28-C42BEC0AFE5E}"/>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Safety boundaries in Version 1</a:t>
            </a:r>
          </a:p>
        </p:txBody>
      </p:sp>
      <p:sp>
        <p:nvSpPr>
          <p:cNvPr id="3" name="">
            <a:extLst xmlns:a="http://schemas.openxmlformats.org/drawingml/2006/main">
              <a:ext uri="{FF2B5EF4-FFF2-40B4-BE49-F238E27FC236}">
                <a16:creationId xmlns:a16="http://schemas.microsoft.com/office/drawing/2014/main" id="{87AC1B14-D494-46FD-9952-3EB9CC9E538F}"/>
              </a:ext>
            </a:extLst>
          </p:cNvPr>
          <p:cNvSpPr>
            <a:spLocks xmlns:a="http://schemas.openxmlformats.org/drawingml/2006/main" noGrp="1"/>
          </p:cNvSpPr>
          <p:nvPr/>
        </p:nvSpPr>
        <p:spPr>
          <a:xfrm xmlns:a="http://schemas.openxmlformats.org/drawingml/2006/main">
            <a:off x="68580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4" name="">
            <a:extLst xmlns:a="http://schemas.openxmlformats.org/drawingml/2006/main">
              <a:ext uri="{FF2B5EF4-FFF2-40B4-BE49-F238E27FC236}">
                <a16:creationId xmlns:a16="http://schemas.microsoft.com/office/drawing/2014/main" id="{FF1F741B-C30D-4451-8177-499861FDBC40}"/>
              </a:ext>
            </a:extLst>
          </p:cNvPr>
          <p:cNvSpPr>
            <a:spLocks xmlns:a="http://schemas.openxmlformats.org/drawingml/2006/main" noGrp="1"/>
          </p:cNvSpPr>
          <p:nvPr/>
        </p:nvSpPr>
        <p:spPr>
          <a:xfrm xmlns:a="http://schemas.openxmlformats.org/drawingml/2006/main">
            <a:off x="99060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Network controls</a:t>
            </a:r>
          </a:p>
        </p:txBody>
      </p:sp>
      <p:sp>
        <p:nvSpPr>
          <p:cNvPr id="5" name="">
            <a:extLst xmlns:a="http://schemas.openxmlformats.org/drawingml/2006/main">
              <a:ext uri="{FF2B5EF4-FFF2-40B4-BE49-F238E27FC236}">
                <a16:creationId xmlns:a16="http://schemas.microsoft.com/office/drawing/2014/main" id="{49C2B276-F8AE-4A82-A6BE-FC4A251EFF61}"/>
              </a:ext>
            </a:extLst>
          </p:cNvPr>
          <p:cNvSpPr>
            <a:spLocks xmlns:a="http://schemas.openxmlformats.org/drawingml/2006/main" noGrp="1"/>
          </p:cNvSpPr>
          <p:nvPr/>
        </p:nvSpPr>
        <p:spPr>
          <a:xfrm xmlns:a="http://schemas.openxmlformats.org/drawingml/2006/main">
            <a:off x="9906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612"/>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Private and reserved targets blocked by default</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Redirects disabled for diagnostic clients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Owner allowlists permit intentional private checks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Strict request, response, timeout, and concurrency caps</a:t>
            </a:r>
          </a:p>
        </p:txBody>
      </p:sp>
      <p:sp>
        <p:nvSpPr>
          <p:cNvPr id="6" name="">
            <a:extLst xmlns:a="http://schemas.openxmlformats.org/drawingml/2006/main">
              <a:ext uri="{FF2B5EF4-FFF2-40B4-BE49-F238E27FC236}">
                <a16:creationId xmlns:a16="http://schemas.microsoft.com/office/drawing/2014/main" id="{378AC747-AE76-48B3-86A7-0B99F691268C}"/>
              </a:ext>
            </a:extLst>
          </p:cNvPr>
          <p:cNvSpPr>
            <a:spLocks xmlns:a="http://schemas.openxmlformats.org/drawingml/2006/main" noGrp="1"/>
          </p:cNvSpPr>
          <p:nvPr/>
        </p:nvSpPr>
        <p:spPr>
          <a:xfrm xmlns:a="http://schemas.openxmlformats.org/drawingml/2006/main">
            <a:off x="443865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7" name="">
            <a:extLst xmlns:a="http://schemas.openxmlformats.org/drawingml/2006/main">
              <a:ext uri="{FF2B5EF4-FFF2-40B4-BE49-F238E27FC236}">
                <a16:creationId xmlns:a16="http://schemas.microsoft.com/office/drawing/2014/main" id="{30A073A2-5452-4640-A187-302B83F4E3F7}"/>
              </a:ext>
            </a:extLst>
          </p:cNvPr>
          <p:cNvSpPr>
            <a:spLocks xmlns:a="http://schemas.openxmlformats.org/drawingml/2006/main" noGrp="1"/>
          </p:cNvSpPr>
          <p:nvPr/>
        </p:nvSpPr>
        <p:spPr>
          <a:xfrm xmlns:a="http://schemas.openxmlformats.org/drawingml/2006/main">
            <a:off x="474345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Secrets and sessions</a:t>
            </a:r>
          </a:p>
        </p:txBody>
      </p:sp>
      <p:sp>
        <p:nvSpPr>
          <p:cNvPr id="8" name="">
            <a:extLst xmlns:a="http://schemas.openxmlformats.org/drawingml/2006/main">
              <a:ext uri="{FF2B5EF4-FFF2-40B4-BE49-F238E27FC236}">
                <a16:creationId xmlns:a16="http://schemas.microsoft.com/office/drawing/2014/main" id="{D0845589-4F09-430F-8CBD-AA60832998DD}"/>
              </a:ext>
            </a:extLst>
          </p:cNvPr>
          <p:cNvSpPr>
            <a:spLocks xmlns:a="http://schemas.openxmlformats.org/drawingml/2006/main" noGrp="1"/>
          </p:cNvSpPr>
          <p:nvPr/>
        </p:nvSpPr>
        <p:spPr>
          <a:xfrm xmlns:a="http://schemas.openxmlformats.org/drawingml/2006/main">
            <a:off x="474345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Environment variables or external secret files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Encrypted Spotify token storage</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No credentials committed to appsettings.json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Authorization values stay transient in the API Runner</a:t>
            </a:r>
          </a:p>
        </p:txBody>
      </p:sp>
      <p:sp>
        <p:nvSpPr>
          <p:cNvPr id="9" name="">
            <a:extLst xmlns:a="http://schemas.openxmlformats.org/drawingml/2006/main">
              <a:ext uri="{FF2B5EF4-FFF2-40B4-BE49-F238E27FC236}">
                <a16:creationId xmlns:a16="http://schemas.microsoft.com/office/drawing/2014/main" id="{BF8C0837-5AE1-4975-A700-BEE507B6D20D}"/>
              </a:ext>
            </a:extLst>
          </p:cNvPr>
          <p:cNvSpPr>
            <a:spLocks xmlns:a="http://schemas.openxmlformats.org/drawingml/2006/main" noGrp="1"/>
          </p:cNvSpPr>
          <p:nvPr/>
        </p:nvSpPr>
        <p:spPr>
          <a:xfrm xmlns:a="http://schemas.openxmlformats.org/drawingml/2006/main">
            <a:off x="8191500" y="1676400"/>
            <a:ext cx="3314700" cy="3429000"/>
          </a:xfrm>
          <a:prstGeom xmlns:a="http://schemas.openxmlformats.org/drawingml/2006/main" prst="roundRect">
            <a:avLst>
              <a:gd name="adj" fmla="val 5747"/>
            </a:avLst>
          </a:prstGeom>
          <a:solidFill xmlns:a="http://schemas.openxmlformats.org/drawingml/2006/main">
            <a:srgbClr val="172846"/>
          </a:solidFill>
          <a:ln xmlns:a="http://schemas.openxmlformats.org/drawingml/2006/main" w="9525">
            <a:solidFill>
              <a:srgbClr val="2B4168"/>
            </a:solidFill>
          </a:ln>
        </p:spPr>
      </p:sp>
      <p:sp>
        <p:nvSpPr>
          <p:cNvPr id="10" name="">
            <a:extLst xmlns:a="http://schemas.openxmlformats.org/drawingml/2006/main">
              <a:ext uri="{FF2B5EF4-FFF2-40B4-BE49-F238E27FC236}">
                <a16:creationId xmlns:a16="http://schemas.microsoft.com/office/drawing/2014/main" id="{CBDF8D7D-1881-4A07-8AD0-B1FC15533931}"/>
              </a:ext>
            </a:extLst>
          </p:cNvPr>
          <p:cNvSpPr>
            <a:spLocks xmlns:a="http://schemas.openxmlformats.org/drawingml/2006/main" noGrp="1"/>
          </p:cNvSpPr>
          <p:nvPr/>
        </p:nvSpPr>
        <p:spPr>
          <a:xfrm xmlns:a="http://schemas.openxmlformats.org/drawingml/2006/main">
            <a:off x="8496300" y="19812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202"/>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Administrative actions</a:t>
            </a:r>
          </a:p>
        </p:txBody>
      </p:sp>
      <p:sp>
        <p:nvSpPr>
          <p:cNvPr id="11" name="">
            <a:extLst xmlns:a="http://schemas.openxmlformats.org/drawingml/2006/main">
              <a:ext uri="{FF2B5EF4-FFF2-40B4-BE49-F238E27FC236}">
                <a16:creationId xmlns:a16="http://schemas.microsoft.com/office/drawing/2014/main" id="{F8738BDE-1D6F-4F05-AEA1-A1CF989A3E9F}"/>
              </a:ext>
            </a:extLst>
          </p:cNvPr>
          <p:cNvSpPr>
            <a:spLocks xmlns:a="http://schemas.openxmlformats.org/drawingml/2006/main" noGrp="1"/>
          </p:cNvSpPr>
          <p:nvPr/>
        </p:nvSpPr>
        <p:spPr>
          <a:xfrm xmlns:a="http://schemas.openxmlformats.org/drawingml/2006/main">
            <a:off x="84963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Separate administrator authentication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Rate limits and antiforgery protection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Process termination disabled unless explicitly enabled</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Production diagnostics can be hidden completely</a:t>
            </a:r>
          </a:p>
        </p:txBody>
      </p:sp>
      <p:sp>
        <p:nvSpPr>
          <p:cNvPr id="12" name="">
            <a:extLst xmlns:a="http://schemas.openxmlformats.org/drawingml/2006/main">
              <a:ext uri="{FF2B5EF4-FFF2-40B4-BE49-F238E27FC236}">
                <a16:creationId xmlns:a16="http://schemas.microsoft.com/office/drawing/2014/main" id="{5C647C99-4835-4B41-96E2-3467EB41E2FA}"/>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CB76"/>
                </a:solidFill>
                <a:latin typeface="Arial"/>
                <a:ea typeface="Arial"/>
                <a:cs typeface="Arial"/>
              </a:defRPr>
            </a:pPr>
            <a:r>
              <a:rPr sz="1800" b="1">
                <a:solidFill>
                  <a:srgbClr val="FFCB76"/>
                </a:solidFill>
                <a:latin typeface="Arial"/>
                <a:ea typeface="Arial"/>
                <a:cs typeface="Arial"/>
              </a:rPr>
              <a:t>Public deployments should place diagnostic pages behind authenticated access.</a:t>
            </a:r>
          </a:p>
        </p:txBody>
      </p:sp>
      <p:sp>
        <p:nvSpPr>
          <p:cNvPr id="13" name="">
            <a:extLst xmlns:a="http://schemas.openxmlformats.org/drawingml/2006/main">
              <a:ext uri="{FF2B5EF4-FFF2-40B4-BE49-F238E27FC236}">
                <a16:creationId xmlns:a16="http://schemas.microsoft.com/office/drawing/2014/main" id="{7EB9A932-600A-474B-8DF2-8349C6387729}"/>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4" name="">
            <a:extLst xmlns:a="http://schemas.openxmlformats.org/drawingml/2006/main">
              <a:ext uri="{FF2B5EF4-FFF2-40B4-BE49-F238E27FC236}">
                <a16:creationId xmlns:a16="http://schemas.microsoft.com/office/drawing/2014/main" id="{A6DF4DA6-8C0F-4176-804A-FD67273372E1}"/>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09</a:t>
            </a:r>
          </a:p>
        </p:txBody>
      </p:sp>
    </p:spTree>
    <p:extLst>
      <p:ext uri="{BB962C8B-B14F-4D97-AF65-F5344CB8AC3E}">
        <p14:creationId xmlns:p14="http://schemas.microsoft.com/office/powerpoint/2010/main" val="9414627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B422202-4B54-4D6A-8F95-466DDB358F46}"/>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OPERATE</a:t>
            </a:r>
          </a:p>
        </p:txBody>
      </p:sp>
      <p:sp>
        <p:nvSpPr>
          <p:cNvPr id="2" name="">
            <a:extLst xmlns:a="http://schemas.openxmlformats.org/drawingml/2006/main">
              <a:ext uri="{FF2B5EF4-FFF2-40B4-BE49-F238E27FC236}">
                <a16:creationId xmlns:a16="http://schemas.microsoft.com/office/drawing/2014/main" id="{2CD64EE2-2E95-4BDB-ADEB-FE86A82EE6EA}"/>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Deployment and configuration</a:t>
            </a:r>
          </a:p>
        </p:txBody>
      </p:sp>
      <p:sp>
        <p:nvSpPr>
          <p:cNvPr id="3" name="">
            <a:extLst xmlns:a="http://schemas.openxmlformats.org/drawingml/2006/main">
              <a:ext uri="{FF2B5EF4-FFF2-40B4-BE49-F238E27FC236}">
                <a16:creationId xmlns:a16="http://schemas.microsoft.com/office/drawing/2014/main" id="{C4C78665-9727-4CBB-B3DC-2ACDD3A810D2}"/>
              </a:ext>
            </a:extLst>
          </p:cNvPr>
          <p:cNvSpPr>
            <a:spLocks xmlns:a="http://schemas.openxmlformats.org/drawingml/2006/main" noGrp="1"/>
          </p:cNvSpPr>
          <p:nvPr/>
        </p:nvSpPr>
        <p:spPr>
          <a:xfrm xmlns:a="http://schemas.openxmlformats.org/drawingml/2006/main">
            <a:off x="685800" y="1809750"/>
            <a:ext cx="2381250" cy="1257300"/>
          </a:xfrm>
          <a:prstGeom xmlns:a="http://schemas.openxmlformats.org/drawingml/2006/main" prst="roundRect">
            <a:avLst>
              <a:gd name="adj" fmla="val 13636"/>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A11D0B75-DFFC-456C-B9AF-0EF1F3677CA3}"/>
              </a:ext>
            </a:extLst>
          </p:cNvPr>
          <p:cNvSpPr>
            <a:spLocks xmlns:a="http://schemas.openxmlformats.org/drawingml/2006/main" noGrp="1"/>
          </p:cNvSpPr>
          <p:nvPr/>
        </p:nvSpPr>
        <p:spPr>
          <a:xfrm xmlns:a="http://schemas.openxmlformats.org/drawingml/2006/main">
            <a:off x="91440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994"/>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Local development</a:t>
            </a:r>
          </a:p>
        </p:txBody>
      </p:sp>
      <p:sp>
        <p:nvSpPr>
          <p:cNvPr id="5" name="">
            <a:extLst xmlns:a="http://schemas.openxmlformats.org/drawingml/2006/main">
              <a:ext uri="{FF2B5EF4-FFF2-40B4-BE49-F238E27FC236}">
                <a16:creationId xmlns:a16="http://schemas.microsoft.com/office/drawing/2014/main" id="{41634306-DD61-4DF5-977B-8B017A17B887}"/>
              </a:ext>
            </a:extLst>
          </p:cNvPr>
          <p:cNvSpPr>
            <a:spLocks xmlns:a="http://schemas.openxmlformats.org/drawingml/2006/main" noGrp="1"/>
          </p:cNvSpPr>
          <p:nvPr/>
        </p:nvSpPr>
        <p:spPr>
          <a:xfrm xmlns:a="http://schemas.openxmlformats.org/drawingml/2006/main">
            <a:off x="91440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.NET 9 SDK</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Secrets</a:t>
            </a:r>
          </a:p>
        </p:txBody>
      </p:sp>
      <p:sp>
        <p:nvSpPr>
          <p:cNvPr id="6" name="">
            <a:extLst xmlns:a="http://schemas.openxmlformats.org/drawingml/2006/main">
              <a:ext uri="{FF2B5EF4-FFF2-40B4-BE49-F238E27FC236}">
                <a16:creationId xmlns:a16="http://schemas.microsoft.com/office/drawing/2014/main" id="{25FB8791-ADD4-4231-93C4-AFDCA00BF5A7}"/>
              </a:ext>
            </a:extLst>
          </p:cNvPr>
          <p:cNvSpPr>
            <a:spLocks xmlns:a="http://schemas.openxmlformats.org/drawingml/2006/main" noGrp="1"/>
          </p:cNvSpPr>
          <p:nvPr/>
        </p:nvSpPr>
        <p:spPr>
          <a:xfrm xmlns:a="http://schemas.openxmlformats.org/drawingml/2006/main">
            <a:off x="4905375" y="1809750"/>
            <a:ext cx="2381250" cy="1257300"/>
          </a:xfrm>
          <a:prstGeom xmlns:a="http://schemas.openxmlformats.org/drawingml/2006/main" prst="roundRect">
            <a:avLst>
              <a:gd name="adj" fmla="val 13636"/>
            </a:avLst>
          </a:prstGeom>
          <a:solidFill xmlns:a="http://schemas.openxmlformats.org/drawingml/2006/main">
            <a:srgbClr val="EEF0F6"/>
          </a:solidFill>
          <a:ln xmlns:a="http://schemas.openxmlformats.org/drawingml/2006/main" w="9525">
            <a:solidFill>
              <a:srgbClr val="C7CFDD"/>
            </a:solidFill>
          </a:ln>
        </p:spPr>
      </p:sp>
      <p:sp>
        <p:nvSpPr>
          <p:cNvPr id="7" name="">
            <a:extLst xmlns:a="http://schemas.openxmlformats.org/drawingml/2006/main">
              <a:ext uri="{FF2B5EF4-FFF2-40B4-BE49-F238E27FC236}">
                <a16:creationId xmlns:a16="http://schemas.microsoft.com/office/drawing/2014/main" id="{B58BA944-E1E6-4D26-AB49-CFB73FE3F5D0}"/>
              </a:ext>
            </a:extLst>
          </p:cNvPr>
          <p:cNvSpPr>
            <a:spLocks xmlns:a="http://schemas.openxmlformats.org/drawingml/2006/main" noGrp="1"/>
          </p:cNvSpPr>
          <p:nvPr/>
        </p:nvSpPr>
        <p:spPr>
          <a:xfrm xmlns:a="http://schemas.openxmlformats.org/drawingml/2006/main">
            <a:off x="5133975"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Docker image</a:t>
            </a:r>
          </a:p>
        </p:txBody>
      </p:sp>
      <p:sp>
        <p:nvSpPr>
          <p:cNvPr id="8" name="">
            <a:extLst xmlns:a="http://schemas.openxmlformats.org/drawingml/2006/main">
              <a:ext uri="{FF2B5EF4-FFF2-40B4-BE49-F238E27FC236}">
                <a16:creationId xmlns:a16="http://schemas.microsoft.com/office/drawing/2014/main" id="{6FA92E89-0A57-411E-B449-D336C8308E52}"/>
              </a:ext>
            </a:extLst>
          </p:cNvPr>
          <p:cNvSpPr>
            <a:spLocks xmlns:a="http://schemas.openxmlformats.org/drawingml/2006/main" noGrp="1"/>
          </p:cNvSpPr>
          <p:nvPr/>
        </p:nvSpPr>
        <p:spPr>
          <a:xfrm xmlns:a="http://schemas.openxmlformats.org/drawingml/2006/main">
            <a:off x="5133975"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Published application</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Non-root container user</a:t>
            </a:r>
          </a:p>
        </p:txBody>
      </p:sp>
      <p:sp>
        <p:nvSpPr>
          <p:cNvPr id="9" name="">
            <a:extLst xmlns:a="http://schemas.openxmlformats.org/drawingml/2006/main">
              <a:ext uri="{FF2B5EF4-FFF2-40B4-BE49-F238E27FC236}">
                <a16:creationId xmlns:a16="http://schemas.microsoft.com/office/drawing/2014/main" id="{DCF1E347-6184-4F46-94E2-BADF97724CF4}"/>
              </a:ext>
            </a:extLst>
          </p:cNvPr>
          <p:cNvSpPr>
            <a:spLocks xmlns:a="http://schemas.openxmlformats.org/drawingml/2006/main" noGrp="1"/>
          </p:cNvSpPr>
          <p:nvPr/>
        </p:nvSpPr>
        <p:spPr>
          <a:xfrm xmlns:a="http://schemas.openxmlformats.org/drawingml/2006/main">
            <a:off x="9124950" y="1809750"/>
            <a:ext cx="2381250" cy="1257300"/>
          </a:xfrm>
          <a:prstGeom xmlns:a="http://schemas.openxmlformats.org/drawingml/2006/main" prst="roundRect">
            <a:avLst>
              <a:gd name="adj" fmla="val 13636"/>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8E2DB862-98F2-4AA7-A7CD-4FF4C78608AA}"/>
              </a:ext>
            </a:extLst>
          </p:cNvPr>
          <p:cNvSpPr>
            <a:spLocks xmlns:a="http://schemas.openxmlformats.org/drawingml/2006/main" noGrp="1"/>
          </p:cNvSpPr>
          <p:nvPr/>
        </p:nvSpPr>
        <p:spPr>
          <a:xfrm xmlns:a="http://schemas.openxmlformats.org/drawingml/2006/main">
            <a:off x="935355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Render service</a:t>
            </a:r>
          </a:p>
        </p:txBody>
      </p:sp>
      <p:sp>
        <p:nvSpPr>
          <p:cNvPr id="11" name="">
            <a:extLst xmlns:a="http://schemas.openxmlformats.org/drawingml/2006/main">
              <a:ext uri="{FF2B5EF4-FFF2-40B4-BE49-F238E27FC236}">
                <a16:creationId xmlns:a16="http://schemas.microsoft.com/office/drawing/2014/main" id="{88125624-BBEF-45EB-AC27-A122B2886B0B}"/>
              </a:ext>
            </a:extLst>
          </p:cNvPr>
          <p:cNvSpPr>
            <a:spLocks xmlns:a="http://schemas.openxmlformats.org/drawingml/2006/main" noGrp="1"/>
          </p:cNvSpPr>
          <p:nvPr/>
        </p:nvSpPr>
        <p:spPr>
          <a:xfrm xmlns:a="http://schemas.openxmlformats.org/drawingml/2006/main">
            <a:off x="935355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HTTPS proxy</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Persistent data volume</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067050" y="2438400"/>
            <a:ext cx="1838325" cy="0"/>
          </a:xfrm>
          <a:prstGeom xmlns:a="http://schemas.openxmlformats.org/drawingml/2006/main" prst="straightConnector1">
            <a:avLst/>
          </a:prstGeom>
          <a:ln xmlns:a="http://schemas.openxmlformats.org/drawingml/2006/main" w="28575">
            <a:solidFill>
              <a:srgbClr val="3976ED"/>
            </a:solidFill>
            <a:prstDash val="solid"/>
            <a:headEnd type="triangle" w="sm" len="sm"/>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286625" y="2438400"/>
            <a:ext cx="1838325" cy="0"/>
          </a:xfrm>
          <a:prstGeom xmlns:a="http://schemas.openxmlformats.org/drawingml/2006/main" prst="straightConnector1">
            <a:avLst/>
          </a:prstGeom>
          <a:ln xmlns:a="http://schemas.openxmlformats.org/drawingml/2006/main" w="28575">
            <a:solidFill>
              <a:srgbClr val="17965A"/>
            </a:solidFill>
            <a:prstDash val="solid"/>
            <a:headEnd type="triangle" w="sm" len="sm"/>
          </a:ln>
        </p:spPr>
      </p:cxnSp>
      <p:sp>
        <p:nvSpPr>
          <p:cNvPr id="14" name="">
            <a:extLst xmlns:a="http://schemas.openxmlformats.org/drawingml/2006/main">
              <a:ext uri="{FF2B5EF4-FFF2-40B4-BE49-F238E27FC236}">
                <a16:creationId xmlns:a16="http://schemas.microsoft.com/office/drawing/2014/main" id="{83816CAF-6CCF-46F9-8633-DAB17981ECDD}"/>
              </a:ext>
            </a:extLst>
          </p:cNvPr>
          <p:cNvSpPr>
            <a:spLocks xmlns:a="http://schemas.openxmlformats.org/drawingml/2006/main" noGrp="1"/>
          </p:cNvSpPr>
          <p:nvPr/>
        </p:nvSpPr>
        <p:spPr>
          <a:xfrm xmlns:a="http://schemas.openxmlformats.org/drawingml/2006/main">
            <a:off x="685800" y="38100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Configuration that must stay outside Git</a:t>
            </a:r>
          </a:p>
        </p:txBody>
      </p:sp>
      <p:sp>
        <p:nvSpPr>
          <p:cNvPr id="15" name="">
            <a:extLst xmlns:a="http://schemas.openxmlformats.org/drawingml/2006/main">
              <a:ext uri="{FF2B5EF4-FFF2-40B4-BE49-F238E27FC236}">
                <a16:creationId xmlns:a16="http://schemas.microsoft.com/office/drawing/2014/main" id="{05BF16BF-1233-4F2F-8E18-017074E4AA5F}"/>
              </a:ext>
            </a:extLst>
          </p:cNvPr>
          <p:cNvSpPr>
            <a:spLocks xmlns:a="http://schemas.openxmlformats.org/drawingml/2006/main" noGrp="1"/>
          </p:cNvSpPr>
          <p:nvPr/>
        </p:nvSpPr>
        <p:spPr>
          <a:xfrm xmlns:a="http://schemas.openxmlformats.org/drawingml/2006/main">
            <a:off x="685800" y="43243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Spotify client ID and secret</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Administrator password</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SMTP credentials and webhook destinations</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External secrets file and persistent encryption keys</a:t>
            </a:r>
          </a:p>
        </p:txBody>
      </p:sp>
      <p:sp>
        <p:nvSpPr>
          <p:cNvPr id="16" name="">
            <a:extLst xmlns:a="http://schemas.openxmlformats.org/drawingml/2006/main">
              <a:ext uri="{FF2B5EF4-FFF2-40B4-BE49-F238E27FC236}">
                <a16:creationId xmlns:a16="http://schemas.microsoft.com/office/drawing/2014/main" id="{EAA3BFA4-4CDB-4A54-ABA9-F33E38A69A3D}"/>
              </a:ext>
            </a:extLst>
          </p:cNvPr>
          <p:cNvSpPr>
            <a:spLocks xmlns:a="http://schemas.openxmlformats.org/drawingml/2006/main" noGrp="1"/>
          </p:cNvSpPr>
          <p:nvPr/>
        </p:nvSpPr>
        <p:spPr>
          <a:xfrm xmlns:a="http://schemas.openxmlformats.org/drawingml/2006/main">
            <a:off x="6572250" y="38100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Deployment checks</a:t>
            </a:r>
          </a:p>
        </p:txBody>
      </p:sp>
      <p:sp>
        <p:nvSpPr>
          <p:cNvPr id="17" name="">
            <a:extLst xmlns:a="http://schemas.openxmlformats.org/drawingml/2006/main">
              <a:ext uri="{FF2B5EF4-FFF2-40B4-BE49-F238E27FC236}">
                <a16:creationId xmlns:a16="http://schemas.microsoft.com/office/drawing/2014/main" id="{6DFF8B92-1147-479F-A98D-0142FEC92C84}"/>
              </a:ext>
            </a:extLst>
          </p:cNvPr>
          <p:cNvSpPr>
            <a:spLocks xmlns:a="http://schemas.openxmlformats.org/drawingml/2006/main" noGrp="1"/>
          </p:cNvSpPr>
          <p:nvPr/>
        </p:nvSpPr>
        <p:spPr>
          <a:xfrm xmlns:a="http://schemas.openxmlformats.org/drawingml/2006/main">
            <a:off x="6572250" y="432435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Health endpoint at /healthz</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Correct Spotify callback URL</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Trusted reverse proxy configuration</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Diagnostics exposure reviewed before launch</a:t>
            </a:r>
          </a:p>
        </p:txBody>
      </p:sp>
      <p:sp>
        <p:nvSpPr>
          <p:cNvPr id="18" name="">
            <a:extLst xmlns:a="http://schemas.openxmlformats.org/drawingml/2006/main">
              <a:ext uri="{FF2B5EF4-FFF2-40B4-BE49-F238E27FC236}">
                <a16:creationId xmlns:a16="http://schemas.microsoft.com/office/drawing/2014/main" id="{5EA2CBC0-1973-48D6-8751-6905E6898782}"/>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97F90C99-D45E-4ACE-9D3C-7E31254C2A8B}"/>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10</a:t>
            </a:r>
          </a:p>
        </p:txBody>
      </p:sp>
    </p:spTree>
    <p:extLst>
      <p:ext uri="{BB962C8B-B14F-4D97-AF65-F5344CB8AC3E}">
        <p14:creationId xmlns:p14="http://schemas.microsoft.com/office/powerpoint/2010/main" val="307240224"/>
      </p:ext>
    </p:extLst>
  </p:cSld>
</p:sld>
</file>

<file path=ppt/slides/slide1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EACA41A-C036-493A-B51D-011EB6CB3011}"/>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QUALITY</a:t>
            </a:r>
          </a:p>
        </p:txBody>
      </p:sp>
      <p:sp>
        <p:nvSpPr>
          <p:cNvPr id="2" name="">
            <a:extLst xmlns:a="http://schemas.openxmlformats.org/drawingml/2006/main">
              <a:ext uri="{FF2B5EF4-FFF2-40B4-BE49-F238E27FC236}">
                <a16:creationId xmlns:a16="http://schemas.microsoft.com/office/drawing/2014/main" id="{6B9A6CAB-EC45-48BA-B0BE-076BD15572B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Verification and release status</a:t>
            </a:r>
          </a:p>
        </p:txBody>
      </p:sp>
      <p:sp>
        <p:nvSpPr>
          <p:cNvPr id="3" name="">
            <a:extLst xmlns:a="http://schemas.openxmlformats.org/drawingml/2006/main">
              <a:ext uri="{FF2B5EF4-FFF2-40B4-BE49-F238E27FC236}">
                <a16:creationId xmlns:a16="http://schemas.microsoft.com/office/drawing/2014/main" id="{8C939AE6-A15D-4A94-A0A5-F51E72A7AC1A}"/>
              </a:ext>
            </a:extLst>
          </p:cNvPr>
          <p:cNvSpPr>
            <a:spLocks xmlns:a="http://schemas.openxmlformats.org/drawingml/2006/main" noGrp="1"/>
          </p:cNvSpPr>
          <p:nvPr/>
        </p:nvSpPr>
        <p:spPr>
          <a:xfrm xmlns:a="http://schemas.openxmlformats.org/drawingml/2006/main">
            <a:off x="723900" y="1714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17965A"/>
                </a:solidFill>
                <a:latin typeface="Arial"/>
                <a:ea typeface="Arial"/>
                <a:cs typeface="Arial"/>
              </a:defRPr>
            </a:pPr>
            <a:r>
              <a:rPr sz="5400" b="1">
                <a:solidFill>
                  <a:srgbClr val="17965A"/>
                </a:solidFill>
                <a:latin typeface="Arial"/>
                <a:ea typeface="Arial"/>
                <a:cs typeface="Arial"/>
              </a:rPr>
              <a:t>79 / 79</a:t>
            </a:r>
          </a:p>
        </p:txBody>
      </p:sp>
      <p:sp>
        <p:nvSpPr>
          <p:cNvPr id="4" name="">
            <a:extLst xmlns:a="http://schemas.openxmlformats.org/drawingml/2006/main">
              <a:ext uri="{FF2B5EF4-FFF2-40B4-BE49-F238E27FC236}">
                <a16:creationId xmlns:a16="http://schemas.microsoft.com/office/drawing/2014/main" id="{56497F3F-E47C-42EA-9A3B-6B2BFC4E4D49}"/>
              </a:ext>
            </a:extLst>
          </p:cNvPr>
          <p:cNvSpPr>
            <a:spLocks xmlns:a="http://schemas.openxmlformats.org/drawingml/2006/main" noGrp="1"/>
          </p:cNvSpPr>
          <p:nvPr/>
        </p:nvSpPr>
        <p:spPr>
          <a:xfrm xmlns:a="http://schemas.openxmlformats.org/drawingml/2006/main">
            <a:off x="762000" y="26289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158"/>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automated regression checks passed</a:t>
            </a:r>
          </a:p>
        </p:txBody>
      </p:sp>
      <p:sp>
        <p:nvSpPr>
          <p:cNvPr id="5" name="">
            <a:extLst xmlns:a="http://schemas.openxmlformats.org/drawingml/2006/main">
              <a:ext uri="{FF2B5EF4-FFF2-40B4-BE49-F238E27FC236}">
                <a16:creationId xmlns:a16="http://schemas.microsoft.com/office/drawing/2014/main" id="{D849D451-2F2A-4141-990F-311F17CB261D}"/>
              </a:ext>
            </a:extLst>
          </p:cNvPr>
          <p:cNvSpPr>
            <a:spLocks xmlns:a="http://schemas.openxmlformats.org/drawingml/2006/main" noGrp="1"/>
          </p:cNvSpPr>
          <p:nvPr/>
        </p:nvSpPr>
        <p:spPr>
          <a:xfrm xmlns:a="http://schemas.openxmlformats.org/drawingml/2006/main">
            <a:off x="762000" y="3219450"/>
            <a:ext cx="4476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F6F8C"/>
                </a:solidFill>
                <a:latin typeface="Arial"/>
                <a:ea typeface="Arial"/>
                <a:cs typeface="Arial"/>
              </a:defRPr>
            </a:pPr>
            <a:r>
              <a:rPr sz="1575" b="0">
                <a:solidFill>
                  <a:srgbClr val="5F6F8C"/>
                </a:solidFill>
                <a:latin typeface="Arial"/>
                <a:ea typeface="Arial"/>
                <a:cs typeface="Arial"/>
              </a:rPr>
              <a:t>Coverage includes Spotify parsing and sessions, cryptography, network safety, website audit behavior, telemetry persistence, API boundaries, and DNS email-policy analysis.</a:t>
            </a:r>
          </a:p>
        </p:txBody>
      </p:sp>
      <p:sp>
        <p:nvSpPr>
          <p:cNvPr id="6" name="">
            <a:extLst xmlns:a="http://schemas.openxmlformats.org/drawingml/2006/main">
              <a:ext uri="{FF2B5EF4-FFF2-40B4-BE49-F238E27FC236}">
                <a16:creationId xmlns:a16="http://schemas.microsoft.com/office/drawing/2014/main" id="{B206468A-02E3-461E-A2B2-C17E4F730F74}"/>
              </a:ext>
            </a:extLst>
          </p:cNvPr>
          <p:cNvSpPr>
            <a:spLocks xmlns:a="http://schemas.openxmlformats.org/drawingml/2006/main" noGrp="1"/>
          </p:cNvSpPr>
          <p:nvPr/>
        </p:nvSpPr>
        <p:spPr>
          <a:xfrm xmlns:a="http://schemas.openxmlformats.org/drawingml/2006/main">
            <a:off x="6000750" y="15811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7" name="">
            <a:extLst xmlns:a="http://schemas.openxmlformats.org/drawingml/2006/main">
              <a:ext uri="{FF2B5EF4-FFF2-40B4-BE49-F238E27FC236}">
                <a16:creationId xmlns:a16="http://schemas.microsoft.com/office/drawing/2014/main" id="{952DA876-3DA4-48DB-A22C-64F68A4AC86B}"/>
              </a:ext>
            </a:extLst>
          </p:cNvPr>
          <p:cNvSpPr>
            <a:spLocks xmlns:a="http://schemas.openxmlformats.org/drawingml/2006/main" noGrp="1"/>
          </p:cNvSpPr>
          <p:nvPr/>
        </p:nvSpPr>
        <p:spPr>
          <a:xfrm xmlns:a="http://schemas.openxmlformats.org/drawingml/2006/main">
            <a:off x="6267450" y="176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Release build</a:t>
            </a:r>
          </a:p>
        </p:txBody>
      </p:sp>
      <p:sp>
        <p:nvSpPr>
          <p:cNvPr id="8" name="">
            <a:extLst xmlns:a="http://schemas.openxmlformats.org/drawingml/2006/main">
              <a:ext uri="{FF2B5EF4-FFF2-40B4-BE49-F238E27FC236}">
                <a16:creationId xmlns:a16="http://schemas.microsoft.com/office/drawing/2014/main" id="{0C0ACF44-85C3-4F2A-9EB6-13502B0ECB0E}"/>
              </a:ext>
            </a:extLst>
          </p:cNvPr>
          <p:cNvSpPr>
            <a:spLocks xmlns:a="http://schemas.openxmlformats.org/drawingml/2006/main" noGrp="1"/>
          </p:cNvSpPr>
          <p:nvPr/>
        </p:nvSpPr>
        <p:spPr>
          <a:xfrm xmlns:a="http://schemas.openxmlformats.org/drawingml/2006/main">
            <a:off x="8667750" y="17621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0 warnings, 0 errors</a:t>
            </a:r>
          </a:p>
        </p:txBody>
      </p:sp>
      <p:sp>
        <p:nvSpPr>
          <p:cNvPr id="9" name="">
            <a:extLst xmlns:a="http://schemas.openxmlformats.org/drawingml/2006/main">
              <a:ext uri="{FF2B5EF4-FFF2-40B4-BE49-F238E27FC236}">
                <a16:creationId xmlns:a16="http://schemas.microsoft.com/office/drawing/2014/main" id="{94D76A43-58E8-4260-BD5B-55A2E2EB5C7C}"/>
              </a:ext>
            </a:extLst>
          </p:cNvPr>
          <p:cNvSpPr>
            <a:spLocks xmlns:a="http://schemas.openxmlformats.org/drawingml/2006/main" noGrp="1"/>
          </p:cNvSpPr>
          <p:nvPr/>
        </p:nvSpPr>
        <p:spPr>
          <a:xfrm xmlns:a="http://schemas.openxmlformats.org/drawingml/2006/main">
            <a:off x="6000750" y="247650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0" name="">
            <a:extLst xmlns:a="http://schemas.openxmlformats.org/drawingml/2006/main">
              <a:ext uri="{FF2B5EF4-FFF2-40B4-BE49-F238E27FC236}">
                <a16:creationId xmlns:a16="http://schemas.microsoft.com/office/drawing/2014/main" id="{5811290D-46F5-4B62-8F57-C62110D09976}"/>
              </a:ext>
            </a:extLst>
          </p:cNvPr>
          <p:cNvSpPr>
            <a:spLocks xmlns:a="http://schemas.openxmlformats.org/drawingml/2006/main" noGrp="1"/>
          </p:cNvSpPr>
          <p:nvPr/>
        </p:nvSpPr>
        <p:spPr>
          <a:xfrm xmlns:a="http://schemas.openxmlformats.org/drawingml/2006/main">
            <a:off x="6267450" y="26574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Code formatting</a:t>
            </a:r>
          </a:p>
        </p:txBody>
      </p:sp>
      <p:sp>
        <p:nvSpPr>
          <p:cNvPr id="11" name="">
            <a:extLst xmlns:a="http://schemas.openxmlformats.org/drawingml/2006/main">
              <a:ext uri="{FF2B5EF4-FFF2-40B4-BE49-F238E27FC236}">
                <a16:creationId xmlns:a16="http://schemas.microsoft.com/office/drawing/2014/main" id="{4D1A6D19-A384-41E2-9ED0-A07899E9F5C9}"/>
              </a:ext>
            </a:extLst>
          </p:cNvPr>
          <p:cNvSpPr>
            <a:spLocks xmlns:a="http://schemas.openxmlformats.org/drawingml/2006/main" noGrp="1"/>
          </p:cNvSpPr>
          <p:nvPr/>
        </p:nvSpPr>
        <p:spPr>
          <a:xfrm xmlns:a="http://schemas.openxmlformats.org/drawingml/2006/main">
            <a:off x="8667750" y="2657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Verified</a:t>
            </a:r>
          </a:p>
        </p:txBody>
      </p:sp>
      <p:sp>
        <p:nvSpPr>
          <p:cNvPr id="12" name="">
            <a:extLst xmlns:a="http://schemas.openxmlformats.org/drawingml/2006/main">
              <a:ext uri="{FF2B5EF4-FFF2-40B4-BE49-F238E27FC236}">
                <a16:creationId xmlns:a16="http://schemas.microsoft.com/office/drawing/2014/main" id="{DAAAD53D-54B5-49F3-A1EB-C06D769BA43C}"/>
              </a:ext>
            </a:extLst>
          </p:cNvPr>
          <p:cNvSpPr>
            <a:spLocks xmlns:a="http://schemas.openxmlformats.org/drawingml/2006/main" noGrp="1"/>
          </p:cNvSpPr>
          <p:nvPr/>
        </p:nvSpPr>
        <p:spPr>
          <a:xfrm xmlns:a="http://schemas.openxmlformats.org/drawingml/2006/main">
            <a:off x="6000750" y="33718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3" name="">
            <a:extLst xmlns:a="http://schemas.openxmlformats.org/drawingml/2006/main">
              <a:ext uri="{FF2B5EF4-FFF2-40B4-BE49-F238E27FC236}">
                <a16:creationId xmlns:a16="http://schemas.microsoft.com/office/drawing/2014/main" id="{8BCB918A-B4EA-48CC-8A9D-B07A25867D1C}"/>
              </a:ext>
            </a:extLst>
          </p:cNvPr>
          <p:cNvSpPr>
            <a:spLocks xmlns:a="http://schemas.openxmlformats.org/drawingml/2006/main" noGrp="1"/>
          </p:cNvSpPr>
          <p:nvPr/>
        </p:nvSpPr>
        <p:spPr>
          <a:xfrm xmlns:a="http://schemas.openxmlformats.org/drawingml/2006/main">
            <a:off x="6267450" y="3552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498"/>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Published HTTP smoke suite</a:t>
            </a:r>
          </a:p>
        </p:txBody>
      </p:sp>
      <p:sp>
        <p:nvSpPr>
          <p:cNvPr id="14" name="">
            <a:extLst xmlns:a="http://schemas.openxmlformats.org/drawingml/2006/main">
              <a:ext uri="{FF2B5EF4-FFF2-40B4-BE49-F238E27FC236}">
                <a16:creationId xmlns:a16="http://schemas.microsoft.com/office/drawing/2014/main" id="{64F08535-1841-4A00-90EC-AF2187CFE807}"/>
              </a:ext>
            </a:extLst>
          </p:cNvPr>
          <p:cNvSpPr>
            <a:spLocks xmlns:a="http://schemas.openxmlformats.org/drawingml/2006/main" noGrp="1"/>
          </p:cNvSpPr>
          <p:nvPr/>
        </p:nvSpPr>
        <p:spPr>
          <a:xfrm xmlns:a="http://schemas.openxmlformats.org/drawingml/2006/main">
            <a:off x="9505950" y="35528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Passed</a:t>
            </a:r>
          </a:p>
        </p:txBody>
      </p:sp>
      <p:sp>
        <p:nvSpPr>
          <p:cNvPr id="15" name="">
            <a:extLst xmlns:a="http://schemas.openxmlformats.org/drawingml/2006/main">
              <a:ext uri="{FF2B5EF4-FFF2-40B4-BE49-F238E27FC236}">
                <a16:creationId xmlns:a16="http://schemas.microsoft.com/office/drawing/2014/main" id="{A579D612-4E3F-4309-81E9-0CC10D4E97EB}"/>
              </a:ext>
            </a:extLst>
          </p:cNvPr>
          <p:cNvSpPr>
            <a:spLocks xmlns:a="http://schemas.openxmlformats.org/drawingml/2006/main" noGrp="1"/>
          </p:cNvSpPr>
          <p:nvPr/>
        </p:nvSpPr>
        <p:spPr>
          <a:xfrm xmlns:a="http://schemas.openxmlformats.org/drawingml/2006/main">
            <a:off x="6000750" y="4476750"/>
            <a:ext cx="4953000" cy="1066800"/>
          </a:xfrm>
          <a:prstGeom xmlns:a="http://schemas.openxmlformats.org/drawingml/2006/main" prst="roundRect">
            <a:avLst>
              <a:gd name="adj" fmla="val 12500"/>
            </a:avLst>
          </a:prstGeom>
          <a:solidFill xmlns:a="http://schemas.openxmlformats.org/drawingml/2006/main">
            <a:srgbClr val="FFF5E6"/>
          </a:solidFill>
          <a:ln xmlns:a="http://schemas.openxmlformats.org/drawingml/2006/main" w="9525">
            <a:solidFill>
              <a:srgbClr val="E8C991"/>
            </a:solidFill>
          </a:ln>
        </p:spPr>
      </p:sp>
      <p:sp>
        <p:nvSpPr>
          <p:cNvPr id="16" name="">
            <a:extLst xmlns:a="http://schemas.openxmlformats.org/drawingml/2006/main">
              <a:ext uri="{FF2B5EF4-FFF2-40B4-BE49-F238E27FC236}">
                <a16:creationId xmlns:a16="http://schemas.microsoft.com/office/drawing/2014/main" id="{2D051F84-8577-4645-A548-D4F6D8742152}"/>
              </a:ext>
            </a:extLst>
          </p:cNvPr>
          <p:cNvSpPr>
            <a:spLocks xmlns:a="http://schemas.openxmlformats.org/drawingml/2006/main" noGrp="1"/>
          </p:cNvSpPr>
          <p:nvPr/>
        </p:nvSpPr>
        <p:spPr>
          <a:xfrm xmlns:a="http://schemas.openxmlformats.org/drawingml/2006/main">
            <a:off x="6267450" y="46672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4861A"/>
                </a:solidFill>
                <a:latin typeface="Arial"/>
                <a:ea typeface="Arial"/>
                <a:cs typeface="Arial"/>
              </a:defRPr>
            </a:pPr>
            <a:r>
              <a:rPr sz="1650" b="1">
                <a:solidFill>
                  <a:srgbClr val="D4861A"/>
                </a:solidFill>
                <a:latin typeface="Arial"/>
                <a:ea typeface="Arial"/>
                <a:cs typeface="Arial"/>
              </a:rPr>
              <a:t>Public launch checkpoint</a:t>
            </a:r>
          </a:p>
        </p:txBody>
      </p:sp>
      <p:sp>
        <p:nvSpPr>
          <p:cNvPr id="17" name="">
            <a:extLst xmlns:a="http://schemas.openxmlformats.org/drawingml/2006/main">
              <a:ext uri="{FF2B5EF4-FFF2-40B4-BE49-F238E27FC236}">
                <a16:creationId xmlns:a16="http://schemas.microsoft.com/office/drawing/2014/main" id="{6E91B7BB-7196-4F00-B02E-7EA13CF9DF74}"/>
              </a:ext>
            </a:extLst>
          </p:cNvPr>
          <p:cNvSpPr>
            <a:spLocks xmlns:a="http://schemas.openxmlformats.org/drawingml/2006/main" noGrp="1"/>
          </p:cNvSpPr>
          <p:nvPr/>
        </p:nvSpPr>
        <p:spPr>
          <a:xfrm xmlns:a="http://schemas.openxmlformats.org/drawingml/2006/main">
            <a:off x="6267450" y="50292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7A551B"/>
                </a:solidFill>
                <a:latin typeface="Arial"/>
                <a:ea typeface="Arial"/>
                <a:cs typeface="Arial"/>
              </a:defRPr>
            </a:pPr>
            <a:r>
              <a:rPr sz="1350" b="0">
                <a:solidFill>
                  <a:srgbClr val="7A551B"/>
                </a:solidFill>
                <a:latin typeface="Arial"/>
                <a:ea typeface="Arial"/>
                <a:cs typeface="Arial"/>
              </a:rPr>
              <a:t>Complete Google Search Console review and protect public diagnostic pages before broad promotion.</a:t>
            </a:r>
          </a:p>
        </p:txBody>
      </p:sp>
      <p:sp>
        <p:nvSpPr>
          <p:cNvPr id="18" name="">
            <a:extLst xmlns:a="http://schemas.openxmlformats.org/drawingml/2006/main">
              <a:ext uri="{FF2B5EF4-FFF2-40B4-BE49-F238E27FC236}">
                <a16:creationId xmlns:a16="http://schemas.microsoft.com/office/drawing/2014/main" id="{E7C9EAF4-3C5E-4B29-8031-729DDA95FD82}"/>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C45EF6FC-FCF5-4C33-B862-42B0BF2FD79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11</a:t>
            </a:r>
          </a:p>
        </p:txBody>
      </p:sp>
    </p:spTree>
    <p:extLst>
      <p:ext uri="{BB962C8B-B14F-4D97-AF65-F5344CB8AC3E}">
        <p14:creationId xmlns:p14="http://schemas.microsoft.com/office/powerpoint/2010/main" val="11809026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6BD187-039E-4FD5-BED6-F69BE4329B97}"/>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C86A7E13-EB36-4AD6-859A-722E00868C51}"/>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Presentation route and Version 2</a:t>
            </a:r>
          </a:p>
        </p:txBody>
      </p:sp>
      <p:sp>
        <p:nvSpPr>
          <p:cNvPr id="3" name="">
            <a:extLst xmlns:a="http://schemas.openxmlformats.org/drawingml/2006/main">
              <a:ext uri="{FF2B5EF4-FFF2-40B4-BE49-F238E27FC236}">
                <a16:creationId xmlns:a16="http://schemas.microsoft.com/office/drawing/2014/main" id="{0CDEB4AB-A790-4EF7-9C33-F7ACD225CB2B}"/>
              </a:ext>
            </a:extLst>
          </p:cNvPr>
          <p:cNvSpPr>
            <a:spLocks xmlns:a="http://schemas.openxmlformats.org/drawingml/2006/main" noGrp="1"/>
          </p:cNvSpPr>
          <p:nvPr/>
        </p:nvSpPr>
        <p:spPr>
          <a:xfrm xmlns:a="http://schemas.openxmlformats.org/drawingml/2006/main">
            <a:off x="685800" y="15811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72033"/>
                </a:solidFill>
                <a:latin typeface="Arial"/>
                <a:ea typeface="Arial"/>
                <a:cs typeface="Arial"/>
              </a:defRPr>
            </a:pPr>
            <a:r>
              <a:rPr sz="2175" b="1">
                <a:solidFill>
                  <a:srgbClr val="172033"/>
                </a:solidFill>
                <a:latin typeface="Arial"/>
                <a:ea typeface="Arial"/>
                <a:cs typeface="Arial"/>
              </a:rPr>
              <a:t>Suggested live demonstration</a:t>
            </a:r>
          </a:p>
        </p:txBody>
      </p:sp>
      <p:sp>
        <p:nvSpPr>
          <p:cNvPr id="4" name="">
            <a:extLst xmlns:a="http://schemas.openxmlformats.org/drawingml/2006/main">
              <a:ext uri="{FF2B5EF4-FFF2-40B4-BE49-F238E27FC236}">
                <a16:creationId xmlns:a16="http://schemas.microsoft.com/office/drawing/2014/main" id="{F32A5680-26F1-4DFE-AD5A-088B9C7C7FFF}"/>
              </a:ext>
            </a:extLst>
          </p:cNvPr>
          <p:cNvSpPr>
            <a:spLocks xmlns:a="http://schemas.openxmlformats.org/drawingml/2006/main" noGrp="1"/>
          </p:cNvSpPr>
          <p:nvPr/>
        </p:nvSpPr>
        <p:spPr>
          <a:xfrm xmlns:a="http://schemas.openxmlformats.org/drawingml/2006/main">
            <a:off x="742950" y="21526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657F199-D6B5-4B77-A84A-26D89335CAC7}"/>
              </a:ext>
            </a:extLst>
          </p:cNvPr>
          <p:cNvSpPr>
            <a:spLocks xmlns:a="http://schemas.openxmlformats.org/drawingml/2006/main" noGrp="1"/>
          </p:cNvSpPr>
          <p:nvPr/>
        </p:nvSpPr>
        <p:spPr>
          <a:xfrm xmlns:a="http://schemas.openxmlformats.org/drawingml/2006/main">
            <a:off x="1371600" y="21336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Overview</a:t>
            </a:r>
          </a:p>
        </p:txBody>
      </p:sp>
      <p:sp>
        <p:nvSpPr>
          <p:cNvPr id="6" name="">
            <a:extLst xmlns:a="http://schemas.openxmlformats.org/drawingml/2006/main">
              <a:ext uri="{FF2B5EF4-FFF2-40B4-BE49-F238E27FC236}">
                <a16:creationId xmlns:a16="http://schemas.microsoft.com/office/drawing/2014/main" id="{A47A76DF-A450-4A18-AD10-DDF74B7CD3EA}"/>
              </a:ext>
            </a:extLst>
          </p:cNvPr>
          <p:cNvSpPr>
            <a:spLocks xmlns:a="http://schemas.openxmlformats.org/drawingml/2006/main" noGrp="1"/>
          </p:cNvSpPr>
          <p:nvPr/>
        </p:nvSpPr>
        <p:spPr>
          <a:xfrm xmlns:a="http://schemas.openxmlformats.org/drawingml/2006/main">
            <a:off x="742950" y="27622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D29E77F-626E-4F3C-9EFD-E99EB809E8E1}"/>
              </a:ext>
            </a:extLst>
          </p:cNvPr>
          <p:cNvSpPr>
            <a:spLocks xmlns:a="http://schemas.openxmlformats.org/drawingml/2006/main" noGrp="1"/>
          </p:cNvSpPr>
          <p:nvPr/>
        </p:nvSpPr>
        <p:spPr>
          <a:xfrm xmlns:a="http://schemas.openxmlformats.org/drawingml/2006/main">
            <a:off x="1371600" y="2743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Network Calculator</a:t>
            </a:r>
          </a:p>
        </p:txBody>
      </p:sp>
      <p:sp>
        <p:nvSpPr>
          <p:cNvPr id="8" name="">
            <a:extLst xmlns:a="http://schemas.openxmlformats.org/drawingml/2006/main">
              <a:ext uri="{FF2B5EF4-FFF2-40B4-BE49-F238E27FC236}">
                <a16:creationId xmlns:a16="http://schemas.microsoft.com/office/drawing/2014/main" id="{844A6999-C5F1-42B6-B4EF-1C63403A94E8}"/>
              </a:ext>
            </a:extLst>
          </p:cNvPr>
          <p:cNvSpPr>
            <a:spLocks xmlns:a="http://schemas.openxmlformats.org/drawingml/2006/main" noGrp="1"/>
          </p:cNvSpPr>
          <p:nvPr/>
        </p:nvSpPr>
        <p:spPr>
          <a:xfrm xmlns:a="http://schemas.openxmlformats.org/drawingml/2006/main">
            <a:off x="742950" y="3371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A54373A-6386-4E50-9352-076CE0062FF1}"/>
              </a:ext>
            </a:extLst>
          </p:cNvPr>
          <p:cNvSpPr>
            <a:spLocks xmlns:a="http://schemas.openxmlformats.org/drawingml/2006/main" noGrp="1"/>
          </p:cNvSpPr>
          <p:nvPr/>
        </p:nvSpPr>
        <p:spPr>
          <a:xfrm xmlns:a="http://schemas.openxmlformats.org/drawingml/2006/main">
            <a:off x="1371600" y="3352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Website Audit</a:t>
            </a:r>
          </a:p>
        </p:txBody>
      </p:sp>
      <p:sp>
        <p:nvSpPr>
          <p:cNvPr id="10" name="">
            <a:extLst xmlns:a="http://schemas.openxmlformats.org/drawingml/2006/main">
              <a:ext uri="{FF2B5EF4-FFF2-40B4-BE49-F238E27FC236}">
                <a16:creationId xmlns:a16="http://schemas.microsoft.com/office/drawing/2014/main" id="{CC48B393-5E43-41B4-8C8B-0705DDB81556}"/>
              </a:ext>
            </a:extLst>
          </p:cNvPr>
          <p:cNvSpPr>
            <a:spLocks xmlns:a="http://schemas.openxmlformats.org/drawingml/2006/main" noGrp="1"/>
          </p:cNvSpPr>
          <p:nvPr/>
        </p:nvSpPr>
        <p:spPr>
          <a:xfrm xmlns:a="http://schemas.openxmlformats.org/drawingml/2006/main">
            <a:off x="742950" y="39814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C331EAF1-7686-457E-BDF2-B6BBF13FB5D9}"/>
              </a:ext>
            </a:extLst>
          </p:cNvPr>
          <p:cNvSpPr>
            <a:spLocks xmlns:a="http://schemas.openxmlformats.org/drawingml/2006/main" noGrp="1"/>
          </p:cNvSpPr>
          <p:nvPr/>
        </p:nvSpPr>
        <p:spPr>
          <a:xfrm xmlns:a="http://schemas.openxmlformats.org/drawingml/2006/main">
            <a:off x="1371600" y="39624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API Runner</a:t>
            </a:r>
          </a:p>
        </p:txBody>
      </p:sp>
      <p:sp>
        <p:nvSpPr>
          <p:cNvPr id="12" name="">
            <a:extLst xmlns:a="http://schemas.openxmlformats.org/drawingml/2006/main">
              <a:ext uri="{FF2B5EF4-FFF2-40B4-BE49-F238E27FC236}">
                <a16:creationId xmlns:a16="http://schemas.microsoft.com/office/drawing/2014/main" id="{27A1E3B3-2F3F-4346-8F44-78B6CFE88E6E}"/>
              </a:ext>
            </a:extLst>
          </p:cNvPr>
          <p:cNvSpPr>
            <a:spLocks xmlns:a="http://schemas.openxmlformats.org/drawingml/2006/main" noGrp="1"/>
          </p:cNvSpPr>
          <p:nvPr/>
        </p:nvSpPr>
        <p:spPr>
          <a:xfrm xmlns:a="http://schemas.openxmlformats.org/drawingml/2006/main">
            <a:off x="742950" y="45910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6702AEDE-F8F6-44FB-8BA9-35A693374327}"/>
              </a:ext>
            </a:extLst>
          </p:cNvPr>
          <p:cNvSpPr>
            <a:spLocks xmlns:a="http://schemas.openxmlformats.org/drawingml/2006/main" noGrp="1"/>
          </p:cNvSpPr>
          <p:nvPr/>
        </p:nvSpPr>
        <p:spPr>
          <a:xfrm xmlns:a="http://schemas.openxmlformats.org/drawingml/2006/main">
            <a:off x="1371600" y="45720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Focus Lounge</a:t>
            </a:r>
          </a:p>
        </p:txBody>
      </p:sp>
      <p:sp>
        <p:nvSpPr>
          <p:cNvPr id="14" name="">
            <a:extLst xmlns:a="http://schemas.openxmlformats.org/drawingml/2006/main">
              <a:ext uri="{FF2B5EF4-FFF2-40B4-BE49-F238E27FC236}">
                <a16:creationId xmlns:a16="http://schemas.microsoft.com/office/drawing/2014/main" id="{AA7DF453-F260-4BED-AAE3-18143F1D1E8B}"/>
              </a:ext>
            </a:extLst>
          </p:cNvPr>
          <p:cNvSpPr>
            <a:spLocks xmlns:a="http://schemas.openxmlformats.org/drawingml/2006/main" noGrp="1"/>
          </p:cNvSpPr>
          <p:nvPr/>
        </p:nvSpPr>
        <p:spPr>
          <a:xfrm xmlns:a="http://schemas.openxmlformats.org/drawingml/2006/main">
            <a:off x="5657850" y="1428750"/>
            <a:ext cx="5848350" cy="4191000"/>
          </a:xfrm>
          <a:prstGeom xmlns:a="http://schemas.openxmlformats.org/drawingml/2006/main" prst="roundRect">
            <a:avLst>
              <a:gd name="adj" fmla="val 5455"/>
            </a:avLst>
          </a:prstGeom>
          <a:solidFill xmlns:a="http://schemas.openxmlformats.org/drawingml/2006/main">
            <a:srgbClr val="111C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9C15AA-AF6B-44F4-A2ED-5BFCDC842655}"/>
              </a:ext>
            </a:extLst>
          </p:cNvPr>
          <p:cNvSpPr>
            <a:spLocks xmlns:a="http://schemas.openxmlformats.org/drawingml/2006/main" noGrp="1"/>
          </p:cNvSpPr>
          <p:nvPr/>
        </p:nvSpPr>
        <p:spPr>
          <a:xfrm xmlns:a="http://schemas.openxmlformats.org/drawingml/2006/main">
            <a:off x="6019800" y="17716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Version 2 candidates</a:t>
            </a:r>
          </a:p>
        </p:txBody>
      </p:sp>
      <p:sp>
        <p:nvSpPr>
          <p:cNvPr id="16" name="">
            <a:extLst xmlns:a="http://schemas.openxmlformats.org/drawingml/2006/main">
              <a:ext uri="{FF2B5EF4-FFF2-40B4-BE49-F238E27FC236}">
                <a16:creationId xmlns:a16="http://schemas.microsoft.com/office/drawing/2014/main" id="{BE5CC55C-61F8-42D2-9CDF-DA59AF9D17F2}"/>
              </a:ext>
            </a:extLst>
          </p:cNvPr>
          <p:cNvSpPr>
            <a:spLocks xmlns:a="http://schemas.openxmlformats.org/drawingml/2006/main" noGrp="1"/>
          </p:cNvSpPr>
          <p:nvPr/>
        </p:nvSpPr>
        <p:spPr>
          <a:xfrm xmlns:a="http://schemas.openxmlformats.org/drawingml/2006/main">
            <a:off x="6019800" y="2457450"/>
            <a:ext cx="4857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SQL Server health and performance monitor</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IT asset inventory with IP address management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Authenticated remote monitoring agent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Incident response and backup verification</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Role-based access for every diagnostic tool</a:t>
            </a:r>
          </a:p>
        </p:txBody>
      </p:sp>
      <p:sp>
        <p:nvSpPr>
          <p:cNvPr id="17" name="">
            <a:extLst xmlns:a="http://schemas.openxmlformats.org/drawingml/2006/main">
              <a:ext uri="{FF2B5EF4-FFF2-40B4-BE49-F238E27FC236}">
                <a16:creationId xmlns:a16="http://schemas.microsoft.com/office/drawing/2014/main" id="{A4184E65-A1CA-401B-985A-4DA1421F1755}"/>
              </a:ext>
            </a:extLst>
          </p:cNvPr>
          <p:cNvSpPr>
            <a:spLocks xmlns:a="http://schemas.openxmlformats.org/drawingml/2006/main" noGrp="1"/>
          </p:cNvSpPr>
          <p:nvPr/>
        </p:nvSpPr>
        <p:spPr>
          <a:xfrm xmlns:a="http://schemas.openxmlformats.org/drawingml/2006/main">
            <a:off x="6019800" y="50673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0">
                <a:solidFill>
                  <a:srgbClr val="6D9BFF"/>
                </a:solidFill>
                <a:latin typeface="Arial"/>
                <a:ea typeface="Arial"/>
                <a:cs typeface="Arial"/>
              </a:defRPr>
            </a:pPr>
            <a:r>
              <a:rPr sz="1425" b="0">
                <a:solidFill>
                  <a:srgbClr val="6D9BFF"/>
                </a:solidFill>
                <a:latin typeface="Arial"/>
                <a:ea typeface="Arial"/>
                <a:cs typeface="Arial"/>
              </a:rPr>
              <a:t>Version 1 establishes the platform and the safety model needed for these additions.</a:t>
            </a:r>
          </a:p>
        </p:txBody>
      </p:sp>
      <p:sp>
        <p:nvSpPr>
          <p:cNvPr id="18" name="">
            <a:extLst xmlns:a="http://schemas.openxmlformats.org/drawingml/2006/main">
              <a:ext uri="{FF2B5EF4-FFF2-40B4-BE49-F238E27FC236}">
                <a16:creationId xmlns:a16="http://schemas.microsoft.com/office/drawing/2014/main" id="{D821CC57-B3CB-46BF-80BC-35FF690454B5}"/>
              </a:ext>
            </a:extLst>
          </p:cNvPr>
          <p:cNvSpPr>
            <a:spLocks xmlns:a="http://schemas.openxmlformats.org/drawingml/2006/main" noGrp="1"/>
          </p:cNvSpPr>
          <p:nvPr/>
        </p:nvSpPr>
        <p:spPr>
          <a:xfrm xmlns:a="http://schemas.openxmlformats.org/drawingml/2006/main">
            <a:off x="685800" y="592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3976ED"/>
                </a:solidFill>
                <a:latin typeface="Arial"/>
                <a:ea typeface="Arial"/>
                <a:cs typeface="Arial"/>
              </a:defRPr>
            </a:pPr>
            <a:r>
              <a:rPr sz="2325" b="1">
                <a:solidFill>
                  <a:srgbClr val="3976ED"/>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BEF79637-7B1D-4FFC-B7DD-6BB92644376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B80EBCBE-36B0-449A-8F39-CFB75830E2A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12</a:t>
            </a:r>
          </a:p>
        </p:txBody>
      </p:sp>
    </p:spTree>
    <p:extLst>
      <p:ext uri="{BB962C8B-B14F-4D97-AF65-F5344CB8AC3E}">
        <p14:creationId xmlns:p14="http://schemas.microsoft.com/office/powerpoint/2010/main" val="18384592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2026-09-21T02:26:59.8480000Z</dcterms:created>
  <dcterms:modified xsi:type="dcterms:W3CDTF">2026-09-21T02:26:59.8480000Z</dcterms:modified>
</coreProperties>
</file>